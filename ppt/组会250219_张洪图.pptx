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2"/>
  </p:sldMasterIdLst>
  <p:notesMasterIdLst>
    <p:notesMasterId r:id="rId36"/>
  </p:notesMasterIdLst>
  <p:sldIdLst>
    <p:sldId id="1729" r:id="rId3"/>
    <p:sldId id="257" r:id="rId4"/>
    <p:sldId id="1947" r:id="rId5"/>
    <p:sldId id="1788" r:id="rId6"/>
    <p:sldId id="1903" r:id="rId7"/>
    <p:sldId id="1967" r:id="rId8"/>
    <p:sldId id="1949" r:id="rId9"/>
    <p:sldId id="1968" r:id="rId10"/>
    <p:sldId id="1969" r:id="rId11"/>
    <p:sldId id="1950" r:id="rId12"/>
    <p:sldId id="1936" r:id="rId13"/>
    <p:sldId id="1951" r:id="rId14"/>
    <p:sldId id="1943" r:id="rId15"/>
    <p:sldId id="1953" r:id="rId16"/>
    <p:sldId id="1958" r:id="rId17"/>
    <p:sldId id="930" r:id="rId18"/>
    <p:sldId id="929" r:id="rId19"/>
    <p:sldId id="931" r:id="rId20"/>
    <p:sldId id="1952" r:id="rId21"/>
    <p:sldId id="1954" r:id="rId22"/>
    <p:sldId id="1966" r:id="rId23"/>
    <p:sldId id="1955" r:id="rId24"/>
    <p:sldId id="1959" r:id="rId25"/>
    <p:sldId id="1960" r:id="rId26"/>
    <p:sldId id="1961" r:id="rId27"/>
    <p:sldId id="1962" r:id="rId28"/>
    <p:sldId id="1942" r:id="rId29"/>
    <p:sldId id="1934" r:id="rId30"/>
    <p:sldId id="1963" r:id="rId31"/>
    <p:sldId id="1964" r:id="rId32"/>
    <p:sldId id="1965" r:id="rId33"/>
    <p:sldId id="1895" r:id="rId34"/>
    <p:sldId id="1897"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黄梓浩" initials="黄梓浩" lastIdx="5" clrIdx="0"/>
  <p:cmAuthor id="2" name="19913376826@163.com" initials="1" lastIdx="3" clrIdx="1">
    <p:extLst>
      <p:ext uri="{19B8F6BF-5375-455C-9EA6-DF929625EA0E}">
        <p15:presenceInfo xmlns:p15="http://schemas.microsoft.com/office/powerpoint/2012/main" userId="31b745fb4875bb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DB"/>
    <a:srgbClr val="F27ED6"/>
    <a:srgbClr val="203864"/>
    <a:srgbClr val="A7C0DD"/>
    <a:srgbClr val="E9EBF5"/>
    <a:srgbClr val="C0D3E7"/>
    <a:srgbClr val="0751A5"/>
    <a:srgbClr val="2C436D"/>
    <a:srgbClr val="FFFFFF"/>
    <a:srgbClr val="273E69"/>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2398" autoAdjust="0"/>
  </p:normalViewPr>
  <p:slideViewPr>
    <p:cSldViewPr snapToGrid="0">
      <p:cViewPr varScale="1">
        <p:scale>
          <a:sx n="82" d="100"/>
          <a:sy n="82" d="100"/>
        </p:scale>
        <p:origin x="1044" y="60"/>
      </p:cViewPr>
      <p:guideLst/>
    </p:cSldViewPr>
  </p:slideViewPr>
  <p:notesTextViewPr>
    <p:cViewPr>
      <p:scale>
        <a:sx n="75" d="100"/>
        <a:sy n="75" d="100"/>
      </p:scale>
      <p:origin x="0" y="0"/>
    </p:cViewPr>
  </p:notesTextViewPr>
  <p:sorterViewPr>
    <p:cViewPr>
      <p:scale>
        <a:sx n="100" d="100"/>
        <a:sy n="100" d="100"/>
      </p:scale>
      <p:origin x="0" y="-94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FA557A-7048-46F7-AA59-267858CB5E95}" type="datetimeFigureOut">
              <a:rPr lang="zh-CN" altLang="en-US" smtClean="0"/>
              <a:t>2025/2/19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FB664-AD4E-48AF-B3B2-DE8BC6A7DB0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311778-5E3D-4D77-A70D-2361FA50AFDD}" type="slidenum">
              <a:rPr lang="zh-CN" altLang="en-US" smtClean="0"/>
              <a:t>2</a:t>
            </a:fld>
            <a:endParaRPr lang="zh-CN" altLang="en-US"/>
          </a:p>
        </p:txBody>
      </p:sp>
    </p:spTree>
    <p:extLst>
      <p:ext uri="{BB962C8B-B14F-4D97-AF65-F5344CB8AC3E}">
        <p14:creationId xmlns:p14="http://schemas.microsoft.com/office/powerpoint/2010/main" val="3884802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50000"/>
              </a:lnSpc>
            </a:pPr>
            <a:endParaRPr lang="en-US" altLang="zh-CN" sz="1200" b="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D3FB664-AD4E-48AF-B3B2-DE8BC6A7DB0D}" type="slidenum">
              <a:rPr lang="zh-CN" altLang="en-US" smtClean="0"/>
              <a:t>3</a:t>
            </a:fld>
            <a:endParaRPr lang="zh-CN" altLang="en-US"/>
          </a:p>
        </p:txBody>
      </p:sp>
    </p:spTree>
    <p:extLst>
      <p:ext uri="{BB962C8B-B14F-4D97-AF65-F5344CB8AC3E}">
        <p14:creationId xmlns:p14="http://schemas.microsoft.com/office/powerpoint/2010/main" val="733164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50000"/>
              </a:lnSpc>
            </a:pPr>
            <a:endParaRPr lang="en-US" altLang="zh-CN" sz="1200" b="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D3FB664-AD4E-48AF-B3B2-DE8BC6A7DB0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3FB664-AD4E-48AF-B3B2-DE8BC6A7DB0D}" type="slidenum">
              <a:rPr lang="zh-CN" altLang="en-US" smtClean="0"/>
              <a:t>5</a:t>
            </a:fld>
            <a:endParaRPr lang="zh-CN" altLang="en-US"/>
          </a:p>
        </p:txBody>
      </p:sp>
    </p:spTree>
    <p:extLst>
      <p:ext uri="{BB962C8B-B14F-4D97-AF65-F5344CB8AC3E}">
        <p14:creationId xmlns:p14="http://schemas.microsoft.com/office/powerpoint/2010/main" val="4280965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3FB664-AD4E-48AF-B3B2-DE8BC6A7DB0D}" type="slidenum">
              <a:rPr lang="zh-CN" altLang="en-US" smtClean="0"/>
              <a:t>6</a:t>
            </a:fld>
            <a:endParaRPr lang="zh-CN" altLang="en-US"/>
          </a:p>
        </p:txBody>
      </p:sp>
    </p:spTree>
    <p:extLst>
      <p:ext uri="{BB962C8B-B14F-4D97-AF65-F5344CB8AC3E}">
        <p14:creationId xmlns:p14="http://schemas.microsoft.com/office/powerpoint/2010/main" val="82339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导弹没有直接手段探测到</a:t>
            </a:r>
          </a:p>
        </p:txBody>
      </p:sp>
      <p:sp>
        <p:nvSpPr>
          <p:cNvPr id="4" name="灯片编号占位符 3"/>
          <p:cNvSpPr>
            <a:spLocks noGrp="1"/>
          </p:cNvSpPr>
          <p:nvPr>
            <p:ph type="sldNum" sz="quarter" idx="5"/>
          </p:nvPr>
        </p:nvSpPr>
        <p:spPr/>
        <p:txBody>
          <a:bodyPr/>
          <a:lstStyle/>
          <a:p>
            <a:fld id="{DD3FB664-AD4E-48AF-B3B2-DE8BC6A7DB0D}" type="slidenum">
              <a:rPr lang="zh-CN" altLang="en-US" smtClean="0"/>
              <a:t>7</a:t>
            </a:fld>
            <a:endParaRPr lang="zh-CN" altLang="en-US"/>
          </a:p>
        </p:txBody>
      </p:sp>
    </p:spTree>
    <p:extLst>
      <p:ext uri="{BB962C8B-B14F-4D97-AF65-F5344CB8AC3E}">
        <p14:creationId xmlns:p14="http://schemas.microsoft.com/office/powerpoint/2010/main" val="2822203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导弹没有直接手段探测到</a:t>
            </a:r>
          </a:p>
        </p:txBody>
      </p:sp>
      <p:sp>
        <p:nvSpPr>
          <p:cNvPr id="4" name="灯片编号占位符 3"/>
          <p:cNvSpPr>
            <a:spLocks noGrp="1"/>
          </p:cNvSpPr>
          <p:nvPr>
            <p:ph type="sldNum" sz="quarter" idx="5"/>
          </p:nvPr>
        </p:nvSpPr>
        <p:spPr/>
        <p:txBody>
          <a:bodyPr/>
          <a:lstStyle/>
          <a:p>
            <a:fld id="{DD3FB664-AD4E-48AF-B3B2-DE8BC6A7DB0D}" type="slidenum">
              <a:rPr lang="zh-CN" altLang="en-US" smtClean="0"/>
              <a:t>8</a:t>
            </a:fld>
            <a:endParaRPr lang="zh-CN" altLang="en-US"/>
          </a:p>
        </p:txBody>
      </p:sp>
    </p:spTree>
    <p:extLst>
      <p:ext uri="{BB962C8B-B14F-4D97-AF65-F5344CB8AC3E}">
        <p14:creationId xmlns:p14="http://schemas.microsoft.com/office/powerpoint/2010/main" val="446299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导弹没有直接手段探测到</a:t>
            </a:r>
          </a:p>
        </p:txBody>
      </p:sp>
      <p:sp>
        <p:nvSpPr>
          <p:cNvPr id="4" name="灯片编号占位符 3"/>
          <p:cNvSpPr>
            <a:spLocks noGrp="1"/>
          </p:cNvSpPr>
          <p:nvPr>
            <p:ph type="sldNum" sz="quarter" idx="5"/>
          </p:nvPr>
        </p:nvSpPr>
        <p:spPr/>
        <p:txBody>
          <a:bodyPr/>
          <a:lstStyle/>
          <a:p>
            <a:fld id="{DD3FB664-AD4E-48AF-B3B2-DE8BC6A7DB0D}" type="slidenum">
              <a:rPr lang="zh-CN" altLang="en-US" smtClean="0"/>
              <a:t>9</a:t>
            </a:fld>
            <a:endParaRPr lang="zh-CN" altLang="en-US"/>
          </a:p>
        </p:txBody>
      </p:sp>
    </p:spTree>
    <p:extLst>
      <p:ext uri="{BB962C8B-B14F-4D97-AF65-F5344CB8AC3E}">
        <p14:creationId xmlns:p14="http://schemas.microsoft.com/office/powerpoint/2010/main" val="1576272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导弹没有直接手段探测到</a:t>
            </a:r>
          </a:p>
        </p:txBody>
      </p:sp>
      <p:sp>
        <p:nvSpPr>
          <p:cNvPr id="4" name="灯片编号占位符 3"/>
          <p:cNvSpPr>
            <a:spLocks noGrp="1"/>
          </p:cNvSpPr>
          <p:nvPr>
            <p:ph type="sldNum" sz="quarter" idx="5"/>
          </p:nvPr>
        </p:nvSpPr>
        <p:spPr/>
        <p:txBody>
          <a:bodyPr/>
          <a:lstStyle/>
          <a:p>
            <a:fld id="{DD3FB664-AD4E-48AF-B3B2-DE8BC6A7DB0D}" type="slidenum">
              <a:rPr lang="zh-CN" altLang="en-US" smtClean="0"/>
              <a:t>10</a:t>
            </a:fld>
            <a:endParaRPr lang="zh-CN" altLang="en-US"/>
          </a:p>
        </p:txBody>
      </p:sp>
    </p:spTree>
    <p:extLst>
      <p:ext uri="{BB962C8B-B14F-4D97-AF65-F5344CB8AC3E}">
        <p14:creationId xmlns:p14="http://schemas.microsoft.com/office/powerpoint/2010/main" val="1249928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3FB664-AD4E-48AF-B3B2-DE8BC6A7DB0D}" type="slidenum">
              <a:rPr lang="zh-CN" altLang="en-US" smtClean="0"/>
              <a:t>11</a:t>
            </a:fld>
            <a:endParaRPr lang="zh-CN" altLang="en-US"/>
          </a:p>
        </p:txBody>
      </p:sp>
    </p:spTree>
    <p:extLst>
      <p:ext uri="{BB962C8B-B14F-4D97-AF65-F5344CB8AC3E}">
        <p14:creationId xmlns:p14="http://schemas.microsoft.com/office/powerpoint/2010/main" val="3317897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9714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76033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2639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2ECEA826-4895-4EB8-AF9A-ACA63906AE1C}" type="slidenum">
              <a:rPr lang="zh-CN" altLang="en-US" smtClean="0"/>
              <a:t>16</a:t>
            </a:fld>
            <a:endParaRPr lang="zh-CN" altLang="en-US"/>
          </a:p>
        </p:txBody>
      </p:sp>
    </p:spTree>
    <p:extLst>
      <p:ext uri="{BB962C8B-B14F-4D97-AF65-F5344CB8AC3E}">
        <p14:creationId xmlns:p14="http://schemas.microsoft.com/office/powerpoint/2010/main" val="3519465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2ECEA826-4895-4EB8-AF9A-ACA63906AE1C}" type="slidenum">
              <a:rPr lang="zh-CN" altLang="en-US" smtClean="0"/>
              <a:t>17</a:t>
            </a:fld>
            <a:endParaRPr lang="zh-CN" altLang="en-US"/>
          </a:p>
        </p:txBody>
      </p:sp>
    </p:spTree>
    <p:extLst>
      <p:ext uri="{BB962C8B-B14F-4D97-AF65-F5344CB8AC3E}">
        <p14:creationId xmlns:p14="http://schemas.microsoft.com/office/powerpoint/2010/main" val="123581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2ECEA826-4895-4EB8-AF9A-ACA63906AE1C}" type="slidenum">
              <a:rPr lang="zh-CN" altLang="en-US" smtClean="0"/>
              <a:t>18</a:t>
            </a:fld>
            <a:endParaRPr lang="zh-CN" altLang="en-US"/>
          </a:p>
        </p:txBody>
      </p:sp>
    </p:spTree>
    <p:extLst>
      <p:ext uri="{BB962C8B-B14F-4D97-AF65-F5344CB8AC3E}">
        <p14:creationId xmlns:p14="http://schemas.microsoft.com/office/powerpoint/2010/main" val="4233793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57774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52708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b="0" dirty="0"/>
              </a:p>
            </p:txBody>
          </p:sp>
        </mc:Choice>
        <mc:Fallback xmlns="">
          <p:sp>
            <p:nvSpPr>
              <p:cNvPr id="3" name="备注占位符 2"/>
              <p:cNvSpPr>
                <a:spLocks noGrp="1"/>
              </p:cNvSpPr>
              <p:nvPr>
                <p:ph type="body" idx="1"/>
              </p:nvPr>
            </p:nvSpPr>
            <p:spPr/>
            <p:txBody>
              <a:bodyPr/>
              <a:lstStyle/>
              <a:p>
                <a:r>
                  <a:rPr lang="zh-CN" altLang="en-US" dirty="0"/>
                  <a:t>下面具体介绍</a:t>
                </a:r>
                <a:r>
                  <a:rPr lang="en-US" altLang="zh-CN" dirty="0"/>
                  <a:t>AAC</a:t>
                </a:r>
                <a:r>
                  <a:rPr lang="zh-CN" altLang="en-US" dirty="0"/>
                  <a:t>的三个模块，</a:t>
                </a:r>
                <a:endParaRPr lang="en-US" altLang="zh-CN" dirty="0"/>
              </a:p>
              <a:p>
                <a:r>
                  <a:rPr lang="zh-CN" altLang="en-US" dirty="0"/>
                  <a:t>参考模型模块是通过</a:t>
                </a:r>
                <a:r>
                  <a:rPr lang="zh-CN" altLang="en-US" sz="1200" dirty="0">
                    <a:latin typeface="微软雅黑" panose="020B0503020204020204" charset="-122"/>
                    <a:ea typeface="微软雅黑" panose="020B0503020204020204" charset="-122"/>
                  </a:rPr>
                  <a:t>建立数学模型模拟运载火箭在标称条件下的刚体受控运动，</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 在此我选择了将运载火箭小偏差线性化后所建立的状态空间模型中的弹性部分去掉，只保留描述火箭刚体运动的部分，来作为参考模型，对这个模型采用</a:t>
                </a:r>
                <a:r>
                  <a:rPr lang="en-US" altLang="zh-CN" sz="1200" dirty="0">
                    <a:latin typeface="微软雅黑" panose="020B0503020204020204" charset="-122"/>
                    <a:ea typeface="微软雅黑" panose="020B0503020204020204" charset="-122"/>
                  </a:rPr>
                  <a:t>PD</a:t>
                </a:r>
                <a:r>
                  <a:rPr lang="zh-CN" altLang="en-US" sz="1200" dirty="0">
                    <a:latin typeface="微软雅黑" panose="020B0503020204020204" charset="-122"/>
                    <a:ea typeface="微软雅黑" panose="020B0503020204020204" charset="-122"/>
                  </a:rPr>
                  <a:t>控制来形成期望控制指令和期望跟踪响应</a:t>
                </a:r>
                <a:endParaRPr lang="en-US" altLang="zh-CN" sz="1200" dirty="0">
                  <a:latin typeface="微软雅黑" panose="020B0503020204020204" charset="-122"/>
                  <a:ea typeface="微软雅黑" panose="020B0503020204020204" charset="-122"/>
                </a:endParaRPr>
              </a:p>
              <a:p>
                <a:endParaRPr lang="en-US" altLang="zh-CN" sz="1200" dirty="0">
                  <a:latin typeface="微软雅黑" panose="020B0503020204020204" charset="-122"/>
                  <a:ea typeface="微软雅黑" panose="020B0503020204020204" charset="-122"/>
                </a:endParaRPr>
              </a:p>
              <a:p>
                <a:r>
                  <a:rPr lang="zh-CN" altLang="en-US" dirty="0"/>
                  <a:t>高低通滤波器模块中，考虑到</a:t>
                </a:r>
                <a:r>
                  <a:rPr lang="en-US" altLang="zh-CN" dirty="0"/>
                  <a:t>…… </a:t>
                </a:r>
                <a:r>
                  <a:rPr lang="zh-CN" altLang="en-US" dirty="0"/>
                  <a:t>，高通滤波器的作用是进一步降低低频刚体控制信号的幅值，从而保证自适应律只接受弹性振动响应，</a:t>
                </a:r>
                <a:r>
                  <a:rPr lang="en-US" altLang="zh-CN" b="0" i="0">
                    <a:latin typeface="Cambria Math" panose="02040503050406030204" pitchFamily="18" charset="0"/>
                  </a:rPr>
                  <a:t>𝑦^2</a:t>
                </a:r>
                <a:r>
                  <a:rPr lang="zh-CN" altLang="en-US" b="0" dirty="0"/>
                  <a:t>的含义是提取弹性振动响应的幅值，低通滤波则是将</a:t>
                </a:r>
                <a:r>
                  <a:rPr lang="en-US" altLang="zh-CN" b="0" i="0">
                    <a:latin typeface="Cambria Math" panose="02040503050406030204" pitchFamily="18" charset="0"/>
                  </a:rPr>
                  <a:t>𝑦^2</a:t>
                </a:r>
                <a:r>
                  <a:rPr lang="zh-CN" altLang="en-US" b="0" dirty="0"/>
                  <a:t>输出信号中的高频振动消除。因此高低通滤波器模块整体作用就是提取并处理控制指令中的弹性振动信息，进而在线降低控制器增益，对弹性振动进行幅值稳定。参考相关文献选择了这样二阶形式的高低通滤波器便于参数调整。</a:t>
                </a:r>
                <a:endParaRPr lang="en-US" altLang="zh-CN" b="0" dirty="0"/>
              </a:p>
            </p:txBody>
          </p:sp>
        </mc:Fallback>
      </mc:AlternateContent>
      <p:sp>
        <p:nvSpPr>
          <p:cNvPr id="4" name="灯片编号占位符 3"/>
          <p:cNvSpPr>
            <a:spLocks noGrp="1"/>
          </p:cNvSpPr>
          <p:nvPr>
            <p:ph type="sldNum" sz="quarter" idx="5"/>
          </p:nvPr>
        </p:nvSpPr>
        <p:spPr/>
        <p:txBody>
          <a:bodyPr/>
          <a:lstStyle/>
          <a:p>
            <a:fld id="{DD3FB664-AD4E-48AF-B3B2-DE8BC6A7DB0D}" type="slidenum">
              <a:rPr lang="zh-CN" altLang="en-US" smtClean="0"/>
              <a:t>21</a:t>
            </a:fld>
            <a:endParaRPr lang="zh-CN" altLang="en-US"/>
          </a:p>
        </p:txBody>
      </p:sp>
    </p:spTree>
    <p:extLst>
      <p:ext uri="{BB962C8B-B14F-4D97-AF65-F5344CB8AC3E}">
        <p14:creationId xmlns:p14="http://schemas.microsoft.com/office/powerpoint/2010/main" val="3555023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832311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77083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550641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44577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703D7B34-58D2-4136-AD72-138600B9AA6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74854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根据前面所讨论的研究意义，我目前是进行了自适应增广控制的研究，自适应增广控制</a:t>
                </a:r>
                <a:r>
                  <a:rPr lang="en-US" altLang="zh-CN" dirty="0"/>
                  <a:t>……</a:t>
                </a:r>
              </a:p>
              <a:p>
                <a:endParaRPr lang="en-US" altLang="zh-CN" dirty="0"/>
              </a:p>
              <a:p>
                <a:r>
                  <a:rPr lang="zh-CN" altLang="en-US" dirty="0"/>
                  <a:t>右图是自适应增广控制系统结构图，他在传统</a:t>
                </a:r>
                <a:r>
                  <a:rPr lang="en-US" altLang="zh-CN" dirty="0"/>
                  <a:t>PD+</a:t>
                </a:r>
                <a:r>
                  <a:rPr lang="zh-CN" altLang="en-US" dirty="0"/>
                  <a:t>校正网络的控制系统上进行了结构增广，主要由三部分构成，分别是参考模型模块、高低通滤波模块以及</a:t>
                </a:r>
                <a:r>
                  <a:rPr lang="en-US" altLang="zh-CN" dirty="0"/>
                  <a:t>AAC</a:t>
                </a:r>
                <a:r>
                  <a:rPr lang="zh-CN" altLang="en-US" dirty="0"/>
                  <a:t>自适应律。整体上来看它将 制导系统给出的指令角</a:t>
                </a:r>
                <a:r>
                  <a:rPr lang="zh-CN" altLang="en-US" i="0">
                    <a:latin typeface="Cambria Math" panose="02040503050406030204" pitchFamily="18" charset="0"/>
                  </a:rPr>
                  <a:t>𝜑</a:t>
                </a:r>
                <a:r>
                  <a:rPr lang="en-US" altLang="zh-CN" b="0" i="0">
                    <a:latin typeface="Cambria Math" panose="02040503050406030204" pitchFamily="18" charset="0"/>
                  </a:rPr>
                  <a:t>_𝑐</a:t>
                </a:r>
                <a:r>
                  <a:rPr lang="zh-CN" altLang="en-US" dirty="0"/>
                  <a:t>与伺服机构所接受的控制量</a:t>
                </a:r>
                <a:r>
                  <a:rPr lang="en-US" altLang="zh-CN" b="0" i="0">
                    <a:latin typeface="Cambria Math" panose="02040503050406030204" pitchFamily="18" charset="0"/>
                  </a:rPr>
                  <a:t>𝑢_</a:t>
                </a:r>
                <a:r>
                  <a:rPr lang="zh-CN" altLang="en-US" b="0" i="0">
                    <a:latin typeface="Cambria Math" panose="02040503050406030204" pitchFamily="18" charset="0"/>
                  </a:rPr>
                  <a:t>𝛿</a:t>
                </a:r>
                <a:r>
                  <a:rPr lang="zh-CN" altLang="en-US" dirty="0"/>
                  <a:t> 作为两个输入，输出是一个自适应总增益</a:t>
                </a:r>
                <a:r>
                  <a:rPr lang="en-US" altLang="zh-CN" b="0" i="0">
                    <a:latin typeface="Cambria Math" panose="02040503050406030204" pitchFamily="18" charset="0"/>
                  </a:rPr>
                  <a:t>𝑘_𝑇</a:t>
                </a:r>
                <a:r>
                  <a:rPr lang="zh-CN" altLang="en-US" dirty="0"/>
                  <a:t>，与基本</a:t>
                </a:r>
                <a:r>
                  <a:rPr lang="en-US" altLang="zh-CN" dirty="0"/>
                  <a:t>PD</a:t>
                </a:r>
                <a:r>
                  <a:rPr lang="zh-CN" altLang="en-US" dirty="0"/>
                  <a:t>控制器的输出相乘构成新的控制量。</a:t>
                </a:r>
                <a:endParaRPr lang="en-US" altLang="zh-CN" dirty="0"/>
              </a:p>
              <a:p>
                <a:endParaRPr lang="en-US" altLang="zh-CN" dirty="0"/>
              </a:p>
              <a:p>
                <a:r>
                  <a:rPr lang="zh-CN" altLang="en-US" dirty="0"/>
                  <a:t>左边是自适应律的形式，自适应总增益由前向增益最小值和自适应增益加和得到，自适应增益的更新由三项构成，后面会具体分析</a:t>
                </a:r>
              </a:p>
            </p:txBody>
          </p:sp>
        </mc:Fallback>
      </mc:AlternateContent>
      <p:sp>
        <p:nvSpPr>
          <p:cNvPr id="4" name="灯片编号占位符 3"/>
          <p:cNvSpPr>
            <a:spLocks noGrp="1"/>
          </p:cNvSpPr>
          <p:nvPr>
            <p:ph type="sldNum" sz="quarter" idx="5"/>
          </p:nvPr>
        </p:nvSpPr>
        <p:spPr/>
        <p:txBody>
          <a:bodyPr/>
          <a:lstStyle/>
          <a:p>
            <a:fld id="{DD3FB664-AD4E-48AF-B3B2-DE8BC6A7DB0D}" type="slidenum">
              <a:rPr lang="zh-CN" altLang="en-US" smtClean="0"/>
              <a:t>28</a:t>
            </a:fld>
            <a:endParaRPr lang="zh-CN" altLang="en-US"/>
          </a:p>
        </p:txBody>
      </p:sp>
    </p:spTree>
    <p:extLst>
      <p:ext uri="{BB962C8B-B14F-4D97-AF65-F5344CB8AC3E}">
        <p14:creationId xmlns:p14="http://schemas.microsoft.com/office/powerpoint/2010/main" val="295221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83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12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942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rPr>
              <a:t>[7]</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刘金鹏</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基于</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LSTM</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的小型共轴双旋翼无人机不确定性建模与控制</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[D].</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国防科技大学</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,2022.DOI:10.27052/d.cnki.gzjgu.2022.000175. </a:t>
            </a:r>
          </a:p>
          <a:p>
            <a:pPr marL="0" indent="0">
              <a:buNone/>
            </a:pPr>
            <a:endParaRPr lang="zh-CN" altLang="en-US" dirty="0">
              <a:latin typeface="黑体" panose="02010609060101010101" pitchFamily="49" charset="-122"/>
              <a:ea typeface="黑体" panose="02010609060101010101" pitchFamily="49" charset="-122"/>
              <a:sym typeface="+mn-ea"/>
            </a:endParaRPr>
          </a:p>
        </p:txBody>
      </p:sp>
      <p:sp>
        <p:nvSpPr>
          <p:cNvPr id="4" name="灯片编号占位符 3"/>
          <p:cNvSpPr>
            <a:spLocks noGrp="1"/>
          </p:cNvSpPr>
          <p:nvPr>
            <p:ph type="sldNum" sz="quarter" idx="5"/>
          </p:nvPr>
        </p:nvSpPr>
        <p:spPr/>
        <p:txBody>
          <a:bodyPr/>
          <a:lstStyle/>
          <a:p>
            <a:fld id="{DD3FB664-AD4E-48AF-B3B2-DE8BC6A7DB0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33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46C1D3-0B74-4545-B892-7FDB91FBF59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solidFill>
          <a:srgbClr val="F2F2F2"/>
        </a:solidFill>
        <a:effectLst/>
      </p:bgPr>
    </p:bg>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22C0167-E855-4D17-BF35-432B61D5C6E4}" type="datetimeFigureOut">
              <a:rPr lang="zh-CN" altLang="en-US"/>
              <a:t>2025/2/19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F3F989F-8D12-475D-9C50-23F49E8F4161}"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2CC8A5-31B3-4E55-87D9-E629DD069B87}" type="slidenum">
              <a:rPr lang="zh-CN" altLang="en-US" smtClean="0"/>
              <a:t>‹#›</a:t>
            </a:fld>
            <a:endParaRPr lang="zh-CN" altLang="en-US"/>
          </a:p>
        </p:txBody>
      </p:sp>
    </p:spTree>
    <p:extLst>
      <p:ext uri="{BB962C8B-B14F-4D97-AF65-F5344CB8AC3E}">
        <p14:creationId xmlns:p14="http://schemas.microsoft.com/office/powerpoint/2010/main" val="35461680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3"/>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7F8E7F-645C-4A6E-ABC1-205568C38036}" type="datetimeFigureOut">
              <a:rPr lang="zh-CN" altLang="en-US" smtClean="0"/>
              <a:t>2025/2/19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46C1D3-0B74-4545-B892-7FDB91FBF59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hyperlink" Target="https://github.com/liuqh16/LAG?tab=readme-ov-fil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4.jpe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gif"/><Relationship Id="rId5" Type="http://schemas.openxmlformats.org/officeDocument/2006/relationships/image" Target="../media/image5.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56039" y="-1"/>
            <a:ext cx="5007917" cy="6858000"/>
          </a:xfrm>
          <a:prstGeom prst="rect">
            <a:avLst/>
          </a:prstGeom>
          <a:solidFill>
            <a:schemeClr val="accent1">
              <a:lumMod val="5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50000"/>
                  <a:lumOff val="50000"/>
                </a:schemeClr>
              </a:solidFill>
            </a:endParaRPr>
          </a:p>
        </p:txBody>
      </p:sp>
      <p:sp>
        <p:nvSpPr>
          <p:cNvPr id="4" name="矩形 3"/>
          <p:cNvSpPr/>
          <p:nvPr/>
        </p:nvSpPr>
        <p:spPr>
          <a:xfrm>
            <a:off x="434701" y="998837"/>
            <a:ext cx="11450595" cy="4860325"/>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09278" y="2574263"/>
            <a:ext cx="9424670" cy="1323439"/>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charset="-122"/>
              </a:defRPr>
            </a:lvl1pPr>
            <a:lvl2pPr marL="742950" indent="-285750">
              <a:defRPr sz="1300">
                <a:solidFill>
                  <a:schemeClr val="tx1"/>
                </a:solidFill>
                <a:latin typeface="Arial" panose="020B0604020202020204" pitchFamily="34" charset="0"/>
                <a:ea typeface="微软雅黑" panose="020B0503020204020204" charset="-122"/>
              </a:defRPr>
            </a:lvl2pPr>
            <a:lvl3pPr marL="1143000" indent="-228600">
              <a:defRPr sz="1300">
                <a:solidFill>
                  <a:schemeClr val="tx1"/>
                </a:solidFill>
                <a:latin typeface="Arial" panose="020B0604020202020204" pitchFamily="34" charset="0"/>
                <a:ea typeface="微软雅黑" panose="020B0503020204020204" charset="-122"/>
              </a:defRPr>
            </a:lvl3pPr>
            <a:lvl4pPr marL="1600200" indent="-228600">
              <a:defRPr sz="1300">
                <a:solidFill>
                  <a:schemeClr val="tx1"/>
                </a:solidFill>
                <a:latin typeface="Arial" panose="020B0604020202020204" pitchFamily="34" charset="0"/>
                <a:ea typeface="微软雅黑" panose="020B0503020204020204" charset="-122"/>
              </a:defRPr>
            </a:lvl4pPr>
            <a:lvl5pPr marL="2057400" indent="-228600">
              <a:defRPr sz="1300">
                <a:solidFill>
                  <a:schemeClr val="tx1"/>
                </a:solidFill>
                <a:latin typeface="Arial" panose="020B0604020202020204" pitchFamily="34" charset="0"/>
                <a:ea typeface="微软雅黑" panose="020B050302020402020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9pPr>
          </a:lstStyle>
          <a:p>
            <a:pPr algn="ctr" defTabSz="685800" fontAlgn="base">
              <a:spcBef>
                <a:spcPct val="0"/>
              </a:spcBef>
              <a:spcAft>
                <a:spcPct val="0"/>
              </a:spcAft>
              <a:tabLst>
                <a:tab pos="2865755" algn="l"/>
              </a:tabLst>
            </a:pPr>
            <a:r>
              <a:rPr lang="zh-CN" altLang="en-US" sz="4000" b="1" dirty="0">
                <a:solidFill>
                  <a:srgbClr val="203864"/>
                </a:solidFill>
                <a:latin typeface="微软雅黑" panose="020B0503020204020204" charset="-122"/>
                <a:sym typeface="Calibri" panose="020F0502020204030204" pitchFamily="34" charset="0"/>
              </a:rPr>
              <a:t>超视距空战中</a:t>
            </a:r>
            <a:endParaRPr lang="en-US" altLang="zh-CN" sz="4000" b="1" dirty="0">
              <a:solidFill>
                <a:srgbClr val="203864"/>
              </a:solidFill>
              <a:latin typeface="微软雅黑" panose="020B0503020204020204" charset="-122"/>
              <a:sym typeface="Calibri" panose="020F0502020204030204" pitchFamily="34" charset="0"/>
            </a:endParaRPr>
          </a:p>
          <a:p>
            <a:pPr algn="ctr" defTabSz="685800" fontAlgn="base">
              <a:spcBef>
                <a:spcPct val="0"/>
              </a:spcBef>
              <a:spcAft>
                <a:spcPct val="0"/>
              </a:spcAft>
              <a:tabLst>
                <a:tab pos="2865755" algn="l"/>
              </a:tabLst>
            </a:pPr>
            <a:r>
              <a:rPr lang="zh-CN" altLang="en-US" sz="4000" b="1" dirty="0">
                <a:solidFill>
                  <a:srgbClr val="203864"/>
                </a:solidFill>
                <a:latin typeface="微软雅黑" panose="020B0503020204020204" charset="-122"/>
                <a:sym typeface="Calibri" panose="020F0502020204030204" pitchFamily="34" charset="0"/>
              </a:rPr>
              <a:t>智能博弈算法研究</a:t>
            </a:r>
          </a:p>
        </p:txBody>
      </p:sp>
      <p:cxnSp>
        <p:nvCxnSpPr>
          <p:cNvPr id="65" name="直接连接符 64"/>
          <p:cNvCxnSpPr>
            <a:cxnSpLocks/>
          </p:cNvCxnSpPr>
          <p:nvPr/>
        </p:nvCxnSpPr>
        <p:spPr>
          <a:xfrm>
            <a:off x="3935002" y="4494447"/>
            <a:ext cx="4654194" cy="0"/>
          </a:xfrm>
          <a:prstGeom prst="line">
            <a:avLst/>
          </a:prstGeom>
          <a:ln w="28575" cmpd="sng">
            <a:solidFill>
              <a:schemeClr val="accent1">
                <a:lumMod val="50000"/>
              </a:schemeClr>
            </a:solidFill>
            <a:prstDash val="solid"/>
          </a:ln>
        </p:spPr>
        <p:style>
          <a:lnRef idx="1">
            <a:schemeClr val="dk1"/>
          </a:lnRef>
          <a:fillRef idx="0">
            <a:schemeClr val="dk1"/>
          </a:fillRef>
          <a:effectRef idx="0">
            <a:schemeClr val="dk1"/>
          </a:effectRef>
          <a:fontRef idx="minor">
            <a:schemeClr val="tx1"/>
          </a:fontRef>
        </p:style>
      </p:cxnSp>
      <p:pic>
        <p:nvPicPr>
          <p:cNvPr id="5" name="图片 4"/>
          <p:cNvPicPr>
            <a:picLocks noChangeAspect="1"/>
          </p:cNvPicPr>
          <p:nvPr/>
        </p:nvPicPr>
        <p:blipFill>
          <a:blip r:embed="rId3" cstate="print">
            <a:biLevel thresh="75000"/>
            <a:extLst>
              <a:ext uri="{28A0092B-C50C-407E-A947-70E740481C1C}">
                <a14:useLocalDpi xmlns:a14="http://schemas.microsoft.com/office/drawing/2010/main" val="0"/>
              </a:ext>
            </a:extLst>
          </a:blip>
          <a:stretch>
            <a:fillRect/>
          </a:stretch>
        </p:blipFill>
        <p:spPr>
          <a:xfrm>
            <a:off x="4304960" y="1267692"/>
            <a:ext cx="3336043" cy="1127763"/>
          </a:xfrm>
          <a:prstGeom prst="rect">
            <a:avLst/>
          </a:prstGeom>
        </p:spPr>
      </p:pic>
      <p:sp>
        <p:nvSpPr>
          <p:cNvPr id="22" name="矩形 21"/>
          <p:cNvSpPr/>
          <p:nvPr/>
        </p:nvSpPr>
        <p:spPr>
          <a:xfrm>
            <a:off x="3469024" y="4105007"/>
            <a:ext cx="5505179" cy="369332"/>
          </a:xfrm>
          <a:prstGeom prst="rect">
            <a:avLst/>
          </a:prstGeom>
          <a:noFill/>
        </p:spPr>
        <p:txBody>
          <a:bodyPr wrap="square" rtlCol="0">
            <a:spAutoFit/>
          </a:bodyPr>
          <a:lstStyle/>
          <a:p>
            <a:pPr algn="ctr"/>
            <a:r>
              <a:rPr lang="zh-CN" altLang="en-US" b="1" spc="300" dirty="0">
                <a:latin typeface="Times New Roman" panose="02020603050405020304" pitchFamily="18" charset="0"/>
                <a:ea typeface="宋体" panose="02010600030101010101" pitchFamily="2" charset="-122"/>
                <a:cs typeface="Times New Roman" panose="02020603050405020304" pitchFamily="18" charset="0"/>
              </a:rPr>
              <a:t>汇报人     </a:t>
            </a:r>
            <a:r>
              <a:rPr lang="en-US" altLang="zh-CN" b="1" spc="300" dirty="0">
                <a:latin typeface="Times New Roman" panose="02020603050405020304" pitchFamily="18" charset="0"/>
                <a:ea typeface="宋体" panose="02010600030101010101" pitchFamily="2" charset="-122"/>
                <a:cs typeface="Times New Roman" panose="02020603050405020304" pitchFamily="18" charset="0"/>
              </a:rPr>
              <a:t>2024</a:t>
            </a:r>
            <a:r>
              <a:rPr lang="zh-CN" altLang="en-US" b="1" spc="300" dirty="0">
                <a:latin typeface="Times New Roman" panose="02020603050405020304" pitchFamily="18" charset="0"/>
                <a:ea typeface="宋体" panose="02010600030101010101" pitchFamily="2" charset="-122"/>
                <a:cs typeface="Times New Roman" panose="02020603050405020304" pitchFamily="18" charset="0"/>
              </a:rPr>
              <a:t>级硕     张洪图  </a:t>
            </a:r>
          </a:p>
        </p:txBody>
      </p:sp>
      <p:grpSp>
        <p:nvGrpSpPr>
          <p:cNvPr id="25" name="Group 66"/>
          <p:cNvGrpSpPr>
            <a:grpSpLocks noChangeAspect="1"/>
          </p:cNvGrpSpPr>
          <p:nvPr/>
        </p:nvGrpSpPr>
        <p:grpSpPr bwMode="auto">
          <a:xfrm>
            <a:off x="6418151" y="5091193"/>
            <a:ext cx="256116" cy="277284"/>
            <a:chOff x="2111" y="2322"/>
            <a:chExt cx="121" cy="131"/>
          </a:xfrm>
          <a:solidFill>
            <a:schemeClr val="bg1"/>
          </a:solidFill>
        </p:grpSpPr>
        <p:sp>
          <p:nvSpPr>
            <p:cNvPr id="26"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7"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121920" tIns="60960" rIns="121920" bIns="60960" numCol="1" anchor="t" anchorCtr="0" compatLnSpc="1"/>
            <a:lstStyle/>
            <a:p>
              <a:endParaRPr lang="zh-CN" altLang="en-US" sz="2400" dirty="0">
                <a:solidFill>
                  <a:srgbClr val="212834"/>
                </a:solidFill>
              </a:endParaRPr>
            </a:p>
          </p:txBody>
        </p:sp>
        <p:sp>
          <p:nvSpPr>
            <p:cNvPr id="28"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gr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4960" y="1387539"/>
            <a:ext cx="1156040" cy="879819"/>
          </a:xfrm>
          <a:prstGeom prst="rect">
            <a:avLst/>
          </a:prstGeom>
        </p:spPr>
      </p:pic>
      <p:sp>
        <p:nvSpPr>
          <p:cNvPr id="7" name="矩形 6">
            <a:extLst>
              <a:ext uri="{FF2B5EF4-FFF2-40B4-BE49-F238E27FC236}">
                <a16:creationId xmlns:a16="http://schemas.microsoft.com/office/drawing/2014/main" id="{2B5D288B-7BCA-097B-21A5-A8301E1D8CA9}"/>
              </a:ext>
            </a:extLst>
          </p:cNvPr>
          <p:cNvSpPr/>
          <p:nvPr/>
        </p:nvSpPr>
        <p:spPr>
          <a:xfrm>
            <a:off x="10274164" y="5478255"/>
            <a:ext cx="1611132" cy="369332"/>
          </a:xfrm>
          <a:prstGeom prst="rect">
            <a:avLst/>
          </a:prstGeom>
          <a:noFill/>
        </p:spPr>
        <p:txBody>
          <a:bodyPr wrap="square" rtlCol="0">
            <a:spAutoFit/>
          </a:bodyPr>
          <a:lstStyle/>
          <a:p>
            <a:r>
              <a:rPr lang="en-US" altLang="zh-CN" spc="300" dirty="0">
                <a:latin typeface="Times New Roman" panose="02020603050405020304" pitchFamily="18" charset="0"/>
                <a:ea typeface="宋体" panose="02010600030101010101" pitchFamily="2" charset="-122"/>
                <a:cs typeface="Times New Roman" panose="02020603050405020304" pitchFamily="18" charset="0"/>
              </a:rPr>
              <a:t>2025.02.17</a:t>
            </a:r>
            <a:endParaRPr lang="zh-CN" altLang="en-US" spc="3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16995"/>
            <a:ext cx="3467837" cy="1939669"/>
          </a:xfrm>
          <a:prstGeom prst="rect">
            <a:avLst/>
          </a:prstGeom>
          <a:solidFill>
            <a:srgbClr val="345780"/>
          </a:solidFill>
          <a:ln>
            <a:solidFill>
              <a:srgbClr val="3457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ysClr val="windowText" lastClr="000000"/>
              </a:solidFill>
            </a:endParaRPr>
          </a:p>
        </p:txBody>
      </p:sp>
      <p:sp>
        <p:nvSpPr>
          <p:cNvPr id="25" name="矩形 24"/>
          <p:cNvSpPr/>
          <p:nvPr/>
        </p:nvSpPr>
        <p:spPr>
          <a:xfrm>
            <a:off x="11829327" y="957648"/>
            <a:ext cx="350710" cy="3849435"/>
          </a:xfrm>
          <a:prstGeom prst="rect">
            <a:avLst/>
          </a:prstGeom>
          <a:solidFill>
            <a:srgbClr val="345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矩形 26"/>
          <p:cNvSpPr/>
          <p:nvPr/>
        </p:nvSpPr>
        <p:spPr bwMode="auto">
          <a:xfrm>
            <a:off x="894706" y="1966018"/>
            <a:ext cx="1776448" cy="923330"/>
          </a:xfrm>
          <a:prstGeom prst="rect">
            <a:avLst/>
          </a:prstGeom>
        </p:spPr>
        <p:txBody>
          <a:bodyPr wrap="none">
            <a:spAutoFit/>
          </a:bodyPr>
          <a:lstStyle/>
          <a:p>
            <a:pPr algn="ctr">
              <a:defRPr/>
            </a:pPr>
            <a:r>
              <a:rPr lang="zh-CN" altLang="en-US" sz="54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目 录</a:t>
            </a:r>
          </a:p>
        </p:txBody>
      </p:sp>
      <p:sp>
        <p:nvSpPr>
          <p:cNvPr id="26" name="矩形 25"/>
          <p:cNvSpPr/>
          <p:nvPr/>
        </p:nvSpPr>
        <p:spPr bwMode="auto">
          <a:xfrm>
            <a:off x="589651" y="2934856"/>
            <a:ext cx="2236510" cy="707886"/>
          </a:xfrm>
          <a:prstGeom prst="rect">
            <a:avLst/>
          </a:prstGeom>
        </p:spPr>
        <p:txBody>
          <a:bodyPr wrap="none">
            <a:spAutoFit/>
          </a:bodyPr>
          <a:lstStyle/>
          <a:p>
            <a:pPr algn="ctr">
              <a:defRPr/>
            </a:pPr>
            <a:r>
              <a:rPr lang="zh-CN" altLang="en-US" sz="4000" kern="100" dirty="0">
                <a:solidFill>
                  <a:schemeClr val="bg1"/>
                </a:solidFill>
                <a:latin typeface="Times New Roman" panose="02020603050405020304" pitchFamily="18" charset="0"/>
                <a:ea typeface="+mj-ea"/>
                <a:cs typeface="Times New Roman" panose="02020603050405020304" pitchFamily="18" charset="0"/>
              </a:rPr>
              <a:t>轨迹规划</a:t>
            </a:r>
          </a:p>
        </p:txBody>
      </p:sp>
      <p:cxnSp>
        <p:nvCxnSpPr>
          <p:cNvPr id="24" name="直接连接符 23"/>
          <p:cNvCxnSpPr/>
          <p:nvPr/>
        </p:nvCxnSpPr>
        <p:spPr>
          <a:xfrm>
            <a:off x="2239349" y="4370756"/>
            <a:ext cx="422988" cy="0"/>
          </a:xfrm>
          <a:prstGeom prst="line">
            <a:avLst/>
          </a:prstGeom>
          <a:ln w="19050">
            <a:solidFill>
              <a:srgbClr val="F2F2F2"/>
            </a:solidFill>
          </a:ln>
        </p:spPr>
        <p:style>
          <a:lnRef idx="1">
            <a:schemeClr val="accent1"/>
          </a:lnRef>
          <a:fillRef idx="0">
            <a:schemeClr val="accent1"/>
          </a:fillRef>
          <a:effectRef idx="0">
            <a:schemeClr val="accent1"/>
          </a:effectRef>
          <a:fontRef idx="minor">
            <a:schemeClr val="tx1"/>
          </a:fontRef>
        </p:style>
      </p:cxnSp>
      <p:sp>
        <p:nvSpPr>
          <p:cNvPr id="29" name="文本框 6">
            <a:extLst>
              <a:ext uri="{FF2B5EF4-FFF2-40B4-BE49-F238E27FC236}">
                <a16:creationId xmlns:a16="http://schemas.microsoft.com/office/drawing/2014/main" id="{38410C44-FAA8-4004-95F8-0F127416F541}"/>
              </a:ext>
            </a:extLst>
          </p:cNvPr>
          <p:cNvSpPr txBox="1">
            <a:spLocks noChangeArrowheads="1"/>
          </p:cNvSpPr>
          <p:nvPr/>
        </p:nvSpPr>
        <p:spPr bwMode="auto">
          <a:xfrm>
            <a:off x="5725209" y="2062338"/>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3600" b="1" dirty="0">
                <a:solidFill>
                  <a:srgbClr val="345780"/>
                </a:solidFill>
                <a:latin typeface="+mn-ea"/>
                <a:ea typeface="+mn-ea"/>
              </a:rPr>
              <a:t>仿真平台</a:t>
            </a:r>
          </a:p>
        </p:txBody>
      </p:sp>
      <p:sp>
        <p:nvSpPr>
          <p:cNvPr id="38" name="文本框 6">
            <a:extLst>
              <a:ext uri="{FF2B5EF4-FFF2-40B4-BE49-F238E27FC236}">
                <a16:creationId xmlns:a16="http://schemas.microsoft.com/office/drawing/2014/main" id="{A394D2E9-911D-406C-BD90-667D19DDE54D}"/>
              </a:ext>
            </a:extLst>
          </p:cNvPr>
          <p:cNvSpPr txBox="1">
            <a:spLocks noChangeArrowheads="1"/>
          </p:cNvSpPr>
          <p:nvPr/>
        </p:nvSpPr>
        <p:spPr bwMode="auto">
          <a:xfrm>
            <a:off x="5725209" y="3184069"/>
            <a:ext cx="438342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3600" b="1" dirty="0">
                <a:solidFill>
                  <a:srgbClr val="345780"/>
                </a:solidFill>
                <a:latin typeface="+mn-ea"/>
                <a:ea typeface="+mn-ea"/>
              </a:rPr>
              <a:t>算法研究</a:t>
            </a:r>
          </a:p>
        </p:txBody>
      </p:sp>
      <p:sp>
        <p:nvSpPr>
          <p:cNvPr id="42" name="文本框 6">
            <a:extLst>
              <a:ext uri="{FF2B5EF4-FFF2-40B4-BE49-F238E27FC236}">
                <a16:creationId xmlns:a16="http://schemas.microsoft.com/office/drawing/2014/main" id="{C4C38A71-3A68-4B00-96D4-9C26F560E37D}"/>
              </a:ext>
            </a:extLst>
          </p:cNvPr>
          <p:cNvSpPr txBox="1">
            <a:spLocks noChangeArrowheads="1"/>
          </p:cNvSpPr>
          <p:nvPr/>
        </p:nvSpPr>
        <p:spPr bwMode="auto">
          <a:xfrm>
            <a:off x="5718719" y="957648"/>
            <a:ext cx="3416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3600" b="1" dirty="0">
                <a:solidFill>
                  <a:srgbClr val="345780"/>
                </a:solidFill>
                <a:latin typeface="+mn-ea"/>
                <a:ea typeface="+mn-ea"/>
              </a:rPr>
              <a:t>研究背景与意义</a:t>
            </a:r>
          </a:p>
        </p:txBody>
      </p:sp>
      <p:grpSp>
        <p:nvGrpSpPr>
          <p:cNvPr id="43" name="组合 42">
            <a:extLst>
              <a:ext uri="{FF2B5EF4-FFF2-40B4-BE49-F238E27FC236}">
                <a16:creationId xmlns:a16="http://schemas.microsoft.com/office/drawing/2014/main" id="{5F19072E-C0BE-486D-9FCA-4ADC9B1EF6EB}"/>
              </a:ext>
            </a:extLst>
          </p:cNvPr>
          <p:cNvGrpSpPr/>
          <p:nvPr/>
        </p:nvGrpSpPr>
        <p:grpSpPr>
          <a:xfrm>
            <a:off x="4711048" y="4252848"/>
            <a:ext cx="666987" cy="644252"/>
            <a:chOff x="5894895" y="5542642"/>
            <a:chExt cx="644253" cy="644252"/>
          </a:xfrm>
        </p:grpSpPr>
        <p:sp>
          <p:nvSpPr>
            <p:cNvPr id="46" name="椭圆 45">
              <a:extLst>
                <a:ext uri="{FF2B5EF4-FFF2-40B4-BE49-F238E27FC236}">
                  <a16:creationId xmlns:a16="http://schemas.microsoft.com/office/drawing/2014/main" id="{D9D19086-B641-422A-B732-7979DC99438D}"/>
                </a:ext>
              </a:extLst>
            </p:cNvPr>
            <p:cNvSpPr/>
            <p:nvPr/>
          </p:nvSpPr>
          <p:spPr>
            <a:xfrm>
              <a:off x="5894895" y="5542642"/>
              <a:ext cx="644253" cy="644252"/>
            </a:xfrm>
            <a:prstGeom prst="ellipse">
              <a:avLst/>
            </a:prstGeom>
            <a:solidFill>
              <a:srgbClr val="345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rgbClr val="85A299"/>
                </a:solidFill>
              </a:endParaRPr>
            </a:p>
          </p:txBody>
        </p:sp>
        <p:sp>
          <p:nvSpPr>
            <p:cNvPr id="47" name="矩形 46">
              <a:extLst>
                <a:ext uri="{FF2B5EF4-FFF2-40B4-BE49-F238E27FC236}">
                  <a16:creationId xmlns:a16="http://schemas.microsoft.com/office/drawing/2014/main" id="{BABF9A5D-5B33-439D-944E-D40A1B858E27}"/>
                </a:ext>
              </a:extLst>
            </p:cNvPr>
            <p:cNvSpPr/>
            <p:nvPr/>
          </p:nvSpPr>
          <p:spPr bwMode="auto">
            <a:xfrm>
              <a:off x="5908398" y="5576784"/>
              <a:ext cx="601448" cy="584775"/>
            </a:xfrm>
            <a:prstGeom prst="rect">
              <a:avLst/>
            </a:prstGeom>
            <a:noFill/>
            <a:ln>
              <a:noFill/>
            </a:ln>
          </p:spPr>
          <p:txBody>
            <a:bodyPr wrap="none">
              <a:spAutoFit/>
            </a:bodyPr>
            <a:lstStyle/>
            <a:p>
              <a:pPr algn="ctr">
                <a:defRPr/>
              </a:pPr>
              <a:r>
                <a:rPr lang="en-US" altLang="zh-CN" sz="3200" kern="100" dirty="0">
                  <a:solidFill>
                    <a:schemeClr val="bg1"/>
                  </a:solidFill>
                  <a:latin typeface="+mj-lt"/>
                  <a:ea typeface="微软雅黑" panose="020B0503020204020204" pitchFamily="34" charset="-122"/>
                  <a:cs typeface="Times New Roman" panose="02020603050405020304" pitchFamily="18" charset="0"/>
                </a:rPr>
                <a:t>04</a:t>
              </a:r>
              <a:endParaRPr lang="zh-CN" altLang="en-US" sz="3200" kern="100" dirty="0">
                <a:solidFill>
                  <a:schemeClr val="bg1"/>
                </a:solidFill>
                <a:latin typeface="+mj-lt"/>
                <a:ea typeface="微软雅黑" panose="020B0503020204020204" pitchFamily="34" charset="-122"/>
                <a:cs typeface="Times New Roman" panose="02020603050405020304" pitchFamily="18" charset="0"/>
              </a:endParaRPr>
            </a:p>
          </p:txBody>
        </p:sp>
      </p:grpSp>
      <p:grpSp>
        <p:nvGrpSpPr>
          <p:cNvPr id="48" name="组合 47">
            <a:extLst>
              <a:ext uri="{FF2B5EF4-FFF2-40B4-BE49-F238E27FC236}">
                <a16:creationId xmlns:a16="http://schemas.microsoft.com/office/drawing/2014/main" id="{66A4B65D-0F13-4B53-8D56-187881A27312}"/>
              </a:ext>
            </a:extLst>
          </p:cNvPr>
          <p:cNvGrpSpPr/>
          <p:nvPr/>
        </p:nvGrpSpPr>
        <p:grpSpPr>
          <a:xfrm>
            <a:off x="4739936" y="2062338"/>
            <a:ext cx="644253" cy="644252"/>
            <a:chOff x="5310062" y="818991"/>
            <a:chExt cx="483189" cy="483189"/>
          </a:xfrm>
        </p:grpSpPr>
        <p:sp>
          <p:nvSpPr>
            <p:cNvPr id="49" name="椭圆 48">
              <a:extLst>
                <a:ext uri="{FF2B5EF4-FFF2-40B4-BE49-F238E27FC236}">
                  <a16:creationId xmlns:a16="http://schemas.microsoft.com/office/drawing/2014/main" id="{5A1562D7-BE2C-418C-BE44-7D5F2609557A}"/>
                </a:ext>
              </a:extLst>
            </p:cNvPr>
            <p:cNvSpPr/>
            <p:nvPr/>
          </p:nvSpPr>
          <p:spPr>
            <a:xfrm>
              <a:off x="5310062" y="818991"/>
              <a:ext cx="483189" cy="483189"/>
            </a:xfrm>
            <a:prstGeom prst="ellipse">
              <a:avLst/>
            </a:prstGeom>
            <a:solidFill>
              <a:srgbClr val="345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rgbClr val="85A299"/>
                </a:solidFill>
              </a:endParaRPr>
            </a:p>
          </p:txBody>
        </p:sp>
        <p:sp>
          <p:nvSpPr>
            <p:cNvPr id="50" name="矩形 49">
              <a:extLst>
                <a:ext uri="{FF2B5EF4-FFF2-40B4-BE49-F238E27FC236}">
                  <a16:creationId xmlns:a16="http://schemas.microsoft.com/office/drawing/2014/main" id="{690D39F5-91E6-4F97-9F72-BBAF368CE1DE}"/>
                </a:ext>
              </a:extLst>
            </p:cNvPr>
            <p:cNvSpPr/>
            <p:nvPr/>
          </p:nvSpPr>
          <p:spPr bwMode="auto">
            <a:xfrm>
              <a:off x="5332680" y="837216"/>
              <a:ext cx="451085" cy="438581"/>
            </a:xfrm>
            <a:prstGeom prst="rect">
              <a:avLst/>
            </a:prstGeom>
            <a:noFill/>
            <a:ln>
              <a:noFill/>
            </a:ln>
          </p:spPr>
          <p:txBody>
            <a:bodyPr wrap="none">
              <a:spAutoFit/>
            </a:bodyPr>
            <a:lstStyle/>
            <a:p>
              <a:pPr algn="ctr">
                <a:defRPr/>
              </a:pPr>
              <a:r>
                <a:rPr lang="en-US" altLang="zh-CN" sz="3200" kern="100" dirty="0">
                  <a:solidFill>
                    <a:schemeClr val="bg1"/>
                  </a:solidFill>
                  <a:latin typeface="+mj-lt"/>
                  <a:ea typeface="微软雅黑" panose="020B0503020204020204" pitchFamily="34" charset="-122"/>
                  <a:cs typeface="Times New Roman" panose="02020603050405020304" pitchFamily="18" charset="0"/>
                </a:rPr>
                <a:t>02</a:t>
              </a:r>
              <a:endParaRPr lang="zh-CN" altLang="en-US" sz="3200" kern="100" dirty="0">
                <a:solidFill>
                  <a:schemeClr val="bg1"/>
                </a:solidFill>
                <a:latin typeface="+mj-lt"/>
                <a:ea typeface="微软雅黑" panose="020B0503020204020204" pitchFamily="34" charset="-122"/>
                <a:cs typeface="Times New Roman" panose="02020603050405020304" pitchFamily="18" charset="0"/>
              </a:endParaRPr>
            </a:p>
          </p:txBody>
        </p:sp>
      </p:grpSp>
      <p:grpSp>
        <p:nvGrpSpPr>
          <p:cNvPr id="51" name="组合 50">
            <a:extLst>
              <a:ext uri="{FF2B5EF4-FFF2-40B4-BE49-F238E27FC236}">
                <a16:creationId xmlns:a16="http://schemas.microsoft.com/office/drawing/2014/main" id="{15E0ABBB-F242-4DCE-A9AD-0613AD8374C2}"/>
              </a:ext>
            </a:extLst>
          </p:cNvPr>
          <p:cNvGrpSpPr/>
          <p:nvPr/>
        </p:nvGrpSpPr>
        <p:grpSpPr>
          <a:xfrm>
            <a:off x="4710676" y="3174431"/>
            <a:ext cx="644252" cy="644252"/>
            <a:chOff x="5329283" y="1461935"/>
            <a:chExt cx="483189" cy="483189"/>
          </a:xfrm>
        </p:grpSpPr>
        <p:sp>
          <p:nvSpPr>
            <p:cNvPr id="52" name="椭圆 51">
              <a:extLst>
                <a:ext uri="{FF2B5EF4-FFF2-40B4-BE49-F238E27FC236}">
                  <a16:creationId xmlns:a16="http://schemas.microsoft.com/office/drawing/2014/main" id="{7636CC9B-AE21-4310-A78E-FD1633D0CF9F}"/>
                </a:ext>
              </a:extLst>
            </p:cNvPr>
            <p:cNvSpPr/>
            <p:nvPr/>
          </p:nvSpPr>
          <p:spPr>
            <a:xfrm>
              <a:off x="5329283" y="1461935"/>
              <a:ext cx="483189" cy="483189"/>
            </a:xfrm>
            <a:prstGeom prst="ellipse">
              <a:avLst/>
            </a:prstGeom>
            <a:solidFill>
              <a:srgbClr val="345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rgbClr val="85A299"/>
                </a:solidFill>
              </a:endParaRPr>
            </a:p>
          </p:txBody>
        </p:sp>
        <p:sp>
          <p:nvSpPr>
            <p:cNvPr id="53" name="矩形 52">
              <a:extLst>
                <a:ext uri="{FF2B5EF4-FFF2-40B4-BE49-F238E27FC236}">
                  <a16:creationId xmlns:a16="http://schemas.microsoft.com/office/drawing/2014/main" id="{2348BA19-9B45-4209-A296-8A2702F5FA80}"/>
                </a:ext>
              </a:extLst>
            </p:cNvPr>
            <p:cNvSpPr/>
            <p:nvPr/>
          </p:nvSpPr>
          <p:spPr bwMode="auto">
            <a:xfrm>
              <a:off x="5354156" y="1466249"/>
              <a:ext cx="451086" cy="438581"/>
            </a:xfrm>
            <a:prstGeom prst="rect">
              <a:avLst/>
            </a:prstGeom>
            <a:noFill/>
            <a:ln>
              <a:noFill/>
            </a:ln>
          </p:spPr>
          <p:txBody>
            <a:bodyPr wrap="none">
              <a:spAutoFit/>
            </a:bodyPr>
            <a:lstStyle/>
            <a:p>
              <a:pPr algn="ctr">
                <a:defRPr/>
              </a:pPr>
              <a:r>
                <a:rPr lang="en-US" altLang="zh-CN" sz="3200" kern="100" dirty="0">
                  <a:solidFill>
                    <a:schemeClr val="bg1"/>
                  </a:solidFill>
                  <a:latin typeface="+mj-lt"/>
                  <a:ea typeface="微软雅黑" panose="020B0503020204020204" pitchFamily="34" charset="-122"/>
                  <a:cs typeface="Times New Roman" panose="02020603050405020304" pitchFamily="18" charset="0"/>
                </a:rPr>
                <a:t>03</a:t>
              </a:r>
              <a:endParaRPr lang="zh-CN" altLang="en-US" sz="3200" kern="100" dirty="0">
                <a:solidFill>
                  <a:schemeClr val="bg1"/>
                </a:solidFill>
                <a:latin typeface="+mj-lt"/>
                <a:ea typeface="微软雅黑" panose="020B0503020204020204" pitchFamily="34" charset="-122"/>
                <a:cs typeface="Times New Roman" panose="02020603050405020304" pitchFamily="18" charset="0"/>
              </a:endParaRPr>
            </a:p>
          </p:txBody>
        </p:sp>
      </p:grpSp>
      <p:grpSp>
        <p:nvGrpSpPr>
          <p:cNvPr id="54" name="组合 53">
            <a:extLst>
              <a:ext uri="{FF2B5EF4-FFF2-40B4-BE49-F238E27FC236}">
                <a16:creationId xmlns:a16="http://schemas.microsoft.com/office/drawing/2014/main" id="{8E8628E0-5AA9-4398-90A1-42CCA539B203}"/>
              </a:ext>
            </a:extLst>
          </p:cNvPr>
          <p:cNvGrpSpPr/>
          <p:nvPr/>
        </p:nvGrpSpPr>
        <p:grpSpPr>
          <a:xfrm>
            <a:off x="4719429" y="957648"/>
            <a:ext cx="644253" cy="644252"/>
            <a:chOff x="5168467" y="57057"/>
            <a:chExt cx="483189" cy="483189"/>
          </a:xfrm>
        </p:grpSpPr>
        <p:sp>
          <p:nvSpPr>
            <p:cNvPr id="55" name="椭圆 54">
              <a:extLst>
                <a:ext uri="{FF2B5EF4-FFF2-40B4-BE49-F238E27FC236}">
                  <a16:creationId xmlns:a16="http://schemas.microsoft.com/office/drawing/2014/main" id="{6B94B22F-49DC-44DD-8391-20EDA933840D}"/>
                </a:ext>
              </a:extLst>
            </p:cNvPr>
            <p:cNvSpPr/>
            <p:nvPr/>
          </p:nvSpPr>
          <p:spPr>
            <a:xfrm>
              <a:off x="5168467" y="57057"/>
              <a:ext cx="483189" cy="483189"/>
            </a:xfrm>
            <a:prstGeom prst="ellipse">
              <a:avLst/>
            </a:prstGeom>
            <a:solidFill>
              <a:srgbClr val="345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rgbClr val="85A299"/>
                </a:solidFill>
              </a:endParaRPr>
            </a:p>
          </p:txBody>
        </p:sp>
        <p:sp>
          <p:nvSpPr>
            <p:cNvPr id="56" name="矩形 55">
              <a:extLst>
                <a:ext uri="{FF2B5EF4-FFF2-40B4-BE49-F238E27FC236}">
                  <a16:creationId xmlns:a16="http://schemas.microsoft.com/office/drawing/2014/main" id="{1F704D35-045D-41A4-882B-E8844D4B5A40}"/>
                </a:ext>
              </a:extLst>
            </p:cNvPr>
            <p:cNvSpPr/>
            <p:nvPr/>
          </p:nvSpPr>
          <p:spPr bwMode="auto">
            <a:xfrm>
              <a:off x="5184518" y="75446"/>
              <a:ext cx="451085" cy="438581"/>
            </a:xfrm>
            <a:prstGeom prst="rect">
              <a:avLst/>
            </a:prstGeom>
            <a:noFill/>
            <a:ln>
              <a:noFill/>
            </a:ln>
          </p:spPr>
          <p:txBody>
            <a:bodyPr wrap="none">
              <a:spAutoFit/>
            </a:bodyPr>
            <a:lstStyle/>
            <a:p>
              <a:pPr algn="ctr">
                <a:defRPr/>
              </a:pPr>
              <a:r>
                <a:rPr lang="en-US" altLang="zh-CN" sz="3200" kern="100" dirty="0">
                  <a:solidFill>
                    <a:schemeClr val="bg1"/>
                  </a:solidFill>
                  <a:latin typeface="+mj-lt"/>
                  <a:ea typeface="微软雅黑" panose="020B0503020204020204" pitchFamily="34" charset="-122"/>
                  <a:cs typeface="Times New Roman" panose="02020603050405020304" pitchFamily="18" charset="0"/>
                </a:rPr>
                <a:t>01</a:t>
              </a:r>
              <a:endParaRPr lang="zh-CN" altLang="en-US" sz="3200" kern="100" dirty="0">
                <a:solidFill>
                  <a:schemeClr val="bg1"/>
                </a:solidFill>
                <a:latin typeface="+mj-lt"/>
                <a:ea typeface="微软雅黑" panose="020B0503020204020204" pitchFamily="34" charset="-122"/>
                <a:cs typeface="Times New Roman" panose="02020603050405020304" pitchFamily="18" charset="0"/>
              </a:endParaRPr>
            </a:p>
          </p:txBody>
        </p:sp>
      </p:grpSp>
      <p:sp>
        <p:nvSpPr>
          <p:cNvPr id="60" name="文本框 6">
            <a:extLst>
              <a:ext uri="{FF2B5EF4-FFF2-40B4-BE49-F238E27FC236}">
                <a16:creationId xmlns:a16="http://schemas.microsoft.com/office/drawing/2014/main" id="{E3AB3153-8E6F-424C-9CE4-ECC44DDF713E}"/>
              </a:ext>
            </a:extLst>
          </p:cNvPr>
          <p:cNvSpPr txBox="1">
            <a:spLocks noChangeArrowheads="1"/>
          </p:cNvSpPr>
          <p:nvPr/>
        </p:nvSpPr>
        <p:spPr bwMode="auto">
          <a:xfrm>
            <a:off x="5718719" y="4260694"/>
            <a:ext cx="43834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3600" b="1" dirty="0">
                <a:solidFill>
                  <a:srgbClr val="345780"/>
                </a:solidFill>
                <a:latin typeface="+mn-ea"/>
                <a:ea typeface="+mn-ea"/>
              </a:rPr>
              <a:t>总结</a:t>
            </a:r>
            <a:endParaRPr lang="en-US" altLang="zh-CN" sz="3600" b="1" dirty="0">
              <a:solidFill>
                <a:srgbClr val="345780"/>
              </a:solidFill>
              <a:latin typeface="+mn-ea"/>
              <a:ea typeface="+mn-ea"/>
            </a:endParaRPr>
          </a:p>
        </p:txBody>
      </p:sp>
    </p:spTree>
    <p:extLst>
      <p:ext uri="{BB962C8B-B14F-4D97-AF65-F5344CB8AC3E}">
        <p14:creationId xmlns:p14="http://schemas.microsoft.com/office/powerpoint/2010/main" val="3050311841"/>
      </p:ext>
    </p:extLst>
  </p:cSld>
  <p:clrMapOvr>
    <a:masterClrMapping/>
  </p:clrMapOvr>
  <mc:AlternateContent xmlns:mc="http://schemas.openxmlformats.org/markup-compatibility/2006" xmlns:p14="http://schemas.microsoft.com/office/powerpoint/2010/main">
    <mc:Choice Requires="p14">
      <p:transition spd="slow" p14:dur="2000" advTm="2532"/>
    </mc:Choice>
    <mc:Fallback xmlns="">
      <p:transition spd="slow" advTm="253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448327"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a:t>
            </a:r>
          </a:p>
        </p:txBody>
      </p:sp>
      <p:sp>
        <p:nvSpPr>
          <p:cNvPr id="2" name="矩形 1"/>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23" name="文本框 22">
            <a:extLst>
              <a:ext uri="{FF2B5EF4-FFF2-40B4-BE49-F238E27FC236}">
                <a16:creationId xmlns:a16="http://schemas.microsoft.com/office/drawing/2014/main" id="{3CCCC24E-9F4B-A80A-5339-F673A311D612}"/>
              </a:ext>
            </a:extLst>
          </p:cNvPr>
          <p:cNvSpPr txBox="1"/>
          <p:nvPr/>
        </p:nvSpPr>
        <p:spPr>
          <a:xfrm>
            <a:off x="973670" y="1806374"/>
            <a:ext cx="10679974" cy="787523"/>
          </a:xfrm>
          <a:prstGeom prst="rect">
            <a:avLst/>
          </a:prstGeom>
          <a:ln w="19050">
            <a:solidFill>
              <a:srgbClr val="2C436D"/>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中距空战</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是指战斗机在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视距外</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Beyond Visual Range, BVR</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）进行的空战，通常使用中程空对空导弹进行交战。</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飞机：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F16</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，导弹：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AIM-120</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DD25FD80-1E79-C675-3A6B-B0899DFC2727}"/>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1.1 </a:t>
            </a:r>
            <a:r>
              <a:rPr lang="zh-CN" altLang="en-US" sz="2400" b="1" dirty="0">
                <a:solidFill>
                  <a:srgbClr val="203864"/>
                </a:solidFill>
                <a:latin typeface="微软雅黑" panose="020B0503020204020204" charset="-122"/>
                <a:ea typeface="微软雅黑" panose="020B0503020204020204" charset="-122"/>
              </a:rPr>
              <a:t>研究问题</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中距空战</a:t>
            </a:r>
            <a:endParaRPr lang="en-US" altLang="zh-CN" sz="2400" b="1" dirty="0">
              <a:solidFill>
                <a:srgbClr val="203864"/>
              </a:solidFill>
              <a:latin typeface="微软雅黑" panose="020B0503020204020204" charset="-122"/>
              <a:ea typeface="微软雅黑" panose="020B0503020204020204" charset="-122"/>
            </a:endParaRPr>
          </a:p>
        </p:txBody>
      </p:sp>
      <p:sp>
        <p:nvSpPr>
          <p:cNvPr id="33" name="文本框 32">
            <a:extLst>
              <a:ext uri="{FF2B5EF4-FFF2-40B4-BE49-F238E27FC236}">
                <a16:creationId xmlns:a16="http://schemas.microsoft.com/office/drawing/2014/main" id="{E9C76B7F-A245-4405-BED5-88D23EEE792E}"/>
              </a:ext>
            </a:extLst>
          </p:cNvPr>
          <p:cNvSpPr txBox="1"/>
          <p:nvPr/>
        </p:nvSpPr>
        <p:spPr>
          <a:xfrm>
            <a:off x="973669" y="3036856"/>
            <a:ext cx="4969931" cy="1895519"/>
          </a:xfrm>
          <a:prstGeom prst="rect">
            <a:avLst/>
          </a:prstGeom>
          <a:ln w="19050">
            <a:solidFill>
              <a:srgbClr val="2C436D"/>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近距空战（狗斗）特点：</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近距</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：用机枪造成伤害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通过机动形成追敌的态势；</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）敌机在自己视线角内</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）自己在敌机视线角外</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）距离接近</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 name="图片 19">
            <a:extLst>
              <a:ext uri="{FF2B5EF4-FFF2-40B4-BE49-F238E27FC236}">
                <a16:creationId xmlns:a16="http://schemas.microsoft.com/office/drawing/2014/main" id="{65A2BD3A-070E-4B85-9EF9-5FE3FC5B7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1639" y="2742534"/>
            <a:ext cx="4969930" cy="3727446"/>
          </a:xfrm>
          <a:prstGeom prst="rect">
            <a:avLst/>
          </a:prstGeom>
        </p:spPr>
      </p:pic>
    </p:spTree>
    <p:extLst>
      <p:ext uri="{BB962C8B-B14F-4D97-AF65-F5344CB8AC3E}">
        <p14:creationId xmlns:p14="http://schemas.microsoft.com/office/powerpoint/2010/main" val="3700580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448327"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a:t>
            </a:r>
          </a:p>
        </p:txBody>
      </p:sp>
      <p:sp>
        <p:nvSpPr>
          <p:cNvPr id="2" name="矩形 1"/>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23" name="文本框 22">
            <a:extLst>
              <a:ext uri="{FF2B5EF4-FFF2-40B4-BE49-F238E27FC236}">
                <a16:creationId xmlns:a16="http://schemas.microsoft.com/office/drawing/2014/main" id="{3CCCC24E-9F4B-A80A-5339-F673A311D612}"/>
              </a:ext>
            </a:extLst>
          </p:cNvPr>
          <p:cNvSpPr txBox="1"/>
          <p:nvPr/>
        </p:nvSpPr>
        <p:spPr>
          <a:xfrm>
            <a:off x="973670" y="1806374"/>
            <a:ext cx="10679974" cy="787523"/>
          </a:xfrm>
          <a:prstGeom prst="rect">
            <a:avLst/>
          </a:prstGeom>
          <a:ln w="19050">
            <a:solidFill>
              <a:srgbClr val="2C436D"/>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中距空战</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是指战斗机在视距外（</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Beyond Visual Range, BVR</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）进行的空战，通常使用中程空对空导弹进行交战。</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飞机：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F16</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，导弹：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AIM-120</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DD25FD80-1E79-C675-3A6B-B0899DFC2727}"/>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1.1 </a:t>
            </a:r>
            <a:r>
              <a:rPr lang="zh-CN" altLang="en-US" sz="2400" b="1" dirty="0">
                <a:solidFill>
                  <a:srgbClr val="203864"/>
                </a:solidFill>
                <a:latin typeface="微软雅黑" panose="020B0503020204020204" charset="-122"/>
                <a:ea typeface="微软雅黑" panose="020B0503020204020204" charset="-122"/>
              </a:rPr>
              <a:t>研究问题</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中距空战</a:t>
            </a:r>
            <a:endParaRPr lang="en-US" altLang="zh-CN" sz="2400" b="1" dirty="0">
              <a:solidFill>
                <a:srgbClr val="203864"/>
              </a:solidFill>
              <a:latin typeface="微软雅黑" panose="020B0503020204020204" charset="-122"/>
              <a:ea typeface="微软雅黑" panose="020B0503020204020204" charset="-122"/>
            </a:endParaRPr>
          </a:p>
        </p:txBody>
      </p:sp>
      <p:sp>
        <p:nvSpPr>
          <p:cNvPr id="33" name="文本框 32">
            <a:extLst>
              <a:ext uri="{FF2B5EF4-FFF2-40B4-BE49-F238E27FC236}">
                <a16:creationId xmlns:a16="http://schemas.microsoft.com/office/drawing/2014/main" id="{E9C76B7F-A245-4405-BED5-88D23EEE792E}"/>
              </a:ext>
            </a:extLst>
          </p:cNvPr>
          <p:cNvSpPr txBox="1"/>
          <p:nvPr/>
        </p:nvSpPr>
        <p:spPr>
          <a:xfrm>
            <a:off x="973670" y="3036856"/>
            <a:ext cx="5063687" cy="3003515"/>
          </a:xfrm>
          <a:prstGeom prst="rect">
            <a:avLst/>
          </a:prstGeom>
          <a:ln w="19050">
            <a:solidFill>
              <a:srgbClr val="2C436D"/>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与近距空战（狗斗）不同：</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近距</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：用机枪造成伤害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通过机动形成追敌的态势；</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中距</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：空对空导弹</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）接近敌机</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）增加导弹能量：高度、速度、仰角</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3</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）导弹制导：保持敌方在自身雷达视线角内</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）及时逃逸和躲避</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 name="图片 19">
            <a:extLst>
              <a:ext uri="{FF2B5EF4-FFF2-40B4-BE49-F238E27FC236}">
                <a16:creationId xmlns:a16="http://schemas.microsoft.com/office/drawing/2014/main" id="{EE1F55E2-84C6-4BF4-AF99-E25D28ADA4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5022" y="2643062"/>
            <a:ext cx="5402133" cy="405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3</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研究重点</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ADB2D941-1079-CCBD-D937-3DD70ABD6E63}"/>
              </a:ext>
            </a:extLst>
          </p:cNvPr>
          <p:cNvSpPr/>
          <p:nvPr/>
        </p:nvSpPr>
        <p:spPr>
          <a:xfrm>
            <a:off x="937461" y="1556442"/>
            <a:ext cx="10520459" cy="2279389"/>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0" name="文本框 9">
            <a:extLst>
              <a:ext uri="{FF2B5EF4-FFF2-40B4-BE49-F238E27FC236}">
                <a16:creationId xmlns:a16="http://schemas.microsoft.com/office/drawing/2014/main" id="{DDD1588B-51C2-4599-B499-20AD4313E8A3}"/>
              </a:ext>
            </a:extLst>
          </p:cNvPr>
          <p:cNvSpPr txBox="1"/>
          <p:nvPr/>
        </p:nvSpPr>
        <p:spPr>
          <a:xfrm>
            <a:off x="1365142" y="1705767"/>
            <a:ext cx="9461716" cy="1976760"/>
          </a:xfrm>
          <a:prstGeom prst="rect">
            <a:avLst/>
          </a:prstGeom>
          <a:noFill/>
        </p:spPr>
        <p:txBody>
          <a:bodyPr wrap="square" rtlCol="0">
            <a:spAutoFit/>
          </a:bodyPr>
          <a:lstStyle/>
          <a:p>
            <a:pPr>
              <a:lnSpc>
                <a:spcPct val="150000"/>
              </a:lnSpc>
            </a:pPr>
            <a:r>
              <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，进攻和防守的转换和平衡</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进攻：接近、爬升加速以增加弹能量，要正对敌机给弹制导</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防守：远离、降高、背对</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状态切换：接敌靠近、发射导弹、导弹制导、防守逃逸、再次进入</a:t>
            </a:r>
          </a:p>
        </p:txBody>
      </p:sp>
      <p:sp>
        <p:nvSpPr>
          <p:cNvPr id="36" name="圆角矩形 47">
            <a:extLst>
              <a:ext uri="{FF2B5EF4-FFF2-40B4-BE49-F238E27FC236}">
                <a16:creationId xmlns:a16="http://schemas.microsoft.com/office/drawing/2014/main" id="{348727DA-1CEE-48E9-B1DC-937502DF09C2}"/>
              </a:ext>
            </a:extLst>
          </p:cNvPr>
          <p:cNvSpPr/>
          <p:nvPr/>
        </p:nvSpPr>
        <p:spPr>
          <a:xfrm>
            <a:off x="940312" y="4463512"/>
            <a:ext cx="10517607" cy="1883044"/>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89091CC9-3EF3-4743-A7A1-8810E3783713}"/>
              </a:ext>
            </a:extLst>
          </p:cNvPr>
          <p:cNvSpPr txBox="1"/>
          <p:nvPr/>
        </p:nvSpPr>
        <p:spPr>
          <a:xfrm>
            <a:off x="1204576" y="4586078"/>
            <a:ext cx="9782848" cy="1514325"/>
          </a:xfrm>
          <a:prstGeom prst="rect">
            <a:avLst/>
          </a:prstGeom>
          <a:noFill/>
        </p:spPr>
        <p:txBody>
          <a:bodyPr wrap="square" rtlCol="0">
            <a:spAutoFit/>
          </a:bodyPr>
          <a:lstStyle/>
          <a:p>
            <a:pPr>
              <a:lnSpc>
                <a:spcPct val="150000"/>
              </a:lnSpc>
            </a:pP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重要依据：对方打弹时机</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敌方打弹后爬升易被击中</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如已知敌方打弹时机，导弹接下来轨迹可预测</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箭头: 下 13">
            <a:extLst>
              <a:ext uri="{FF2B5EF4-FFF2-40B4-BE49-F238E27FC236}">
                <a16:creationId xmlns:a16="http://schemas.microsoft.com/office/drawing/2014/main" id="{AE2359E6-3AF6-48ED-827A-2C5517892145}"/>
              </a:ext>
            </a:extLst>
          </p:cNvPr>
          <p:cNvSpPr/>
          <p:nvPr/>
        </p:nvSpPr>
        <p:spPr>
          <a:xfrm>
            <a:off x="5984588" y="3958397"/>
            <a:ext cx="426203" cy="400864"/>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pic>
        <p:nvPicPr>
          <p:cNvPr id="3" name="图片 2">
            <a:extLst>
              <a:ext uri="{FF2B5EF4-FFF2-40B4-BE49-F238E27FC236}">
                <a16:creationId xmlns:a16="http://schemas.microsoft.com/office/drawing/2014/main" id="{BE1274BC-D00F-4500-9571-69352AD2CD8B}"/>
              </a:ext>
            </a:extLst>
          </p:cNvPr>
          <p:cNvPicPr>
            <a:picLocks noChangeAspect="1"/>
          </p:cNvPicPr>
          <p:nvPr/>
        </p:nvPicPr>
        <p:blipFill rotWithShape="1">
          <a:blip r:embed="rId4"/>
          <a:srcRect l="28964" t="9368" r="22329" b="17503"/>
          <a:stretch/>
        </p:blipFill>
        <p:spPr>
          <a:xfrm>
            <a:off x="8551832" y="3786778"/>
            <a:ext cx="2823924" cy="2386940"/>
          </a:xfrm>
          <a:prstGeom prst="rect">
            <a:avLst/>
          </a:prstGeom>
        </p:spPr>
      </p:pic>
    </p:spTree>
    <p:extLst>
      <p:ext uri="{BB962C8B-B14F-4D97-AF65-F5344CB8AC3E}">
        <p14:creationId xmlns:p14="http://schemas.microsoft.com/office/powerpoint/2010/main" val="39659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4</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研究重点</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ADB2D941-1079-CCBD-D937-3DD70ABD6E63}"/>
              </a:ext>
            </a:extLst>
          </p:cNvPr>
          <p:cNvSpPr/>
          <p:nvPr/>
        </p:nvSpPr>
        <p:spPr>
          <a:xfrm>
            <a:off x="937461" y="1556442"/>
            <a:ext cx="10520459" cy="2279389"/>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0" name="文本框 9">
            <a:extLst>
              <a:ext uri="{FF2B5EF4-FFF2-40B4-BE49-F238E27FC236}">
                <a16:creationId xmlns:a16="http://schemas.microsoft.com/office/drawing/2014/main" id="{DDD1588B-51C2-4599-B499-20AD4313E8A3}"/>
              </a:ext>
            </a:extLst>
          </p:cNvPr>
          <p:cNvSpPr txBox="1"/>
          <p:nvPr/>
        </p:nvSpPr>
        <p:spPr>
          <a:xfrm>
            <a:off x="1365142" y="1705767"/>
            <a:ext cx="9461716" cy="1976760"/>
          </a:xfrm>
          <a:prstGeom prst="rect">
            <a:avLst/>
          </a:prstGeom>
          <a:noFill/>
        </p:spPr>
        <p:txBody>
          <a:bodyPr wrap="square" rtlCol="0">
            <a:spAutoFit/>
          </a:bodyPr>
          <a:lstStyle/>
          <a:p>
            <a:pPr>
              <a:lnSpc>
                <a:spcPct val="150000"/>
              </a:lnSpc>
            </a:pPr>
            <a:r>
              <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，进攻和防守的转换和平衡</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进攻：接近、爬升加速以增加弹能量，要正对敌机给弹制导</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防守：远离、降高、背对</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状态切换：接敌靠近、发射导弹、导弹制导、防守逃逸、再次进入</a:t>
            </a:r>
          </a:p>
        </p:txBody>
      </p:sp>
      <p:sp>
        <p:nvSpPr>
          <p:cNvPr id="36" name="圆角矩形 47">
            <a:extLst>
              <a:ext uri="{FF2B5EF4-FFF2-40B4-BE49-F238E27FC236}">
                <a16:creationId xmlns:a16="http://schemas.microsoft.com/office/drawing/2014/main" id="{348727DA-1CEE-48E9-B1DC-937502DF09C2}"/>
              </a:ext>
            </a:extLst>
          </p:cNvPr>
          <p:cNvSpPr/>
          <p:nvPr/>
        </p:nvSpPr>
        <p:spPr>
          <a:xfrm>
            <a:off x="940312" y="4463512"/>
            <a:ext cx="10517607" cy="1883044"/>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89091CC9-3EF3-4743-A7A1-8810E3783713}"/>
              </a:ext>
            </a:extLst>
          </p:cNvPr>
          <p:cNvSpPr txBox="1"/>
          <p:nvPr/>
        </p:nvSpPr>
        <p:spPr>
          <a:xfrm>
            <a:off x="1204576" y="4586078"/>
            <a:ext cx="9782848" cy="1514325"/>
          </a:xfrm>
          <a:prstGeom prst="rect">
            <a:avLst/>
          </a:prstGeom>
          <a:noFill/>
        </p:spPr>
        <p:txBody>
          <a:bodyPr wrap="square" rtlCol="0">
            <a:spAutoFit/>
          </a:bodyPr>
          <a:lstStyle/>
          <a:p>
            <a:pPr>
              <a:lnSpc>
                <a:spcPct val="150000"/>
              </a:lnSpc>
            </a:pP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重要依据：对方打弹时机</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敌方打弹后爬升易被击中</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如已知敌方打弹时机，导弹接下来轨迹可预测</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箭头: 下 13">
            <a:extLst>
              <a:ext uri="{FF2B5EF4-FFF2-40B4-BE49-F238E27FC236}">
                <a16:creationId xmlns:a16="http://schemas.microsoft.com/office/drawing/2014/main" id="{AE2359E6-3AF6-48ED-827A-2C5517892145}"/>
              </a:ext>
            </a:extLst>
          </p:cNvPr>
          <p:cNvSpPr/>
          <p:nvPr/>
        </p:nvSpPr>
        <p:spPr>
          <a:xfrm>
            <a:off x="5984588" y="3958397"/>
            <a:ext cx="426203" cy="400864"/>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pic>
        <p:nvPicPr>
          <p:cNvPr id="3" name="图片 2">
            <a:extLst>
              <a:ext uri="{FF2B5EF4-FFF2-40B4-BE49-F238E27FC236}">
                <a16:creationId xmlns:a16="http://schemas.microsoft.com/office/drawing/2014/main" id="{BE1274BC-D00F-4500-9571-69352AD2CD8B}"/>
              </a:ext>
            </a:extLst>
          </p:cNvPr>
          <p:cNvPicPr>
            <a:picLocks noChangeAspect="1"/>
          </p:cNvPicPr>
          <p:nvPr/>
        </p:nvPicPr>
        <p:blipFill rotWithShape="1">
          <a:blip r:embed="rId4"/>
          <a:srcRect l="28964" t="9368" r="22329" b="17503"/>
          <a:stretch/>
        </p:blipFill>
        <p:spPr>
          <a:xfrm>
            <a:off x="3926777" y="77435"/>
            <a:ext cx="7930291" cy="6703130"/>
          </a:xfrm>
          <a:prstGeom prst="rect">
            <a:avLst/>
          </a:prstGeom>
        </p:spPr>
      </p:pic>
    </p:spTree>
    <p:extLst>
      <p:ext uri="{BB962C8B-B14F-4D97-AF65-F5344CB8AC3E}">
        <p14:creationId xmlns:p14="http://schemas.microsoft.com/office/powerpoint/2010/main" val="246685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5</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研究重点</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ADB2D941-1079-CCBD-D937-3DD70ABD6E63}"/>
              </a:ext>
            </a:extLst>
          </p:cNvPr>
          <p:cNvSpPr/>
          <p:nvPr/>
        </p:nvSpPr>
        <p:spPr>
          <a:xfrm>
            <a:off x="937461" y="1556442"/>
            <a:ext cx="10520459" cy="2279389"/>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0" name="文本框 9">
            <a:extLst>
              <a:ext uri="{FF2B5EF4-FFF2-40B4-BE49-F238E27FC236}">
                <a16:creationId xmlns:a16="http://schemas.microsoft.com/office/drawing/2014/main" id="{DDD1588B-51C2-4599-B499-20AD4313E8A3}"/>
              </a:ext>
            </a:extLst>
          </p:cNvPr>
          <p:cNvSpPr txBox="1"/>
          <p:nvPr/>
        </p:nvSpPr>
        <p:spPr>
          <a:xfrm>
            <a:off x="1365142" y="1901393"/>
            <a:ext cx="9461716" cy="1515095"/>
          </a:xfrm>
          <a:prstGeom prst="rect">
            <a:avLst/>
          </a:prstGeom>
          <a:noFill/>
        </p:spPr>
        <p:txBody>
          <a:bodyPr wrap="square" rtlCol="0">
            <a:spAutoFit/>
          </a:bodyPr>
          <a:lstStyle/>
          <a:p>
            <a:pPr>
              <a:lnSpc>
                <a:spcPct val="150000"/>
              </a:lnSpc>
            </a:pPr>
            <a:r>
              <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，状态不全知</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敌方导弹</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发射时间</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、导弹位置都未知，甚至敌方导弹</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类型</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未知</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敌方状态需要</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雷达</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来探测、背对时就丢失数据</a:t>
            </a:r>
            <a:endParaRPr lang="zh-CN" altLang="en-US"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圆角矩形 47">
            <a:extLst>
              <a:ext uri="{FF2B5EF4-FFF2-40B4-BE49-F238E27FC236}">
                <a16:creationId xmlns:a16="http://schemas.microsoft.com/office/drawing/2014/main" id="{348727DA-1CEE-48E9-B1DC-937502DF09C2}"/>
              </a:ext>
            </a:extLst>
          </p:cNvPr>
          <p:cNvSpPr/>
          <p:nvPr/>
        </p:nvSpPr>
        <p:spPr>
          <a:xfrm>
            <a:off x="940312" y="4463512"/>
            <a:ext cx="10517607" cy="1883044"/>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89091CC9-3EF3-4743-A7A1-8810E3783713}"/>
              </a:ext>
            </a:extLst>
          </p:cNvPr>
          <p:cNvSpPr txBox="1"/>
          <p:nvPr/>
        </p:nvSpPr>
        <p:spPr>
          <a:xfrm>
            <a:off x="1365142" y="4647871"/>
            <a:ext cx="9398431" cy="1514325"/>
          </a:xfrm>
          <a:prstGeom prst="rect">
            <a:avLst/>
          </a:prstGeom>
          <a:noFill/>
        </p:spPr>
        <p:txBody>
          <a:bodyPr wrap="square" rtlCol="0">
            <a:spAutoFit/>
          </a:bodyPr>
          <a:lstStyle/>
          <a:p>
            <a:pPr>
              <a:lnSpc>
                <a:spcPct val="150000"/>
              </a:lnSpc>
            </a:pP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博弈重点：根据对方是否打弹、何时打弹，采取正确动作</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纳什均衡：较优轨迹</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对手动作识别</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箭头: 下 13">
            <a:extLst>
              <a:ext uri="{FF2B5EF4-FFF2-40B4-BE49-F238E27FC236}">
                <a16:creationId xmlns:a16="http://schemas.microsoft.com/office/drawing/2014/main" id="{AE2359E6-3AF6-48ED-827A-2C5517892145}"/>
              </a:ext>
            </a:extLst>
          </p:cNvPr>
          <p:cNvSpPr/>
          <p:nvPr/>
        </p:nvSpPr>
        <p:spPr>
          <a:xfrm>
            <a:off x="5984588" y="3958397"/>
            <a:ext cx="426203" cy="400864"/>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40655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经典轨迹</a:t>
            </a:r>
            <a:endParaRPr lang="en-US" altLang="zh-CN" sz="2400" b="1" dirty="0">
              <a:solidFill>
                <a:srgbClr val="203864"/>
              </a:solidFill>
              <a:latin typeface="微软雅黑" panose="020B0503020204020204" charset="-122"/>
              <a:ea typeface="微软雅黑" panose="020B0503020204020204" charset="-122"/>
            </a:endParaRPr>
          </a:p>
        </p:txBody>
      </p:sp>
      <p:pic>
        <p:nvPicPr>
          <p:cNvPr id="21" name="图片 20">
            <a:extLst>
              <a:ext uri="{FF2B5EF4-FFF2-40B4-BE49-F238E27FC236}">
                <a16:creationId xmlns:a16="http://schemas.microsoft.com/office/drawing/2014/main" id="{FD635AF5-2407-4605-8953-FC19050CBB6A}"/>
              </a:ext>
            </a:extLst>
          </p:cNvPr>
          <p:cNvPicPr>
            <a:picLocks noChangeAspect="1"/>
          </p:cNvPicPr>
          <p:nvPr/>
        </p:nvPicPr>
        <p:blipFill rotWithShape="1">
          <a:blip r:embed="rId4"/>
          <a:srcRect l="30810" t="11976" r="27523" b="11791"/>
          <a:stretch/>
        </p:blipFill>
        <p:spPr>
          <a:xfrm>
            <a:off x="909541" y="1630000"/>
            <a:ext cx="5075696" cy="5228000"/>
          </a:xfrm>
          <a:prstGeom prst="rect">
            <a:avLst/>
          </a:prstGeom>
        </p:spPr>
      </p:pic>
      <p:pic>
        <p:nvPicPr>
          <p:cNvPr id="5" name="图片 4">
            <a:extLst>
              <a:ext uri="{FF2B5EF4-FFF2-40B4-BE49-F238E27FC236}">
                <a16:creationId xmlns:a16="http://schemas.microsoft.com/office/drawing/2014/main" id="{DE244622-4C23-4206-AA46-58EF0921BD81}"/>
              </a:ext>
            </a:extLst>
          </p:cNvPr>
          <p:cNvPicPr>
            <a:picLocks noChangeAspect="1"/>
          </p:cNvPicPr>
          <p:nvPr/>
        </p:nvPicPr>
        <p:blipFill rotWithShape="1">
          <a:blip r:embed="rId5"/>
          <a:srcRect l="27438" t="11792" r="26795" b="14383"/>
          <a:stretch/>
        </p:blipFill>
        <p:spPr>
          <a:xfrm>
            <a:off x="6319648" y="1630941"/>
            <a:ext cx="5575172" cy="5062928"/>
          </a:xfrm>
          <a:prstGeom prst="rect">
            <a:avLst/>
          </a:prstGeom>
        </p:spPr>
      </p:pic>
    </p:spTree>
    <p:extLst>
      <p:ext uri="{BB962C8B-B14F-4D97-AF65-F5344CB8AC3E}">
        <p14:creationId xmlns:p14="http://schemas.microsoft.com/office/powerpoint/2010/main" val="2677296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经典轨迹</a:t>
            </a:r>
            <a:endParaRPr lang="en-US" altLang="zh-CN" sz="2400" b="1" dirty="0">
              <a:solidFill>
                <a:srgbClr val="203864"/>
              </a:solidFill>
              <a:latin typeface="微软雅黑" panose="020B0503020204020204" charset="-122"/>
              <a:ea typeface="微软雅黑" panose="020B0503020204020204" charset="-122"/>
            </a:endParaRPr>
          </a:p>
        </p:txBody>
      </p:sp>
      <p:pic>
        <p:nvPicPr>
          <p:cNvPr id="21" name="图片 20">
            <a:extLst>
              <a:ext uri="{FF2B5EF4-FFF2-40B4-BE49-F238E27FC236}">
                <a16:creationId xmlns:a16="http://schemas.microsoft.com/office/drawing/2014/main" id="{FD635AF5-2407-4605-8953-FC19050CBB6A}"/>
              </a:ext>
            </a:extLst>
          </p:cNvPr>
          <p:cNvPicPr>
            <a:picLocks noChangeAspect="1"/>
          </p:cNvPicPr>
          <p:nvPr/>
        </p:nvPicPr>
        <p:blipFill rotWithShape="1">
          <a:blip r:embed="rId4"/>
          <a:srcRect l="30810" t="11976" r="27523" b="11791"/>
          <a:stretch/>
        </p:blipFill>
        <p:spPr>
          <a:xfrm>
            <a:off x="909541" y="1630000"/>
            <a:ext cx="5075696" cy="5228000"/>
          </a:xfrm>
          <a:prstGeom prst="rect">
            <a:avLst/>
          </a:prstGeom>
        </p:spPr>
      </p:pic>
      <p:pic>
        <p:nvPicPr>
          <p:cNvPr id="7" name="图片 6">
            <a:extLst>
              <a:ext uri="{FF2B5EF4-FFF2-40B4-BE49-F238E27FC236}">
                <a16:creationId xmlns:a16="http://schemas.microsoft.com/office/drawing/2014/main" id="{63E96E8E-9CC3-49FF-A0F1-8713DB82BD3B}"/>
              </a:ext>
            </a:extLst>
          </p:cNvPr>
          <p:cNvPicPr>
            <a:picLocks noChangeAspect="1"/>
          </p:cNvPicPr>
          <p:nvPr/>
        </p:nvPicPr>
        <p:blipFill rotWithShape="1">
          <a:blip r:embed="rId5"/>
          <a:srcRect l="27948" t="11792" r="26794" b="15049"/>
          <a:stretch/>
        </p:blipFill>
        <p:spPr>
          <a:xfrm>
            <a:off x="6309549" y="1626121"/>
            <a:ext cx="5513171" cy="5017209"/>
          </a:xfrm>
          <a:prstGeom prst="rect">
            <a:avLst/>
          </a:prstGeom>
        </p:spPr>
      </p:pic>
    </p:spTree>
    <p:extLst>
      <p:ext uri="{BB962C8B-B14F-4D97-AF65-F5344CB8AC3E}">
        <p14:creationId xmlns:p14="http://schemas.microsoft.com/office/powerpoint/2010/main" val="1845341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1 </a:t>
            </a:r>
            <a:r>
              <a:rPr lang="zh-CN" altLang="en-US" sz="3600" b="1" dirty="0">
                <a:solidFill>
                  <a:srgbClr val="203864"/>
                </a:solidFill>
                <a:latin typeface="微软雅黑" panose="020B0503020204020204" charset="-122"/>
                <a:ea typeface="微软雅黑" panose="020B0503020204020204" charset="-122"/>
              </a:rPr>
              <a:t>研究背景与意义</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6</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4272481"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1.2 </a:t>
            </a:r>
            <a:r>
              <a:rPr lang="zh-CN" altLang="en-US" sz="2400" b="1" dirty="0">
                <a:solidFill>
                  <a:srgbClr val="203864"/>
                </a:solidFill>
                <a:latin typeface="微软雅黑" panose="020B0503020204020204" charset="-122"/>
                <a:ea typeface="微软雅黑" panose="020B0503020204020204" charset="-122"/>
              </a:rPr>
              <a:t>研究重点</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ADB2D941-1079-CCBD-D937-3DD70ABD6E63}"/>
              </a:ext>
            </a:extLst>
          </p:cNvPr>
          <p:cNvSpPr/>
          <p:nvPr/>
        </p:nvSpPr>
        <p:spPr>
          <a:xfrm>
            <a:off x="733270" y="1625732"/>
            <a:ext cx="10520459" cy="3054756"/>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0" name="文本框 9">
            <a:extLst>
              <a:ext uri="{FF2B5EF4-FFF2-40B4-BE49-F238E27FC236}">
                <a16:creationId xmlns:a16="http://schemas.microsoft.com/office/drawing/2014/main" id="{DDD1588B-51C2-4599-B499-20AD4313E8A3}"/>
              </a:ext>
            </a:extLst>
          </p:cNvPr>
          <p:cNvSpPr txBox="1"/>
          <p:nvPr/>
        </p:nvSpPr>
        <p:spPr>
          <a:xfrm>
            <a:off x="1262641" y="2094670"/>
            <a:ext cx="9461716" cy="1975990"/>
          </a:xfrm>
          <a:prstGeom prst="rect">
            <a:avLst/>
          </a:prstGeom>
          <a:noFill/>
        </p:spPr>
        <p:txBody>
          <a:bodyPr wrap="square" rtlCol="0">
            <a:spAutoFit/>
          </a:bodyPr>
          <a:lstStyle/>
          <a:p>
            <a:pPr>
              <a:lnSpc>
                <a:spcPct val="150000"/>
              </a:lnSpc>
            </a:pPr>
            <a:r>
              <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，压制和欺骗</a:t>
            </a:r>
            <a:endParaRPr lang="en-US" altLang="zh-CN" sz="24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通过自己的动作或打弹，逼迫对手提前攻击或逃逸</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做出打弹动作却不发射</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寻找打弹优势态势和时机</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41831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47">
            <a:extLst>
              <a:ext uri="{FF2B5EF4-FFF2-40B4-BE49-F238E27FC236}">
                <a16:creationId xmlns:a16="http://schemas.microsoft.com/office/drawing/2014/main" id="{898AB1F6-F971-8986-FE27-A767F49D66D4}"/>
              </a:ext>
            </a:extLst>
          </p:cNvPr>
          <p:cNvSpPr/>
          <p:nvPr/>
        </p:nvSpPr>
        <p:spPr>
          <a:xfrm>
            <a:off x="586903" y="1457647"/>
            <a:ext cx="6963617" cy="3389749"/>
          </a:xfrm>
          <a:prstGeom prst="rect">
            <a:avLst/>
          </a:prstGeom>
          <a:solidFill>
            <a:schemeClr val="bg1"/>
          </a:solidFill>
          <a:ln w="19050">
            <a:solidFill>
              <a:srgbClr val="203864"/>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solidFill>
                <a:srgbClr val="FF0000"/>
              </a:solidFill>
            </a:endParaRPr>
          </a:p>
        </p:txBody>
      </p:sp>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2 </a:t>
            </a:r>
            <a:r>
              <a:rPr lang="zh-CN" altLang="en-US" sz="3600" b="1" dirty="0">
                <a:solidFill>
                  <a:srgbClr val="203864"/>
                </a:solidFill>
                <a:latin typeface="微软雅黑" panose="020B0503020204020204" charset="-122"/>
                <a:ea typeface="微软雅黑" panose="020B0503020204020204" charset="-122"/>
              </a:rPr>
              <a:t>仿真平台</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7</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31" name="文本框 30">
            <a:extLst>
              <a:ext uri="{FF2B5EF4-FFF2-40B4-BE49-F238E27FC236}">
                <a16:creationId xmlns:a16="http://schemas.microsoft.com/office/drawing/2014/main" id="{566B4E11-9517-F570-7742-DC1A095AD81D}"/>
              </a:ext>
            </a:extLst>
          </p:cNvPr>
          <p:cNvSpPr txBox="1"/>
          <p:nvPr/>
        </p:nvSpPr>
        <p:spPr>
          <a:xfrm>
            <a:off x="592401" y="1585307"/>
            <a:ext cx="3289037" cy="458908"/>
          </a:xfrm>
          <a:prstGeom prst="rect">
            <a:avLst/>
          </a:prstGeom>
          <a:noFill/>
          <a:ln w="19050">
            <a:noFill/>
          </a:ln>
        </p:spPr>
        <p:txBody>
          <a:bodyPr wrap="square" rtlCol="0">
            <a:spAutoFit/>
          </a:bodyPr>
          <a:lstStyle/>
          <a:p>
            <a:pPr algn="just">
              <a:lnSpc>
                <a:spcPct val="150000"/>
              </a:lnSpc>
            </a:pPr>
            <a:r>
              <a:rPr lang="en-US" altLang="zh-CN" b="1" dirty="0">
                <a:ln w="9525">
                  <a:solidFill>
                    <a:schemeClr val="accent6">
                      <a:lumMod val="40000"/>
                      <a:lumOff val="60000"/>
                    </a:schemeClr>
                  </a:solidFill>
                </a:ln>
                <a:latin typeface="微软雅黑" panose="020B0503020204020204" pitchFamily="34" charset="-122"/>
                <a:ea typeface="微软雅黑" panose="020B0503020204020204" pitchFamily="34" charset="-122"/>
              </a:rPr>
              <a:t>LAG : Light Aircraft Game</a:t>
            </a:r>
            <a:endParaRPr lang="zh-CN" altLang="en-US" b="1" dirty="0">
              <a:ln w="9525">
                <a:solidFill>
                  <a:schemeClr val="accent6">
                    <a:lumMod val="40000"/>
                    <a:lumOff val="60000"/>
                  </a:schemeClr>
                </a:solidFill>
              </a:ln>
              <a:latin typeface="微软雅黑" panose="020B0503020204020204" pitchFamily="34" charset="-122"/>
              <a:ea typeface="微软雅黑" panose="020B0503020204020204" pitchFamily="34" charset="-122"/>
            </a:endParaRPr>
          </a:p>
        </p:txBody>
      </p:sp>
      <p:sp>
        <p:nvSpPr>
          <p:cNvPr id="42" name="圆角矩形 47">
            <a:extLst>
              <a:ext uri="{FF2B5EF4-FFF2-40B4-BE49-F238E27FC236}">
                <a16:creationId xmlns:a16="http://schemas.microsoft.com/office/drawing/2014/main" id="{ED37A084-9B30-4997-B2D7-56CFBD13E055}"/>
              </a:ext>
            </a:extLst>
          </p:cNvPr>
          <p:cNvSpPr/>
          <p:nvPr/>
        </p:nvSpPr>
        <p:spPr>
          <a:xfrm>
            <a:off x="586904" y="5272693"/>
            <a:ext cx="6963618" cy="841710"/>
          </a:xfrm>
          <a:prstGeom prst="roundRect">
            <a:avLst/>
          </a:prstGeom>
          <a:solidFill>
            <a:schemeClr val="accent1">
              <a:lumMod val="20000"/>
              <a:lumOff val="80000"/>
            </a:schemeClr>
          </a:solidFill>
          <a:ln w="19050">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3" name="文本框 42">
            <a:hlinkClick r:id="rId4"/>
            <a:extLst>
              <a:ext uri="{FF2B5EF4-FFF2-40B4-BE49-F238E27FC236}">
                <a16:creationId xmlns:a16="http://schemas.microsoft.com/office/drawing/2014/main" id="{C516EC18-7504-4D9D-AC11-53AD6033F1F2}"/>
              </a:ext>
            </a:extLst>
          </p:cNvPr>
          <p:cNvSpPr txBox="1"/>
          <p:nvPr/>
        </p:nvSpPr>
        <p:spPr>
          <a:xfrm>
            <a:off x="908503" y="5431938"/>
            <a:ext cx="6320419" cy="523220"/>
          </a:xfrm>
          <a:prstGeom prst="rect">
            <a:avLst/>
          </a:prstGeom>
          <a:noFill/>
        </p:spPr>
        <p:txBody>
          <a:bodyPr wrap="square" rtlCol="0">
            <a:spAutoFit/>
          </a:bodyPr>
          <a:lstStyle/>
          <a:p>
            <a:r>
              <a:rPr lang="en-US" altLang="zh-CN" sz="1400" b="1" dirty="0">
                <a:hlinkClick r:id="rId4"/>
              </a:rPr>
              <a:t>Light Aircraft Game: A lightweight, scalable, gym-wrapped aircraft competitive environment with baseline reinforcement learning algorithms</a:t>
            </a:r>
            <a:endParaRPr lang="en-US" altLang="zh-CN" sz="1400" b="1" dirty="0"/>
          </a:p>
        </p:txBody>
      </p:sp>
      <p:sp>
        <p:nvSpPr>
          <p:cNvPr id="44" name="圆角矩形 47">
            <a:extLst>
              <a:ext uri="{FF2B5EF4-FFF2-40B4-BE49-F238E27FC236}">
                <a16:creationId xmlns:a16="http://schemas.microsoft.com/office/drawing/2014/main" id="{5AEE280C-0F95-4A3B-91C1-2E19816BD637}"/>
              </a:ext>
            </a:extLst>
          </p:cNvPr>
          <p:cNvSpPr/>
          <p:nvPr/>
        </p:nvSpPr>
        <p:spPr>
          <a:xfrm>
            <a:off x="7817475" y="1494652"/>
            <a:ext cx="4077344" cy="4538659"/>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pic>
        <p:nvPicPr>
          <p:cNvPr id="1026" name="Picture 2" descr="framework.jpg">
            <a:extLst>
              <a:ext uri="{FF2B5EF4-FFF2-40B4-BE49-F238E27FC236}">
                <a16:creationId xmlns:a16="http://schemas.microsoft.com/office/drawing/2014/main" id="{C6DC39B1-80BD-4E51-BCE0-5810FE2E90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7049" y="1727282"/>
            <a:ext cx="3758197" cy="4073401"/>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2BCAD2E-7BC4-4BC4-9B68-0043ED82AF87}"/>
              </a:ext>
            </a:extLst>
          </p:cNvPr>
          <p:cNvSpPr txBox="1"/>
          <p:nvPr/>
        </p:nvSpPr>
        <p:spPr>
          <a:xfrm>
            <a:off x="909540" y="2182471"/>
            <a:ext cx="5186459" cy="2345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公开平台，基于</a:t>
            </a:r>
            <a:r>
              <a:rPr lang="en-US" altLang="zh-CN" sz="2000" b="1" dirty="0" err="1">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JSBSim</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F16</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飞机，</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AIM-9L</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导弹（平飞弹）</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多种任务：</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1v1</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2v2</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，单机控制</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RL</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算法基线：已训练的</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PPO</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智能体</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1" dirty="0" err="1">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Tacview</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可视化</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9241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8</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a:t>
            </a:r>
            <a:r>
              <a:rPr lang="zh-CN" altLang="en-US" sz="2400" b="1" dirty="0">
                <a:solidFill>
                  <a:srgbClr val="203864"/>
                </a:solidFill>
                <a:latin typeface="微软雅黑" panose="020B0503020204020204" charset="-122"/>
                <a:ea typeface="微软雅黑" panose="020B0503020204020204" charset="-122"/>
              </a:rPr>
              <a:t>分层强化学习 </a:t>
            </a:r>
            <a:r>
              <a:rPr lang="en-US" altLang="zh-CN" sz="2400" b="1" dirty="0">
                <a:solidFill>
                  <a:srgbClr val="203864"/>
                </a:solidFill>
                <a:latin typeface="微软雅黑" panose="020B0503020204020204" charset="-122"/>
                <a:ea typeface="微软雅黑" panose="020B0503020204020204" charset="-122"/>
              </a:rPr>
              <a:t>Hierarchical Reinforcement Learning</a:t>
            </a:r>
          </a:p>
        </p:txBody>
      </p:sp>
      <p:cxnSp>
        <p:nvCxnSpPr>
          <p:cNvPr id="54" name="直接连接符 53">
            <a:extLst>
              <a:ext uri="{FF2B5EF4-FFF2-40B4-BE49-F238E27FC236}">
                <a16:creationId xmlns:a16="http://schemas.microsoft.com/office/drawing/2014/main" id="{2F44A1E4-F91A-5272-01A0-CA5580B81129}"/>
              </a:ext>
            </a:extLst>
          </p:cNvPr>
          <p:cNvCxnSpPr>
            <a:cxnSpLocks/>
          </p:cNvCxnSpPr>
          <p:nvPr/>
        </p:nvCxnSpPr>
        <p:spPr>
          <a:xfrm>
            <a:off x="2048518" y="1652210"/>
            <a:ext cx="0" cy="3182569"/>
          </a:xfrm>
          <a:prstGeom prst="line">
            <a:avLst/>
          </a:prstGeom>
          <a:ln w="2540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8" name="圆角矩形 47">
            <a:extLst>
              <a:ext uri="{FF2B5EF4-FFF2-40B4-BE49-F238E27FC236}">
                <a16:creationId xmlns:a16="http://schemas.microsoft.com/office/drawing/2014/main" id="{898AB1F6-F971-8986-FE27-A767F49D66D4}"/>
              </a:ext>
            </a:extLst>
          </p:cNvPr>
          <p:cNvSpPr/>
          <p:nvPr/>
        </p:nvSpPr>
        <p:spPr>
          <a:xfrm>
            <a:off x="592401" y="5079274"/>
            <a:ext cx="11302419" cy="1554724"/>
          </a:xfrm>
          <a:prstGeom prst="roundRect">
            <a:avLst/>
          </a:prstGeom>
          <a:noFill/>
          <a:ln w="25400">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 name="文本框 3">
            <a:extLst>
              <a:ext uri="{FF2B5EF4-FFF2-40B4-BE49-F238E27FC236}">
                <a16:creationId xmlns:a16="http://schemas.microsoft.com/office/drawing/2014/main" id="{96666090-ADD2-416C-8039-06EEAA9322B3}"/>
              </a:ext>
            </a:extLst>
          </p:cNvPr>
          <p:cNvSpPr txBox="1"/>
          <p:nvPr/>
        </p:nvSpPr>
        <p:spPr>
          <a:xfrm>
            <a:off x="2215691" y="1766657"/>
            <a:ext cx="2646878" cy="338554"/>
          </a:xfrm>
          <a:prstGeom prst="rect">
            <a:avLst/>
          </a:prstGeom>
          <a:noFill/>
        </p:spPr>
        <p:txBody>
          <a:bodyPr wrap="non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终端</a:t>
            </a:r>
            <a:r>
              <a:rPr lang="zh-CN" altLang="en-US" sz="1600" dirty="0">
                <a:latin typeface="微软雅黑" panose="020B0503020204020204" pitchFamily="34" charset="-122"/>
                <a:ea typeface="微软雅黑" panose="020B0503020204020204" pitchFamily="34" charset="-122"/>
              </a:rPr>
              <a:t>奖励</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最终对局结果：</a:t>
            </a:r>
            <a:endParaRPr lang="en-US" altLang="zh-CN" sz="16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2ED11769-BC79-4650-AF55-60A26C1BF0A2}"/>
              </a:ext>
            </a:extLst>
          </p:cNvPr>
          <p:cNvSpPr txBox="1"/>
          <p:nvPr/>
        </p:nvSpPr>
        <p:spPr>
          <a:xfrm>
            <a:off x="7578734" y="1652210"/>
            <a:ext cx="2227054" cy="458908"/>
          </a:xfrm>
          <a:prstGeom prst="rect">
            <a:avLst/>
          </a:prstGeom>
          <a:noFill/>
        </p:spPr>
        <p:txBody>
          <a:bodyPr wrap="square" rtlCol="0">
            <a:spAutoFit/>
          </a:bodyPr>
          <a:lstStyle/>
          <a:p>
            <a:pPr algn="just">
              <a:lnSpc>
                <a:spcPct val="150000"/>
              </a:lnSpc>
            </a:pPr>
            <a:r>
              <a:rPr lang="zh-CN" altLang="en-US" b="1" dirty="0">
                <a:ln>
                  <a:solidFill>
                    <a:schemeClr val="accent6">
                      <a:lumMod val="40000"/>
                      <a:lumOff val="60000"/>
                    </a:schemeClr>
                  </a:solidFill>
                </a:ln>
                <a:latin typeface="微软雅黑" panose="020B0503020204020204" pitchFamily="34" charset="-122"/>
                <a:ea typeface="微软雅黑" panose="020B0503020204020204" pitchFamily="34" charset="-122"/>
              </a:rPr>
              <a:t>基于目标（</a:t>
            </a:r>
            <a:r>
              <a:rPr lang="en-US" altLang="zh-CN" b="1" dirty="0">
                <a:ln>
                  <a:solidFill>
                    <a:schemeClr val="accent6">
                      <a:lumMod val="40000"/>
                      <a:lumOff val="60000"/>
                    </a:schemeClr>
                  </a:solidFill>
                </a:ln>
                <a:latin typeface="微软雅黑" panose="020B0503020204020204" pitchFamily="34" charset="-122"/>
                <a:ea typeface="微软雅黑" panose="020B0503020204020204" pitchFamily="34" charset="-122"/>
              </a:rPr>
              <a:t>goal</a:t>
            </a:r>
            <a:r>
              <a:rPr lang="zh-CN" altLang="en-US" b="1" dirty="0">
                <a:ln>
                  <a:solidFill>
                    <a:schemeClr val="accent6">
                      <a:lumMod val="40000"/>
                      <a:lumOff val="60000"/>
                    </a:schemeClr>
                  </a:solidFill>
                </a:ln>
                <a:latin typeface="微软雅黑" panose="020B0503020204020204" pitchFamily="34" charset="-122"/>
                <a:ea typeface="微软雅黑" panose="020B0503020204020204" pitchFamily="34" charset="-122"/>
              </a:rPr>
              <a:t>）</a:t>
            </a:r>
            <a:endParaRPr lang="en-US" altLang="zh-CN" b="1" dirty="0">
              <a:ln>
                <a:solidFill>
                  <a:schemeClr val="accent6">
                    <a:lumMod val="40000"/>
                    <a:lumOff val="60000"/>
                  </a:schemeClr>
                </a:solidFill>
              </a:ln>
              <a:latin typeface="微软雅黑" panose="020B0503020204020204" pitchFamily="34" charset="-122"/>
              <a:ea typeface="微软雅黑" panose="020B0503020204020204" pitchFamily="34" charset="-122"/>
            </a:endParaRPr>
          </a:p>
        </p:txBody>
      </p:sp>
      <p:sp>
        <p:nvSpPr>
          <p:cNvPr id="29" name="圆角矩形 47">
            <a:extLst>
              <a:ext uri="{FF2B5EF4-FFF2-40B4-BE49-F238E27FC236}">
                <a16:creationId xmlns:a16="http://schemas.microsoft.com/office/drawing/2014/main" id="{02225F29-FA6B-4592-9080-3CA5C29CD02D}"/>
              </a:ext>
            </a:extLst>
          </p:cNvPr>
          <p:cNvSpPr/>
          <p:nvPr/>
        </p:nvSpPr>
        <p:spPr>
          <a:xfrm>
            <a:off x="585521" y="1577654"/>
            <a:ext cx="6333271" cy="3257125"/>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9" name="箭头: 燕尾形 8">
            <a:extLst>
              <a:ext uri="{FF2B5EF4-FFF2-40B4-BE49-F238E27FC236}">
                <a16:creationId xmlns:a16="http://schemas.microsoft.com/office/drawing/2014/main" id="{059468D9-0002-4C72-81D7-574468A4F0C7}"/>
              </a:ext>
            </a:extLst>
          </p:cNvPr>
          <p:cNvSpPr/>
          <p:nvPr/>
        </p:nvSpPr>
        <p:spPr>
          <a:xfrm>
            <a:off x="6980041" y="3021550"/>
            <a:ext cx="439750" cy="369332"/>
          </a:xfrm>
          <a:prstGeom prst="notchedRightArrow">
            <a:avLst/>
          </a:prstGeom>
          <a:noFill/>
          <a:ln w="19050">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6" name="圆角矩形 47">
            <a:extLst>
              <a:ext uri="{FF2B5EF4-FFF2-40B4-BE49-F238E27FC236}">
                <a16:creationId xmlns:a16="http://schemas.microsoft.com/office/drawing/2014/main" id="{5B34775A-5BCD-4E35-BF4C-FE32095D0933}"/>
              </a:ext>
            </a:extLst>
          </p:cNvPr>
          <p:cNvSpPr/>
          <p:nvPr/>
        </p:nvSpPr>
        <p:spPr>
          <a:xfrm>
            <a:off x="7467081" y="1577654"/>
            <a:ext cx="4427739" cy="3257125"/>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4" name="文本框 43">
            <a:extLst>
              <a:ext uri="{FF2B5EF4-FFF2-40B4-BE49-F238E27FC236}">
                <a16:creationId xmlns:a16="http://schemas.microsoft.com/office/drawing/2014/main" id="{D6231BD6-C634-48B7-919A-49A4DDB0EE2A}"/>
              </a:ext>
            </a:extLst>
          </p:cNvPr>
          <p:cNvSpPr txBox="1"/>
          <p:nvPr/>
        </p:nvSpPr>
        <p:spPr>
          <a:xfrm>
            <a:off x="1493408" y="5245141"/>
            <a:ext cx="4166814" cy="353943"/>
          </a:xfrm>
          <a:prstGeom prst="rect">
            <a:avLst/>
          </a:prstGeom>
          <a:noFill/>
        </p:spPr>
        <p:txBody>
          <a:bodyPr wrap="square" rtlCol="0">
            <a:spAutoFit/>
          </a:bodyPr>
          <a:lstStyle/>
          <a:p>
            <a:r>
              <a:rPr lang="zh-CN" altLang="en-US" sz="1700" dirty="0">
                <a:latin typeface="微软雅黑" panose="020B0503020204020204" pitchFamily="34" charset="-122"/>
                <a:ea typeface="微软雅黑" panose="020B0503020204020204" pitchFamily="34" charset="-122"/>
              </a:rPr>
              <a:t>动作空间大：飞机四维输入</a:t>
            </a:r>
            <a:r>
              <a:rPr lang="zh-CN" altLang="en-US" sz="1700" dirty="0">
                <a:latin typeface="微软雅黑" panose="020B0503020204020204" pitchFamily="34" charset="-122"/>
                <a:ea typeface="微软雅黑" panose="020B0503020204020204" pitchFamily="34" charset="-122"/>
                <a:sym typeface="Wingdings" panose="05000000000000000000" pitchFamily="2" charset="2"/>
              </a:rPr>
              <a:t>；飞行</a:t>
            </a:r>
            <a:r>
              <a:rPr lang="zh-CN" altLang="en-US" sz="17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控制</a:t>
            </a:r>
            <a:endParaRPr lang="en-US" altLang="zh-CN" sz="1700" strike="sngStrike"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45" name="文本框 44">
            <a:extLst>
              <a:ext uri="{FF2B5EF4-FFF2-40B4-BE49-F238E27FC236}">
                <a16:creationId xmlns:a16="http://schemas.microsoft.com/office/drawing/2014/main" id="{D16D3462-9836-4EFC-BDB5-90769327CB37}"/>
              </a:ext>
            </a:extLst>
          </p:cNvPr>
          <p:cNvSpPr txBox="1"/>
          <p:nvPr/>
        </p:nvSpPr>
        <p:spPr>
          <a:xfrm>
            <a:off x="7080435" y="5201412"/>
            <a:ext cx="3890809" cy="1222899"/>
          </a:xfrm>
          <a:prstGeom prst="rect">
            <a:avLst/>
          </a:prstGeom>
          <a:noFill/>
        </p:spPr>
        <p:txBody>
          <a:bodyPr wrap="none" rtlCol="0">
            <a:spAutoFit/>
          </a:bodyPr>
          <a:lstStyle/>
          <a:p>
            <a:pPr>
              <a:lnSpc>
                <a:spcPct val="150000"/>
              </a:lnSpc>
            </a:pPr>
            <a:r>
              <a:rPr lang="zh-CN" altLang="en-US" sz="1700" dirty="0">
                <a:latin typeface="微软雅黑" panose="020B0503020204020204" pitchFamily="34" charset="-122"/>
                <a:ea typeface="微软雅黑" panose="020B0503020204020204" pitchFamily="34" charset="-122"/>
              </a:rPr>
              <a:t>将动作在时序上抽象：</a:t>
            </a:r>
            <a:endParaRPr lang="en-US" altLang="zh-CN" sz="1700" dirty="0">
              <a:latin typeface="微软雅黑" panose="020B0503020204020204" pitchFamily="34" charset="-122"/>
              <a:ea typeface="微软雅黑" panose="020B0503020204020204" pitchFamily="34" charset="-122"/>
            </a:endParaRPr>
          </a:p>
          <a:p>
            <a:pPr>
              <a:lnSpc>
                <a:spcPct val="150000"/>
              </a:lnSpc>
            </a:pPr>
            <a:r>
              <a:rPr lang="zh-CN" altLang="en-US" sz="1700" dirty="0">
                <a:latin typeface="微软雅黑" panose="020B0503020204020204" pitchFamily="34" charset="-122"/>
                <a:ea typeface="微软雅黑" panose="020B0503020204020204" pitchFamily="34" charset="-122"/>
              </a:rPr>
              <a:t>基于专家知识，将底层动作组合为序列</a:t>
            </a:r>
            <a:endParaRPr lang="en-US" altLang="zh-CN" sz="1700" dirty="0">
              <a:latin typeface="微软雅黑" panose="020B0503020204020204" pitchFamily="34" charset="-122"/>
              <a:ea typeface="微软雅黑" panose="020B0503020204020204" pitchFamily="34" charset="-122"/>
            </a:endParaRPr>
          </a:p>
          <a:p>
            <a:pPr>
              <a:lnSpc>
                <a:spcPct val="150000"/>
              </a:lnSpc>
            </a:pPr>
            <a:r>
              <a:rPr lang="en-US" altLang="zh-CN" sz="1700" dirty="0">
                <a:latin typeface="微软雅黑" panose="020B0503020204020204" pitchFamily="34" charset="-122"/>
                <a:ea typeface="微软雅黑" panose="020B0503020204020204" pitchFamily="34" charset="-122"/>
                <a:sym typeface="Wingdings" panose="05000000000000000000" pitchFamily="2" charset="2"/>
              </a:rPr>
              <a:t>option</a:t>
            </a:r>
            <a:r>
              <a:rPr lang="zh-CN" altLang="en-US" sz="1700" dirty="0">
                <a:latin typeface="微软雅黑" panose="020B0503020204020204" pitchFamily="34" charset="-122"/>
                <a:ea typeface="微软雅黑" panose="020B0503020204020204" pitchFamily="34" charset="-122"/>
                <a:sym typeface="Wingdings" panose="05000000000000000000" pitchFamily="2" charset="2"/>
              </a:rPr>
              <a:t>选项</a:t>
            </a:r>
            <a:endParaRPr lang="en-US" altLang="zh-CN" sz="1700" dirty="0">
              <a:latin typeface="微软雅黑" panose="020B0503020204020204" pitchFamily="34" charset="-122"/>
              <a:ea typeface="微软雅黑" panose="020B0503020204020204" pitchFamily="34" charset="-122"/>
            </a:endParaRPr>
          </a:p>
        </p:txBody>
      </p:sp>
      <p:sp>
        <p:nvSpPr>
          <p:cNvPr id="50" name="箭头: 燕尾形 49">
            <a:extLst>
              <a:ext uri="{FF2B5EF4-FFF2-40B4-BE49-F238E27FC236}">
                <a16:creationId xmlns:a16="http://schemas.microsoft.com/office/drawing/2014/main" id="{F96A24FF-D77A-4B65-94F9-9EA2367646B4}"/>
              </a:ext>
            </a:extLst>
          </p:cNvPr>
          <p:cNvSpPr/>
          <p:nvPr/>
        </p:nvSpPr>
        <p:spPr>
          <a:xfrm>
            <a:off x="5820407" y="5549099"/>
            <a:ext cx="1034287" cy="527526"/>
          </a:xfrm>
          <a:prstGeom prst="notchedRightArrow">
            <a:avLst/>
          </a:prstGeom>
          <a:noFill/>
          <a:ln w="19050">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55" name="文本框 54">
            <a:extLst>
              <a:ext uri="{FF2B5EF4-FFF2-40B4-BE49-F238E27FC236}">
                <a16:creationId xmlns:a16="http://schemas.microsoft.com/office/drawing/2014/main" id="{99802432-89AB-4E8E-B31F-1A38177EC039}"/>
              </a:ext>
            </a:extLst>
          </p:cNvPr>
          <p:cNvSpPr txBox="1"/>
          <p:nvPr/>
        </p:nvSpPr>
        <p:spPr>
          <a:xfrm>
            <a:off x="2215691" y="3751430"/>
            <a:ext cx="3854253" cy="830997"/>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中间奖励难以设计：</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何时做何动作的优劣和敌机是否发射导弹的</a:t>
            </a:r>
            <a:r>
              <a:rPr lang="zh-CN" altLang="en-US" sz="1600" dirty="0">
                <a:solidFill>
                  <a:srgbClr val="FF0000"/>
                </a:solidFill>
                <a:latin typeface="微软雅黑" panose="020B0503020204020204" pitchFamily="34" charset="-122"/>
                <a:ea typeface="微软雅黑" panose="020B0503020204020204" pitchFamily="34" charset="-122"/>
              </a:rPr>
              <a:t>未知量</a:t>
            </a:r>
            <a:r>
              <a:rPr lang="zh-CN" altLang="en-US" sz="1600" dirty="0">
                <a:latin typeface="微软雅黑" panose="020B0503020204020204" pitchFamily="34" charset="-122"/>
                <a:ea typeface="微软雅黑" panose="020B0503020204020204" pitchFamily="34" charset="-122"/>
              </a:rPr>
              <a:t>有关</a:t>
            </a:r>
            <a:endParaRPr lang="zh-CN" altLang="en-US" sz="1600" dirty="0"/>
          </a:p>
        </p:txBody>
      </p:sp>
      <p:sp>
        <p:nvSpPr>
          <p:cNvPr id="3" name="文本框 2">
            <a:extLst>
              <a:ext uri="{FF2B5EF4-FFF2-40B4-BE49-F238E27FC236}">
                <a16:creationId xmlns:a16="http://schemas.microsoft.com/office/drawing/2014/main" id="{036645F5-D4FE-4834-A0CC-70C1B4DB8CC6}"/>
              </a:ext>
            </a:extLst>
          </p:cNvPr>
          <p:cNvSpPr txBox="1"/>
          <p:nvPr/>
        </p:nvSpPr>
        <p:spPr>
          <a:xfrm>
            <a:off x="773350" y="3021550"/>
            <a:ext cx="1107996" cy="369332"/>
          </a:xfrm>
          <a:prstGeom prst="rect">
            <a:avLst/>
          </a:prstGeom>
          <a:noFill/>
        </p:spPr>
        <p:txBody>
          <a:bodyPr wrap="none" rtlCol="0">
            <a:spAutoFit/>
          </a:bodyPr>
          <a:lstStyle/>
          <a:p>
            <a:r>
              <a:rPr lang="zh-CN" altLang="en-US" dirty="0"/>
              <a:t>奖励稀疏</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A1C1A55-6C35-42CE-A4B4-7A77553EBF29}"/>
                  </a:ext>
                </a:extLst>
              </p:cNvPr>
              <p:cNvSpPr txBox="1"/>
              <p:nvPr/>
            </p:nvSpPr>
            <p:spPr>
              <a:xfrm>
                <a:off x="2429635" y="2343125"/>
                <a:ext cx="2469201" cy="10858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5,</m:t>
                              </m:r>
                              <m:r>
                                <a:rPr lang="en-US" altLang="zh-CN" b="0" i="1" smtClean="0">
                                  <a:latin typeface="Cambria Math" panose="02040503050406030204" pitchFamily="18" charset="0"/>
                                </a:rPr>
                                <m:t>𝑤𝑖𝑛</m:t>
                              </m:r>
                            </m:e>
                            <m:e>
                              <m:r>
                                <a:rPr lang="en-US" altLang="zh-CN" b="0" i="1" smtClean="0">
                                  <a:latin typeface="Cambria Math" panose="02040503050406030204" pitchFamily="18" charset="0"/>
                                </a:rPr>
                                <m:t>2.5,</m:t>
                              </m:r>
                              <m:r>
                                <a:rPr lang="en-US" altLang="zh-CN" b="0" i="1" smtClean="0">
                                  <a:latin typeface="Cambria Math" panose="02040503050406030204" pitchFamily="18" charset="0"/>
                                </a:rPr>
                                <m:t>𝑏𝑜𝑡h</m:t>
                              </m:r>
                              <m:r>
                                <a:rPr lang="en-US" altLang="zh-CN" b="0" i="1" smtClean="0">
                                  <a:latin typeface="Cambria Math" panose="02040503050406030204" pitchFamily="18" charset="0"/>
                                </a:rPr>
                                <m:t> </m:t>
                              </m:r>
                              <m:r>
                                <a:rPr lang="en-US" altLang="zh-CN" b="0" i="1" smtClean="0">
                                  <a:latin typeface="Cambria Math" panose="02040503050406030204" pitchFamily="18" charset="0"/>
                                </a:rPr>
                                <m:t>𝑙𝑖𝑣𝑒</m:t>
                              </m:r>
                            </m:e>
                            <m:e>
                              <m:r>
                                <a:rPr lang="en-US" altLang="zh-CN" b="0" i="1" smtClean="0">
                                  <a:latin typeface="Cambria Math" panose="02040503050406030204" pitchFamily="18" charset="0"/>
                                </a:rPr>
                                <m:t>1,</m:t>
                              </m:r>
                              <m:r>
                                <a:rPr lang="en-US" altLang="zh-CN" b="0" i="1" smtClean="0">
                                  <a:latin typeface="Cambria Math" panose="02040503050406030204" pitchFamily="18" charset="0"/>
                                </a:rPr>
                                <m:t>𝑏𝑜𝑡h</m:t>
                              </m:r>
                              <m:r>
                                <a:rPr lang="en-US" altLang="zh-CN" b="0" i="1" smtClean="0">
                                  <a:latin typeface="Cambria Math" panose="02040503050406030204" pitchFamily="18" charset="0"/>
                                </a:rPr>
                                <m:t> </m:t>
                              </m:r>
                              <m:r>
                                <a:rPr lang="en-US" altLang="zh-CN" b="0" i="1" smtClean="0">
                                  <a:latin typeface="Cambria Math" panose="02040503050406030204" pitchFamily="18" charset="0"/>
                                </a:rPr>
                                <m:t>𝑑𝑖𝑒</m:t>
                              </m:r>
                            </m:e>
                            <m:e>
                              <m:r>
                                <a:rPr lang="en-US" altLang="zh-CN" b="0" i="1" smtClean="0">
                                  <a:latin typeface="Cambria Math" panose="02040503050406030204" pitchFamily="18" charset="0"/>
                                </a:rPr>
                                <m:t>0,</m:t>
                              </m:r>
                              <m:r>
                                <a:rPr lang="en-US" altLang="zh-CN" b="0" i="1" smtClean="0">
                                  <a:latin typeface="Cambria Math" panose="02040503050406030204" pitchFamily="18" charset="0"/>
                                </a:rPr>
                                <m:t>𝑙𝑜𝑠𝑒</m:t>
                              </m:r>
                            </m:e>
                          </m:eqArr>
                        </m:e>
                      </m:d>
                    </m:oMath>
                  </m:oMathPara>
                </a14:m>
                <a:endParaRPr lang="zh-CN" altLang="en-US" dirty="0"/>
              </a:p>
            </p:txBody>
          </p:sp>
        </mc:Choice>
        <mc:Fallback xmlns="">
          <p:sp>
            <p:nvSpPr>
              <p:cNvPr id="10" name="文本框 9">
                <a:extLst>
                  <a:ext uri="{FF2B5EF4-FFF2-40B4-BE49-F238E27FC236}">
                    <a16:creationId xmlns:a16="http://schemas.microsoft.com/office/drawing/2014/main" id="{1A1C1A55-6C35-42CE-A4B4-7A77553EBF29}"/>
                  </a:ext>
                </a:extLst>
              </p:cNvPr>
              <p:cNvSpPr txBox="1">
                <a:spLocks noRot="1" noChangeAspect="1" noMove="1" noResize="1" noEditPoints="1" noAdjustHandles="1" noChangeArrowheads="1" noChangeShapeType="1" noTextEdit="1"/>
              </p:cNvSpPr>
              <p:nvPr/>
            </p:nvSpPr>
            <p:spPr>
              <a:xfrm>
                <a:off x="2429635" y="2343125"/>
                <a:ext cx="2469201" cy="1085875"/>
              </a:xfrm>
              <a:prstGeom prst="rect">
                <a:avLst/>
              </a:prstGeom>
              <a:blipFill>
                <a:blip r:embed="rId6"/>
                <a:stretch>
                  <a:fillRect/>
                </a:stretch>
              </a:blipFill>
            </p:spPr>
            <p:txBody>
              <a:bodyPr/>
              <a:lstStyle/>
              <a:p>
                <a:r>
                  <a:rPr lang="zh-CN" altLang="en-US">
                    <a:noFill/>
                  </a:rPr>
                  <a:t> </a:t>
                </a:r>
              </a:p>
            </p:txBody>
          </p:sp>
        </mc:Fallback>
      </mc:AlternateContent>
      <p:sp>
        <p:nvSpPr>
          <p:cNvPr id="33" name="文本框 32">
            <a:extLst>
              <a:ext uri="{FF2B5EF4-FFF2-40B4-BE49-F238E27FC236}">
                <a16:creationId xmlns:a16="http://schemas.microsoft.com/office/drawing/2014/main" id="{57E404BE-72CD-4596-B36E-EE9253450FA9}"/>
              </a:ext>
            </a:extLst>
          </p:cNvPr>
          <p:cNvSpPr txBox="1"/>
          <p:nvPr/>
        </p:nvSpPr>
        <p:spPr>
          <a:xfrm>
            <a:off x="7578734" y="3034226"/>
            <a:ext cx="4027745" cy="458908"/>
          </a:xfrm>
          <a:prstGeom prst="rect">
            <a:avLst/>
          </a:prstGeom>
          <a:noFill/>
        </p:spPr>
        <p:txBody>
          <a:bodyPr wrap="square" rtlCol="0">
            <a:spAutoFit/>
          </a:bodyPr>
          <a:lstStyle/>
          <a:p>
            <a:pPr algn="just">
              <a:lnSpc>
                <a:spcPct val="150000"/>
              </a:lnSpc>
            </a:pPr>
            <a:r>
              <a:rPr lang="zh-CN" altLang="en-US" b="1" dirty="0">
                <a:ln>
                  <a:solidFill>
                    <a:schemeClr val="accent6">
                      <a:lumMod val="40000"/>
                      <a:lumOff val="60000"/>
                    </a:schemeClr>
                  </a:solidFill>
                </a:ln>
                <a:latin typeface="微软雅黑" panose="020B0503020204020204" pitchFamily="34" charset="-122"/>
                <a:ea typeface="微软雅黑" panose="020B0503020204020204" pitchFamily="34" charset="-122"/>
              </a:rPr>
              <a:t>多级控制（</a:t>
            </a:r>
            <a:r>
              <a:rPr lang="en-US" altLang="zh-CN" b="1" dirty="0">
                <a:ln>
                  <a:solidFill>
                    <a:schemeClr val="accent6">
                      <a:lumMod val="40000"/>
                      <a:lumOff val="60000"/>
                    </a:schemeClr>
                  </a:solidFill>
                </a:ln>
                <a:latin typeface="微软雅黑" panose="020B0503020204020204" pitchFamily="34" charset="-122"/>
                <a:ea typeface="微软雅黑" panose="020B0503020204020204" pitchFamily="34" charset="-122"/>
              </a:rPr>
              <a:t>multi-level control</a:t>
            </a:r>
            <a:r>
              <a:rPr lang="zh-CN" altLang="en-US" b="1" dirty="0">
                <a:ln>
                  <a:solidFill>
                    <a:schemeClr val="accent6">
                      <a:lumMod val="40000"/>
                      <a:lumOff val="60000"/>
                    </a:schemeClr>
                  </a:solidFill>
                </a:ln>
                <a:latin typeface="微软雅黑" panose="020B0503020204020204" pitchFamily="34" charset="-122"/>
                <a:ea typeface="微软雅黑" panose="020B0503020204020204" pitchFamily="34" charset="-122"/>
              </a:rPr>
              <a:t>）</a:t>
            </a:r>
            <a:endParaRPr lang="en-US" altLang="zh-CN" b="1" dirty="0">
              <a:ln>
                <a:solidFill>
                  <a:schemeClr val="accent6">
                    <a:lumMod val="40000"/>
                    <a:lumOff val="60000"/>
                  </a:schemeClr>
                </a:solidFill>
              </a:ln>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EF46340B-643E-4BF8-BABE-3B30B1FC0656}"/>
              </a:ext>
            </a:extLst>
          </p:cNvPr>
          <p:cNvSpPr txBox="1"/>
          <p:nvPr/>
        </p:nvSpPr>
        <p:spPr>
          <a:xfrm>
            <a:off x="7792100" y="2260054"/>
            <a:ext cx="3262432" cy="584775"/>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HIRO</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HER</a:t>
            </a:r>
          </a:p>
          <a:p>
            <a:r>
              <a:rPr lang="zh-CN" altLang="en-US" sz="1600" dirty="0">
                <a:latin typeface="微软雅黑" panose="020B0503020204020204" pitchFamily="34" charset="-122"/>
                <a:ea typeface="微软雅黑" panose="020B0503020204020204" pitchFamily="34" charset="-122"/>
              </a:rPr>
              <a:t>上层产生目标，下层努力完成目标</a:t>
            </a:r>
            <a:endParaRPr lang="en-US" altLang="zh-CN" sz="16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458AFB75-5A9D-46D0-B442-6C05E9EF91B5}"/>
              </a:ext>
            </a:extLst>
          </p:cNvPr>
          <p:cNvSpPr txBox="1"/>
          <p:nvPr/>
        </p:nvSpPr>
        <p:spPr>
          <a:xfrm>
            <a:off x="7792100" y="3628771"/>
            <a:ext cx="4027064" cy="584775"/>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Option</a:t>
            </a:r>
          </a:p>
          <a:p>
            <a:r>
              <a:rPr lang="zh-CN" altLang="en-US" sz="1600" dirty="0">
                <a:latin typeface="微软雅黑" panose="020B0503020204020204" pitchFamily="34" charset="-122"/>
                <a:ea typeface="微软雅黑" panose="020B0503020204020204" pitchFamily="34" charset="-122"/>
              </a:rPr>
              <a:t>上层选择一种策略，下层去执行这种策略</a:t>
            </a:r>
            <a:endParaRPr lang="en-US" altLang="zh-CN" sz="1600" dirty="0">
              <a:latin typeface="微软雅黑" panose="020B0503020204020204" pitchFamily="34" charset="-122"/>
              <a:ea typeface="微软雅黑" panose="020B0503020204020204" pitchFamily="34" charset="-122"/>
            </a:endParaRPr>
          </a:p>
        </p:txBody>
      </p:sp>
      <p:sp>
        <p:nvSpPr>
          <p:cNvPr id="2" name="左大括号 1">
            <a:extLst>
              <a:ext uri="{FF2B5EF4-FFF2-40B4-BE49-F238E27FC236}">
                <a16:creationId xmlns:a16="http://schemas.microsoft.com/office/drawing/2014/main" id="{381BDFCD-457F-45A3-AE13-D9FF6E6E58E8}"/>
              </a:ext>
            </a:extLst>
          </p:cNvPr>
          <p:cNvSpPr/>
          <p:nvPr/>
        </p:nvSpPr>
        <p:spPr>
          <a:xfrm>
            <a:off x="1289069" y="5235680"/>
            <a:ext cx="272939" cy="1209354"/>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0F809E34-076B-4B06-A5B9-EAF5854F8146}"/>
              </a:ext>
            </a:extLst>
          </p:cNvPr>
          <p:cNvSpPr txBox="1"/>
          <p:nvPr/>
        </p:nvSpPr>
        <p:spPr>
          <a:xfrm>
            <a:off x="1493408" y="5666607"/>
            <a:ext cx="4166814" cy="353943"/>
          </a:xfrm>
          <a:prstGeom prst="rect">
            <a:avLst/>
          </a:prstGeom>
          <a:noFill/>
        </p:spPr>
        <p:txBody>
          <a:bodyPr wrap="square" rtlCol="0">
            <a:spAutoFit/>
          </a:bodyPr>
          <a:lstStyle/>
          <a:p>
            <a:r>
              <a:rPr lang="zh-CN" altLang="en-US" sz="1700" dirty="0">
                <a:latin typeface="微软雅黑" panose="020B0503020204020204" pitchFamily="34" charset="-122"/>
                <a:ea typeface="微软雅黑" panose="020B0503020204020204" pitchFamily="34" charset="-122"/>
              </a:rPr>
              <a:t>有战术动作专家知识：空战主要战术动作</a:t>
            </a:r>
            <a:endParaRPr lang="en-US" altLang="zh-CN" sz="1700" strike="sngStrike"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31" name="文本框 30">
            <a:extLst>
              <a:ext uri="{FF2B5EF4-FFF2-40B4-BE49-F238E27FC236}">
                <a16:creationId xmlns:a16="http://schemas.microsoft.com/office/drawing/2014/main" id="{3E7469E7-C092-444D-9794-B7BE237B652A}"/>
              </a:ext>
            </a:extLst>
          </p:cNvPr>
          <p:cNvSpPr txBox="1"/>
          <p:nvPr/>
        </p:nvSpPr>
        <p:spPr>
          <a:xfrm>
            <a:off x="1493408" y="6094250"/>
            <a:ext cx="4166814" cy="353943"/>
          </a:xfrm>
          <a:prstGeom prst="rect">
            <a:avLst/>
          </a:prstGeom>
          <a:noFill/>
        </p:spPr>
        <p:txBody>
          <a:bodyPr wrap="square" rtlCol="0">
            <a:spAutoFit/>
          </a:bodyPr>
          <a:lstStyle/>
          <a:p>
            <a:r>
              <a:rPr lang="zh-CN" altLang="en-US" sz="1700" dirty="0">
                <a:latin typeface="微软雅黑" panose="020B0503020204020204" pitchFamily="34" charset="-122"/>
                <a:ea typeface="微软雅黑" panose="020B0503020204020204" pitchFamily="34" charset="-122"/>
              </a:rPr>
              <a:t>战术动作有一定时间属性：盘旋、中制导</a:t>
            </a:r>
            <a:endParaRPr lang="en-US" altLang="zh-CN" sz="1700" strike="sngStrike" dirty="0">
              <a:latin typeface="微软雅黑" panose="020B0503020204020204" pitchFamily="34" charset="-122"/>
              <a:ea typeface="微软雅黑" panose="020B0503020204020204" pitchFamily="34" charset="-122"/>
              <a:sym typeface="Wingdings" panose="05000000000000000000" pitchFamily="2" charset="2"/>
            </a:endParaRPr>
          </a:p>
        </p:txBody>
      </p:sp>
    </p:spTree>
    <p:extLst>
      <p:ext uri="{BB962C8B-B14F-4D97-AF65-F5344CB8AC3E}">
        <p14:creationId xmlns:p14="http://schemas.microsoft.com/office/powerpoint/2010/main" val="223471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894820" y="6489700"/>
            <a:ext cx="30008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9</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9" name="圆角矩形 47">
            <a:extLst>
              <a:ext uri="{FF2B5EF4-FFF2-40B4-BE49-F238E27FC236}">
                <a16:creationId xmlns:a16="http://schemas.microsoft.com/office/drawing/2014/main" id="{02225F29-FA6B-4592-9080-3CA5C29CD02D}"/>
              </a:ext>
            </a:extLst>
          </p:cNvPr>
          <p:cNvSpPr/>
          <p:nvPr/>
        </p:nvSpPr>
        <p:spPr>
          <a:xfrm>
            <a:off x="585521" y="1577654"/>
            <a:ext cx="5419863" cy="3257125"/>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0" name="文本框 39">
            <a:extLst>
              <a:ext uri="{FF2B5EF4-FFF2-40B4-BE49-F238E27FC236}">
                <a16:creationId xmlns:a16="http://schemas.microsoft.com/office/drawing/2014/main" id="{9EA6A0A5-2305-4137-A993-075FC16A2707}"/>
              </a:ext>
            </a:extLst>
          </p:cNvPr>
          <p:cNvSpPr txBox="1"/>
          <p:nvPr/>
        </p:nvSpPr>
        <p:spPr>
          <a:xfrm>
            <a:off x="905573" y="1946048"/>
            <a:ext cx="5176811" cy="2196242"/>
          </a:xfrm>
          <a:prstGeom prst="rect">
            <a:avLst/>
          </a:prstGeom>
          <a:noFill/>
        </p:spPr>
        <p:txBody>
          <a:bodyPr wrap="square">
            <a:spAutoFit/>
          </a:bodyPr>
          <a:lstStyle/>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由</a:t>
            </a:r>
            <a:r>
              <a:rPr lang="en-US" altLang="zh-CN" sz="2400" b="1" dirty="0">
                <a:solidFill>
                  <a:srgbClr val="FF0000"/>
                </a:solidFill>
                <a:latin typeface="Arial" panose="020B0604020202020204" pitchFamily="34" charset="0"/>
                <a:ea typeface="微软雅黑" panose="020B0503020204020204" pitchFamily="34" charset="-122"/>
              </a:rPr>
              <a:t>Actor-Critic</a:t>
            </a:r>
            <a:r>
              <a:rPr lang="zh-CN" altLang="en-US" sz="2400" b="1" dirty="0">
                <a:solidFill>
                  <a:schemeClr val="accent1">
                    <a:lumMod val="50000"/>
                  </a:schemeClr>
                </a:solidFill>
                <a:latin typeface="Arial" panose="020B0604020202020204" pitchFamily="34" charset="0"/>
                <a:ea typeface="微软雅黑" panose="020B0503020204020204" pitchFamily="34" charset="-122"/>
              </a:rPr>
              <a:t>算法发展而来</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动作用</a:t>
            </a:r>
            <a:r>
              <a:rPr lang="en-US" altLang="zh-CN" sz="2400" b="1" dirty="0">
                <a:solidFill>
                  <a:srgbClr val="FF0000"/>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代替</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lnSpc>
                <a:spcPct val="200000"/>
              </a:lnSpc>
              <a:buFont typeface="Arial" panose="020B0604020202020204" pitchFamily="34" charset="0"/>
              <a:buChar char="•"/>
            </a:pPr>
            <a:r>
              <a:rPr lang="en-US" altLang="zh-CN" sz="2400" b="1" dirty="0">
                <a:solidFill>
                  <a:srgbClr val="FF0000"/>
                </a:solidFill>
                <a:latin typeface="Arial" panose="020B0604020202020204" pitchFamily="34" charset="0"/>
                <a:ea typeface="微软雅黑" panose="020B0503020204020204" pitchFamily="34" charset="-122"/>
              </a:rPr>
              <a:t>Option</a:t>
            </a:r>
            <a:r>
              <a:rPr lang="en-US" altLang="zh-CN" sz="2400" b="1" dirty="0">
                <a:solidFill>
                  <a:schemeClr val="accent1">
                    <a:lumMod val="50000"/>
                  </a:schemeClr>
                </a:solidFill>
                <a:latin typeface="Arial" panose="020B0604020202020204" pitchFamily="34" charset="0"/>
                <a:ea typeface="微软雅黑" panose="020B0503020204020204" pitchFamily="34" charset="-122"/>
              </a:rPr>
              <a:t>: </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在时间上延续的动作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41" name="文本框 40">
            <a:extLst>
              <a:ext uri="{FF2B5EF4-FFF2-40B4-BE49-F238E27FC236}">
                <a16:creationId xmlns:a16="http://schemas.microsoft.com/office/drawing/2014/main" id="{2957FEC3-170F-4054-9905-54A84C8A6DE3}"/>
              </a:ext>
            </a:extLst>
          </p:cNvPr>
          <p:cNvSpPr txBox="1"/>
          <p:nvPr/>
        </p:nvSpPr>
        <p:spPr>
          <a:xfrm>
            <a:off x="7372947" y="1704791"/>
            <a:ext cx="4217460" cy="461665"/>
          </a:xfrm>
          <a:prstGeom prst="rect">
            <a:avLst/>
          </a:prstGeom>
          <a:noFill/>
        </p:spPr>
        <p:txBody>
          <a:bodyPr wrap="square">
            <a:spAutoFit/>
          </a:bodyPr>
          <a:lstStyle/>
          <a:p>
            <a:pPr algn="ctr"/>
            <a:r>
              <a:rPr lang="zh-CN" altLang="en-US" sz="2400" b="1" dirty="0">
                <a:solidFill>
                  <a:srgbClr val="C00000"/>
                </a:solidFill>
                <a:latin typeface="Arial" panose="020B0604020202020204" pitchFamily="34" charset="0"/>
                <a:ea typeface="微软雅黑" panose="020B0503020204020204" pitchFamily="34" charset="-122"/>
              </a:rPr>
              <a:t>动作分层</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42" name="文本框 41">
            <a:extLst>
              <a:ext uri="{FF2B5EF4-FFF2-40B4-BE49-F238E27FC236}">
                <a16:creationId xmlns:a16="http://schemas.microsoft.com/office/drawing/2014/main" id="{6FA26671-DAD8-475E-B5B3-1F2C001BB246}"/>
              </a:ext>
            </a:extLst>
          </p:cNvPr>
          <p:cNvSpPr txBox="1"/>
          <p:nvPr/>
        </p:nvSpPr>
        <p:spPr>
          <a:xfrm>
            <a:off x="6953458" y="2307072"/>
            <a:ext cx="5056437" cy="168841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r>
              <a:rPr lang="zh-CN" altLang="en-US" sz="2400" b="1" dirty="0">
                <a:solidFill>
                  <a:srgbClr val="FF0000"/>
                </a:solidFill>
                <a:latin typeface="Arial" panose="020B0604020202020204" pitchFamily="34" charset="0"/>
                <a:ea typeface="微软雅黑" panose="020B0503020204020204" pitchFamily="34" charset="-122"/>
              </a:rPr>
              <a:t>上层</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动作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a:lnSpc>
                <a:spcPct val="150000"/>
              </a:lnSpc>
            </a:pPr>
            <a:r>
              <a:rPr lang="en-US" altLang="zh-CN" sz="2400" b="1" dirty="0">
                <a:solidFill>
                  <a:schemeClr val="accent1">
                    <a:lumMod val="50000"/>
                  </a:schemeClr>
                </a:solidFill>
                <a:latin typeface="Arial" panose="020B0604020202020204" pitchFamily="34" charset="0"/>
                <a:ea typeface="微软雅黑" panose="020B0503020204020204" pitchFamily="34" charset="-122"/>
              </a:rPr>
              <a:t>       </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一系列风格类似的实际动作连续执行，比如：飞行器的机动战术</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43" name="文本框 42">
            <a:extLst>
              <a:ext uri="{FF2B5EF4-FFF2-40B4-BE49-F238E27FC236}">
                <a16:creationId xmlns:a16="http://schemas.microsoft.com/office/drawing/2014/main" id="{7D139C9F-3B6B-4005-B42B-E3D65F722647}"/>
              </a:ext>
            </a:extLst>
          </p:cNvPr>
          <p:cNvSpPr txBox="1"/>
          <p:nvPr/>
        </p:nvSpPr>
        <p:spPr>
          <a:xfrm>
            <a:off x="6953460" y="4183167"/>
            <a:ext cx="4847243" cy="168841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2400" b="1" dirty="0">
                <a:solidFill>
                  <a:schemeClr val="accent1">
                    <a:lumMod val="50000"/>
                  </a:schemeClr>
                </a:solidFill>
                <a:latin typeface="Arial" panose="020B0604020202020204" pitchFamily="34" charset="0"/>
                <a:ea typeface="微软雅黑" panose="020B0503020204020204" pitchFamily="34" charset="-122"/>
              </a:rPr>
              <a:t>action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r>
              <a:rPr lang="zh-CN" altLang="en-US" sz="2400" b="1" dirty="0">
                <a:solidFill>
                  <a:srgbClr val="FF0000"/>
                </a:solidFill>
                <a:latin typeface="Arial" panose="020B0604020202020204" pitchFamily="34" charset="0"/>
                <a:ea typeface="微软雅黑" panose="020B0503020204020204" pitchFamily="34" charset="-122"/>
              </a:rPr>
              <a:t>下层</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动作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a:lnSpc>
                <a:spcPct val="150000"/>
              </a:lnSpc>
            </a:pPr>
            <a:r>
              <a:rPr lang="en-US" altLang="zh-CN" sz="2400" b="1" dirty="0">
                <a:solidFill>
                  <a:schemeClr val="accent1">
                    <a:lumMod val="50000"/>
                  </a:schemeClr>
                </a:solidFill>
                <a:latin typeface="Arial" panose="020B0604020202020204" pitchFamily="34" charset="0"/>
                <a:ea typeface="微软雅黑" panose="020B0503020204020204" pitchFamily="34" charset="-122"/>
              </a:rPr>
              <a:t>       </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实际动作，比如：飞行器的输入杆量、油门、舵偏</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46" name="圆角矩形 47">
            <a:extLst>
              <a:ext uri="{FF2B5EF4-FFF2-40B4-BE49-F238E27FC236}">
                <a16:creationId xmlns:a16="http://schemas.microsoft.com/office/drawing/2014/main" id="{6F01FC60-CA8A-4897-A8E7-045971DB410E}"/>
              </a:ext>
            </a:extLst>
          </p:cNvPr>
          <p:cNvSpPr/>
          <p:nvPr/>
        </p:nvSpPr>
        <p:spPr>
          <a:xfrm>
            <a:off x="6624998" y="1564175"/>
            <a:ext cx="5419863" cy="4879805"/>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423776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92013" y="6489700"/>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10</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grpSp>
        <p:nvGrpSpPr>
          <p:cNvPr id="20" name="组合 19">
            <a:extLst>
              <a:ext uri="{FF2B5EF4-FFF2-40B4-BE49-F238E27FC236}">
                <a16:creationId xmlns:a16="http://schemas.microsoft.com/office/drawing/2014/main" id="{0607A3D4-9D63-4700-B077-3CB5CABCD0FA}"/>
              </a:ext>
            </a:extLst>
          </p:cNvPr>
          <p:cNvGrpSpPr/>
          <p:nvPr/>
        </p:nvGrpSpPr>
        <p:grpSpPr>
          <a:xfrm>
            <a:off x="1000045" y="1546838"/>
            <a:ext cx="10191910" cy="4942862"/>
            <a:chOff x="600137" y="276225"/>
            <a:chExt cx="10991726" cy="6112665"/>
          </a:xfrm>
        </p:grpSpPr>
        <p:pic>
          <p:nvPicPr>
            <p:cNvPr id="21" name="图片 20">
              <a:extLst>
                <a:ext uri="{FF2B5EF4-FFF2-40B4-BE49-F238E27FC236}">
                  <a16:creationId xmlns:a16="http://schemas.microsoft.com/office/drawing/2014/main" id="{768BE624-9ABD-4CE3-B5B8-C26B56196476}"/>
                </a:ext>
              </a:extLst>
            </p:cNvPr>
            <p:cNvPicPr>
              <a:picLocks noChangeAspect="1"/>
            </p:cNvPicPr>
            <p:nvPr/>
          </p:nvPicPr>
          <p:blipFill>
            <a:blip r:embed="rId4"/>
            <a:stretch>
              <a:fillRect/>
            </a:stretch>
          </p:blipFill>
          <p:spPr>
            <a:xfrm>
              <a:off x="1286000" y="276225"/>
              <a:ext cx="1457199" cy="1843087"/>
            </a:xfrm>
            <a:prstGeom prst="rect">
              <a:avLst/>
            </a:prstGeom>
          </p:spPr>
        </p:pic>
        <p:sp>
          <p:nvSpPr>
            <p:cNvPr id="22" name="文本框 21">
              <a:extLst>
                <a:ext uri="{FF2B5EF4-FFF2-40B4-BE49-F238E27FC236}">
                  <a16:creationId xmlns:a16="http://schemas.microsoft.com/office/drawing/2014/main" id="{3B8FC9C2-B9C8-4104-9FC1-FA17E932C439}"/>
                </a:ext>
              </a:extLst>
            </p:cNvPr>
            <p:cNvSpPr txBox="1"/>
            <p:nvPr/>
          </p:nvSpPr>
          <p:spPr>
            <a:xfrm>
              <a:off x="1286000" y="1013103"/>
              <a:ext cx="1471878" cy="369332"/>
            </a:xfrm>
            <a:prstGeom prst="rect">
              <a:avLst/>
            </a:prstGeom>
            <a:noFill/>
          </p:spPr>
          <p:txBody>
            <a:bodyPr wrap="none" rtlCol="0">
              <a:spAutoFit/>
            </a:bodyPr>
            <a:lstStyle/>
            <a:p>
              <a:r>
                <a:rPr lang="en-US" altLang="zh-CN" dirty="0">
                  <a:solidFill>
                    <a:schemeClr val="bg1"/>
                  </a:solidFill>
                </a:rPr>
                <a:t>X</a:t>
              </a:r>
              <a:r>
                <a:rPr lang="zh-CN" altLang="en-US" dirty="0">
                  <a:solidFill>
                    <a:schemeClr val="bg1"/>
                  </a:solidFill>
                </a:rPr>
                <a:t>：原始输入</a:t>
              </a:r>
            </a:p>
          </p:txBody>
        </p:sp>
        <p:sp>
          <p:nvSpPr>
            <p:cNvPr id="24" name="矩形 23">
              <a:extLst>
                <a:ext uri="{FF2B5EF4-FFF2-40B4-BE49-F238E27FC236}">
                  <a16:creationId xmlns:a16="http://schemas.microsoft.com/office/drawing/2014/main" id="{985FFB85-8179-476A-A259-1EFC93CB04D3}"/>
                </a:ext>
              </a:extLst>
            </p:cNvPr>
            <p:cNvSpPr/>
            <p:nvPr/>
          </p:nvSpPr>
          <p:spPr>
            <a:xfrm>
              <a:off x="600137" y="2714625"/>
              <a:ext cx="4610038" cy="348614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a:extLst>
                <a:ext uri="{FF2B5EF4-FFF2-40B4-BE49-F238E27FC236}">
                  <a16:creationId xmlns:a16="http://schemas.microsoft.com/office/drawing/2014/main" id="{5AFC3C15-4CEE-442F-8ADC-D56798C2D2AF}"/>
                </a:ext>
              </a:extLst>
            </p:cNvPr>
            <p:cNvSpPr txBox="1"/>
            <p:nvPr/>
          </p:nvSpPr>
          <p:spPr>
            <a:xfrm>
              <a:off x="2063419" y="2937807"/>
              <a:ext cx="1683474" cy="523220"/>
            </a:xfrm>
            <a:prstGeom prst="rect">
              <a:avLst/>
            </a:prstGeom>
            <a:noFill/>
          </p:spPr>
          <p:txBody>
            <a:bodyPr wrap="none" rtlCol="0">
              <a:spAutoFit/>
            </a:bodyPr>
            <a:lstStyle/>
            <a:p>
              <a:r>
                <a:rPr lang="en-US" altLang="zh-CN" sz="2800" dirty="0"/>
                <a:t>Critic</a:t>
              </a:r>
              <a:r>
                <a:rPr lang="zh-CN" altLang="en-US" sz="2800" dirty="0"/>
                <a:t>部分</a:t>
              </a:r>
            </a:p>
          </p:txBody>
        </p:sp>
        <p:sp>
          <p:nvSpPr>
            <p:cNvPr id="26" name="矩形 25">
              <a:extLst>
                <a:ext uri="{FF2B5EF4-FFF2-40B4-BE49-F238E27FC236}">
                  <a16:creationId xmlns:a16="http://schemas.microsoft.com/office/drawing/2014/main" id="{E54445BA-F790-413D-B632-C655A89379A0}"/>
                </a:ext>
              </a:extLst>
            </p:cNvPr>
            <p:cNvSpPr/>
            <p:nvPr/>
          </p:nvSpPr>
          <p:spPr>
            <a:xfrm>
              <a:off x="981075" y="3790950"/>
              <a:ext cx="1381123" cy="1619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State</a:t>
              </a:r>
            </a:p>
            <a:p>
              <a:pPr algn="ctr"/>
              <a:r>
                <a:rPr lang="en-US" altLang="zh-CN" dirty="0"/>
                <a:t>network</a:t>
              </a:r>
              <a:endParaRPr lang="zh-CN" altLang="en-US" dirty="0"/>
            </a:p>
          </p:txBody>
        </p:sp>
        <p:sp>
          <p:nvSpPr>
            <p:cNvPr id="27" name="矩形 26">
              <a:extLst>
                <a:ext uri="{FF2B5EF4-FFF2-40B4-BE49-F238E27FC236}">
                  <a16:creationId xmlns:a16="http://schemas.microsoft.com/office/drawing/2014/main" id="{C6E844D6-D929-47A0-A1EB-36F646A563E1}"/>
                </a:ext>
              </a:extLst>
            </p:cNvPr>
            <p:cNvSpPr/>
            <p:nvPr/>
          </p:nvSpPr>
          <p:spPr>
            <a:xfrm>
              <a:off x="3502790" y="3790950"/>
              <a:ext cx="1381123" cy="161925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Q</a:t>
              </a:r>
            </a:p>
            <a:p>
              <a:pPr algn="ctr"/>
              <a:r>
                <a:rPr lang="en-US" altLang="zh-CN" dirty="0"/>
                <a:t>network</a:t>
              </a:r>
              <a:endParaRPr lang="zh-CN" altLang="en-US" dirty="0"/>
            </a:p>
          </p:txBody>
        </p:sp>
        <p:cxnSp>
          <p:nvCxnSpPr>
            <p:cNvPr id="28" name="直接箭头连接符 27">
              <a:extLst>
                <a:ext uri="{FF2B5EF4-FFF2-40B4-BE49-F238E27FC236}">
                  <a16:creationId xmlns:a16="http://schemas.microsoft.com/office/drawing/2014/main" id="{A1DFAA21-0FF5-4D9A-B8DE-53F4C953F5AE}"/>
                </a:ext>
              </a:extLst>
            </p:cNvPr>
            <p:cNvCxnSpPr>
              <a:cxnSpLocks/>
              <a:stCxn id="21" idx="2"/>
              <a:endCxn id="26" idx="0"/>
            </p:cNvCxnSpPr>
            <p:nvPr/>
          </p:nvCxnSpPr>
          <p:spPr>
            <a:xfrm flipH="1">
              <a:off x="1671637" y="2119312"/>
              <a:ext cx="342963" cy="167163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04F93B80-C8B0-404A-8D1B-DD39D5A79FE1}"/>
                </a:ext>
              </a:extLst>
            </p:cNvPr>
            <p:cNvCxnSpPr>
              <a:cxnSpLocks/>
              <a:stCxn id="26" idx="3"/>
              <a:endCxn id="27" idx="1"/>
            </p:cNvCxnSpPr>
            <p:nvPr/>
          </p:nvCxnSpPr>
          <p:spPr>
            <a:xfrm>
              <a:off x="2362198" y="4600575"/>
              <a:ext cx="1140592"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31" name="文本框 30">
              <a:extLst>
                <a:ext uri="{FF2B5EF4-FFF2-40B4-BE49-F238E27FC236}">
                  <a16:creationId xmlns:a16="http://schemas.microsoft.com/office/drawing/2014/main" id="{60C7CD68-86FC-4018-B724-D490CE460C93}"/>
                </a:ext>
              </a:extLst>
            </p:cNvPr>
            <p:cNvSpPr txBox="1"/>
            <p:nvPr/>
          </p:nvSpPr>
          <p:spPr>
            <a:xfrm>
              <a:off x="2743136" y="4231243"/>
              <a:ext cx="303288" cy="369332"/>
            </a:xfrm>
            <a:prstGeom prst="rect">
              <a:avLst/>
            </a:prstGeom>
            <a:noFill/>
          </p:spPr>
          <p:txBody>
            <a:bodyPr wrap="none" rtlCol="0">
              <a:spAutoFit/>
            </a:bodyPr>
            <a:lstStyle/>
            <a:p>
              <a:r>
                <a:rPr lang="en-US" altLang="zh-CN" dirty="0"/>
                <a:t>S</a:t>
              </a:r>
              <a:endParaRPr lang="zh-CN" altLang="en-US" dirty="0"/>
            </a:p>
          </p:txBody>
        </p:sp>
        <p:sp>
          <p:nvSpPr>
            <p:cNvPr id="32" name="文本框 31">
              <a:extLst>
                <a:ext uri="{FF2B5EF4-FFF2-40B4-BE49-F238E27FC236}">
                  <a16:creationId xmlns:a16="http://schemas.microsoft.com/office/drawing/2014/main" id="{62DBD3CD-83D0-4DAE-9428-6BCB0759FC00}"/>
                </a:ext>
              </a:extLst>
            </p:cNvPr>
            <p:cNvSpPr txBox="1"/>
            <p:nvPr/>
          </p:nvSpPr>
          <p:spPr>
            <a:xfrm>
              <a:off x="5208039" y="4231243"/>
              <a:ext cx="1239442" cy="369332"/>
            </a:xfrm>
            <a:prstGeom prst="rect">
              <a:avLst/>
            </a:prstGeom>
            <a:noFill/>
          </p:spPr>
          <p:txBody>
            <a:bodyPr wrap="none" rtlCol="0">
              <a:spAutoFit/>
            </a:bodyPr>
            <a:lstStyle/>
            <a:p>
              <a:r>
                <a:rPr lang="en-US" altLang="zh-CN" dirty="0"/>
                <a:t>Q[options]</a:t>
              </a:r>
              <a:endParaRPr lang="zh-CN" altLang="en-US" dirty="0"/>
            </a:p>
          </p:txBody>
        </p:sp>
        <p:sp>
          <p:nvSpPr>
            <p:cNvPr id="33" name="矩形 32">
              <a:extLst>
                <a:ext uri="{FF2B5EF4-FFF2-40B4-BE49-F238E27FC236}">
                  <a16:creationId xmlns:a16="http://schemas.microsoft.com/office/drawing/2014/main" id="{65C7A29D-A1AD-4DAE-B417-0E86FACE405D}"/>
                </a:ext>
              </a:extLst>
            </p:cNvPr>
            <p:cNvSpPr/>
            <p:nvPr/>
          </p:nvSpPr>
          <p:spPr>
            <a:xfrm>
              <a:off x="6981825" y="2714624"/>
              <a:ext cx="4610038" cy="348614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6C7477E1-0ADE-41A5-B28E-4CD327D23607}"/>
                </a:ext>
              </a:extLst>
            </p:cNvPr>
            <p:cNvSpPr txBox="1"/>
            <p:nvPr/>
          </p:nvSpPr>
          <p:spPr>
            <a:xfrm>
              <a:off x="8445107" y="2937806"/>
              <a:ext cx="1734770" cy="523220"/>
            </a:xfrm>
            <a:prstGeom prst="rect">
              <a:avLst/>
            </a:prstGeom>
            <a:noFill/>
          </p:spPr>
          <p:txBody>
            <a:bodyPr wrap="none" rtlCol="0">
              <a:spAutoFit/>
            </a:bodyPr>
            <a:lstStyle/>
            <a:p>
              <a:r>
                <a:rPr lang="en-US" altLang="zh-CN" sz="2800" dirty="0"/>
                <a:t>Actor</a:t>
              </a:r>
              <a:r>
                <a:rPr lang="zh-CN" altLang="en-US" sz="2800" dirty="0"/>
                <a:t>部分</a:t>
              </a:r>
            </a:p>
          </p:txBody>
        </p:sp>
        <p:sp>
          <p:nvSpPr>
            <p:cNvPr id="35" name="矩形 34">
              <a:extLst>
                <a:ext uri="{FF2B5EF4-FFF2-40B4-BE49-F238E27FC236}">
                  <a16:creationId xmlns:a16="http://schemas.microsoft.com/office/drawing/2014/main" id="{90FD4C23-8B05-4F11-9162-D7D76FB4CE52}"/>
                </a:ext>
              </a:extLst>
            </p:cNvPr>
            <p:cNvSpPr/>
            <p:nvPr/>
          </p:nvSpPr>
          <p:spPr>
            <a:xfrm>
              <a:off x="7714056" y="3790949"/>
              <a:ext cx="1381123" cy="1619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Option</a:t>
              </a:r>
            </a:p>
            <a:p>
              <a:pPr algn="ctr"/>
              <a:r>
                <a:rPr lang="en-US" altLang="zh-CN" dirty="0"/>
                <a:t>network</a:t>
              </a:r>
              <a:endParaRPr lang="zh-CN" altLang="en-US" dirty="0"/>
            </a:p>
          </p:txBody>
        </p:sp>
        <p:sp>
          <p:nvSpPr>
            <p:cNvPr id="36" name="矩形 35">
              <a:extLst>
                <a:ext uri="{FF2B5EF4-FFF2-40B4-BE49-F238E27FC236}">
                  <a16:creationId xmlns:a16="http://schemas.microsoft.com/office/drawing/2014/main" id="{03EC3DED-DA7F-4F5A-832B-3EA9FF618998}"/>
                </a:ext>
              </a:extLst>
            </p:cNvPr>
            <p:cNvSpPr/>
            <p:nvPr/>
          </p:nvSpPr>
          <p:spPr>
            <a:xfrm>
              <a:off x="9884478" y="3790948"/>
              <a:ext cx="1409241" cy="161925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Termination</a:t>
              </a:r>
            </a:p>
            <a:p>
              <a:pPr algn="ctr"/>
              <a:r>
                <a:rPr lang="en-US" altLang="zh-CN" dirty="0"/>
                <a:t>network</a:t>
              </a:r>
              <a:endParaRPr lang="zh-CN" altLang="en-US" dirty="0"/>
            </a:p>
          </p:txBody>
        </p:sp>
        <p:cxnSp>
          <p:nvCxnSpPr>
            <p:cNvPr id="37" name="直接箭头连接符 36">
              <a:extLst>
                <a:ext uri="{FF2B5EF4-FFF2-40B4-BE49-F238E27FC236}">
                  <a16:creationId xmlns:a16="http://schemas.microsoft.com/office/drawing/2014/main" id="{0DE5328D-2CAB-4B6F-B4A6-D7088442D603}"/>
                </a:ext>
              </a:extLst>
            </p:cNvPr>
            <p:cNvCxnSpPr>
              <a:cxnSpLocks/>
              <a:stCxn id="35" idx="0"/>
            </p:cNvCxnSpPr>
            <p:nvPr/>
          </p:nvCxnSpPr>
          <p:spPr>
            <a:xfrm flipV="1">
              <a:off x="8404618" y="1382434"/>
              <a:ext cx="0" cy="2408515"/>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38" name="文本框 37">
              <a:extLst>
                <a:ext uri="{FF2B5EF4-FFF2-40B4-BE49-F238E27FC236}">
                  <a16:creationId xmlns:a16="http://schemas.microsoft.com/office/drawing/2014/main" id="{A3FD5E4E-44C4-4D3D-BE5F-50CA66D7260C}"/>
                </a:ext>
              </a:extLst>
            </p:cNvPr>
            <p:cNvSpPr txBox="1"/>
            <p:nvPr/>
          </p:nvSpPr>
          <p:spPr>
            <a:xfrm>
              <a:off x="7792911" y="932556"/>
              <a:ext cx="1569660" cy="461665"/>
            </a:xfrm>
            <a:prstGeom prst="rect">
              <a:avLst/>
            </a:prstGeom>
            <a:noFill/>
          </p:spPr>
          <p:txBody>
            <a:bodyPr wrap="none" rtlCol="0">
              <a:spAutoFit/>
            </a:bodyPr>
            <a:lstStyle/>
            <a:p>
              <a:r>
                <a:rPr lang="zh-CN" altLang="en-US" sz="2400" dirty="0"/>
                <a:t>控制动作</a:t>
              </a:r>
              <a:r>
                <a:rPr lang="en-US" altLang="zh-CN" sz="2400" dirty="0"/>
                <a:t>a</a:t>
              </a:r>
              <a:endParaRPr lang="zh-CN" altLang="en-US" sz="2400" dirty="0"/>
            </a:p>
          </p:txBody>
        </p:sp>
        <p:cxnSp>
          <p:nvCxnSpPr>
            <p:cNvPr id="39" name="直接箭头连接符 38">
              <a:extLst>
                <a:ext uri="{FF2B5EF4-FFF2-40B4-BE49-F238E27FC236}">
                  <a16:creationId xmlns:a16="http://schemas.microsoft.com/office/drawing/2014/main" id="{396C34EB-3E28-46A8-8382-6D5643B4ED58}"/>
                </a:ext>
              </a:extLst>
            </p:cNvPr>
            <p:cNvCxnSpPr>
              <a:cxnSpLocks/>
              <a:stCxn id="27" idx="3"/>
            </p:cNvCxnSpPr>
            <p:nvPr/>
          </p:nvCxnSpPr>
          <p:spPr>
            <a:xfrm>
              <a:off x="4883913" y="4600575"/>
              <a:ext cx="2364612"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44" name="矩形 43">
              <a:extLst>
                <a:ext uri="{FF2B5EF4-FFF2-40B4-BE49-F238E27FC236}">
                  <a16:creationId xmlns:a16="http://schemas.microsoft.com/office/drawing/2014/main" id="{DD51547D-DCDA-47E6-B2AE-50535CC3A55D}"/>
                </a:ext>
              </a:extLst>
            </p:cNvPr>
            <p:cNvSpPr/>
            <p:nvPr/>
          </p:nvSpPr>
          <p:spPr>
            <a:xfrm>
              <a:off x="7535437" y="3936860"/>
              <a:ext cx="1381123" cy="1619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Option</a:t>
              </a:r>
            </a:p>
            <a:p>
              <a:pPr algn="ctr"/>
              <a:r>
                <a:rPr lang="en-US" altLang="zh-CN" dirty="0"/>
                <a:t>network</a:t>
              </a:r>
              <a:endParaRPr lang="zh-CN" altLang="en-US" dirty="0"/>
            </a:p>
          </p:txBody>
        </p:sp>
        <p:sp>
          <p:nvSpPr>
            <p:cNvPr id="45" name="矩形 44">
              <a:extLst>
                <a:ext uri="{FF2B5EF4-FFF2-40B4-BE49-F238E27FC236}">
                  <a16:creationId xmlns:a16="http://schemas.microsoft.com/office/drawing/2014/main" id="{FDFDA457-1C15-4EAF-AE17-276B8F191D2D}"/>
                </a:ext>
              </a:extLst>
            </p:cNvPr>
            <p:cNvSpPr/>
            <p:nvPr/>
          </p:nvSpPr>
          <p:spPr>
            <a:xfrm>
              <a:off x="7347620" y="4167185"/>
              <a:ext cx="1381123" cy="1619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Option</a:t>
              </a:r>
            </a:p>
            <a:p>
              <a:pPr algn="ctr"/>
              <a:r>
                <a:rPr lang="en-US" altLang="zh-CN" dirty="0"/>
                <a:t>network</a:t>
              </a:r>
              <a:endParaRPr lang="zh-CN" altLang="en-US" dirty="0"/>
            </a:p>
          </p:txBody>
        </p:sp>
        <p:cxnSp>
          <p:nvCxnSpPr>
            <p:cNvPr id="47" name="直接连接符 46">
              <a:extLst>
                <a:ext uri="{FF2B5EF4-FFF2-40B4-BE49-F238E27FC236}">
                  <a16:creationId xmlns:a16="http://schemas.microsoft.com/office/drawing/2014/main" id="{BF998A38-572A-4766-B498-B43C3DD74FC6}"/>
                </a:ext>
              </a:extLst>
            </p:cNvPr>
            <p:cNvCxnSpPr>
              <a:cxnSpLocks/>
            </p:cNvCxnSpPr>
            <p:nvPr/>
          </p:nvCxnSpPr>
          <p:spPr>
            <a:xfrm>
              <a:off x="6610350" y="4167185"/>
              <a:ext cx="0" cy="7858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581E36C-B288-4DA9-A32B-EA5102B18033}"/>
                </a:ext>
              </a:extLst>
            </p:cNvPr>
            <p:cNvCxnSpPr>
              <a:cxnSpLocks/>
            </p:cNvCxnSpPr>
            <p:nvPr/>
          </p:nvCxnSpPr>
          <p:spPr>
            <a:xfrm>
              <a:off x="6610350" y="4167185"/>
              <a:ext cx="737270"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a:extLst>
                <a:ext uri="{FF2B5EF4-FFF2-40B4-BE49-F238E27FC236}">
                  <a16:creationId xmlns:a16="http://schemas.microsoft.com/office/drawing/2014/main" id="{458FEC15-AB42-420A-82E1-CDDD77EFB255}"/>
                </a:ext>
              </a:extLst>
            </p:cNvPr>
            <p:cNvCxnSpPr>
              <a:cxnSpLocks/>
            </p:cNvCxnSpPr>
            <p:nvPr/>
          </p:nvCxnSpPr>
          <p:spPr>
            <a:xfrm flipV="1">
              <a:off x="6610350" y="4953000"/>
              <a:ext cx="524330" cy="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6E48F25C-D84A-4A9A-AC35-2374090E78EB}"/>
                </a:ext>
              </a:extLst>
            </p:cNvPr>
            <p:cNvCxnSpPr>
              <a:cxnSpLocks/>
            </p:cNvCxnSpPr>
            <p:nvPr/>
          </p:nvCxnSpPr>
          <p:spPr>
            <a:xfrm>
              <a:off x="6677057" y="5988840"/>
              <a:ext cx="38766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96C3F4F-79E2-4FE2-A079-6A50A0065EAC}"/>
                </a:ext>
              </a:extLst>
            </p:cNvPr>
            <p:cNvCxnSpPr>
              <a:cxnSpLocks/>
            </p:cNvCxnSpPr>
            <p:nvPr/>
          </p:nvCxnSpPr>
          <p:spPr>
            <a:xfrm>
              <a:off x="10553700" y="5410199"/>
              <a:ext cx="0" cy="57864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5049575C-C402-4963-BB47-C3DDD47FAA42}"/>
                </a:ext>
              </a:extLst>
            </p:cNvPr>
            <p:cNvCxnSpPr>
              <a:cxnSpLocks/>
            </p:cNvCxnSpPr>
            <p:nvPr/>
          </p:nvCxnSpPr>
          <p:spPr>
            <a:xfrm flipV="1">
              <a:off x="6677057" y="5057239"/>
              <a:ext cx="0" cy="931601"/>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53A7AA28-ABE1-4CC0-9E23-54A8197379B5}"/>
                </a:ext>
              </a:extLst>
            </p:cNvPr>
            <p:cNvCxnSpPr>
              <a:cxnSpLocks/>
            </p:cNvCxnSpPr>
            <p:nvPr/>
          </p:nvCxnSpPr>
          <p:spPr>
            <a:xfrm>
              <a:off x="2886075" y="4600575"/>
              <a:ext cx="0" cy="178831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44E52C5D-D0A7-4E37-A61B-89BF01DD2B30}"/>
                </a:ext>
              </a:extLst>
            </p:cNvPr>
            <p:cNvCxnSpPr>
              <a:cxnSpLocks/>
            </p:cNvCxnSpPr>
            <p:nvPr/>
          </p:nvCxnSpPr>
          <p:spPr>
            <a:xfrm>
              <a:off x="2886075" y="5657850"/>
              <a:ext cx="446154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4161BB02-D5E6-43FA-8EC7-200FAD81FEE6}"/>
                </a:ext>
              </a:extLst>
            </p:cNvPr>
            <p:cNvCxnSpPr>
              <a:cxnSpLocks/>
            </p:cNvCxnSpPr>
            <p:nvPr/>
          </p:nvCxnSpPr>
          <p:spPr>
            <a:xfrm>
              <a:off x="2886075" y="6388890"/>
              <a:ext cx="793432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35EB8224-38B1-4D5D-A183-D674E9E56F5A}"/>
                </a:ext>
              </a:extLst>
            </p:cNvPr>
            <p:cNvCxnSpPr>
              <a:cxnSpLocks/>
            </p:cNvCxnSpPr>
            <p:nvPr/>
          </p:nvCxnSpPr>
          <p:spPr>
            <a:xfrm flipV="1">
              <a:off x="10820400" y="5457289"/>
              <a:ext cx="0" cy="931601"/>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26021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85094" y="6488668"/>
            <a:ext cx="406906"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11</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pic>
        <p:nvPicPr>
          <p:cNvPr id="1026" name="Picture 2" descr="https://pic1.zhimg.com/v2-a5df2c611ec8d08c28aa5ebe2961959c_r.jpg">
            <a:extLst>
              <a:ext uri="{FF2B5EF4-FFF2-40B4-BE49-F238E27FC236}">
                <a16:creationId xmlns:a16="http://schemas.microsoft.com/office/drawing/2014/main" id="{31B805E4-84F5-4FFC-AB3E-2340D62AA4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4812" y="1623797"/>
            <a:ext cx="8371491" cy="5050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36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剪去单角 57">
            <a:extLst>
              <a:ext uri="{FF2B5EF4-FFF2-40B4-BE49-F238E27FC236}">
                <a16:creationId xmlns:a16="http://schemas.microsoft.com/office/drawing/2014/main" id="{84D88F30-2C10-4CDA-B476-A4ED4244A0E5}"/>
              </a:ext>
            </a:extLst>
          </p:cNvPr>
          <p:cNvSpPr/>
          <p:nvPr/>
        </p:nvSpPr>
        <p:spPr>
          <a:xfrm flipH="1">
            <a:off x="297709" y="1564176"/>
            <a:ext cx="11748977" cy="5166232"/>
          </a:xfrm>
          <a:prstGeom prst="snip1Rect">
            <a:avLst>
              <a:gd name="adj" fmla="val 17589"/>
            </a:avLst>
          </a:prstGeom>
          <a:solidFill>
            <a:schemeClr val="accent5">
              <a:lumMod val="20000"/>
              <a:lumOff val="80000"/>
            </a:schemeClr>
          </a:solidFill>
          <a:ln>
            <a:solidFill>
              <a:schemeClr val="tx2">
                <a:lumMod val="75000"/>
              </a:schemeClr>
            </a:solid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内容占位符 2">
            <a:extLst>
              <a:ext uri="{FF2B5EF4-FFF2-40B4-BE49-F238E27FC236}">
                <a16:creationId xmlns:a16="http://schemas.microsoft.com/office/drawing/2014/main" id="{6438D640-C1E6-4578-A9E9-56AF4DD031CB}"/>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FF0000"/>
                </a:solidFill>
              </a:rPr>
              <a:t>上层网络梯度</a:t>
            </a:r>
            <a:r>
              <a:rPr lang="zh-CN" altLang="en-US" dirty="0"/>
              <a:t>：</a:t>
            </a:r>
            <a:endParaRPr lang="en-US" altLang="zh-CN" dirty="0"/>
          </a:p>
          <a:p>
            <a:r>
              <a:rPr lang="zh-CN" altLang="en-US" dirty="0"/>
              <a:t>（求梯度前）</a:t>
            </a:r>
            <a:endParaRPr lang="en-US" altLang="zh-CN" dirty="0"/>
          </a:p>
          <a:p>
            <a:r>
              <a:rPr lang="en-US" altLang="zh-CN" dirty="0"/>
              <a:t>Option</a:t>
            </a:r>
            <a:r>
              <a:rPr lang="zh-CN" altLang="en-US" dirty="0"/>
              <a:t>：</a:t>
            </a:r>
            <a:endParaRPr lang="en-US" altLang="zh-CN" dirty="0"/>
          </a:p>
          <a:p>
            <a:endParaRPr lang="zh-CN" altLang="en-US" dirty="0"/>
          </a:p>
        </p:txBody>
      </p:sp>
      <p:pic>
        <p:nvPicPr>
          <p:cNvPr id="39" name="图片 38">
            <a:extLst>
              <a:ext uri="{FF2B5EF4-FFF2-40B4-BE49-F238E27FC236}">
                <a16:creationId xmlns:a16="http://schemas.microsoft.com/office/drawing/2014/main" id="{B4097660-10DE-4E20-A706-464239A647CE}"/>
              </a:ext>
            </a:extLst>
          </p:cNvPr>
          <p:cNvPicPr>
            <a:picLocks noChangeAspect="1"/>
          </p:cNvPicPr>
          <p:nvPr/>
        </p:nvPicPr>
        <p:blipFill rotWithShape="1">
          <a:blip r:embed="rId3"/>
          <a:srcRect b="9988"/>
          <a:stretch/>
        </p:blipFill>
        <p:spPr>
          <a:xfrm>
            <a:off x="996932" y="3517504"/>
            <a:ext cx="8141936" cy="778271"/>
          </a:xfrm>
          <a:prstGeom prst="rect">
            <a:avLst/>
          </a:prstGeom>
        </p:spPr>
      </p:pic>
      <p:pic>
        <p:nvPicPr>
          <p:cNvPr id="40" name="图片 39">
            <a:extLst>
              <a:ext uri="{FF2B5EF4-FFF2-40B4-BE49-F238E27FC236}">
                <a16:creationId xmlns:a16="http://schemas.microsoft.com/office/drawing/2014/main" id="{F6C16BAB-F400-4EBF-8F57-9A0DCA18D74D}"/>
              </a:ext>
            </a:extLst>
          </p:cNvPr>
          <p:cNvPicPr>
            <a:picLocks noChangeAspect="1"/>
          </p:cNvPicPr>
          <p:nvPr/>
        </p:nvPicPr>
        <p:blipFill rotWithShape="1">
          <a:blip r:embed="rId4"/>
          <a:srcRect l="72"/>
          <a:stretch/>
        </p:blipFill>
        <p:spPr>
          <a:xfrm>
            <a:off x="2650584" y="2888525"/>
            <a:ext cx="8336730" cy="396251"/>
          </a:xfrm>
          <a:prstGeom prst="rect">
            <a:avLst/>
          </a:prstGeom>
        </p:spPr>
      </p:pic>
      <p:sp>
        <p:nvSpPr>
          <p:cNvPr id="41" name="矩形 40">
            <a:extLst>
              <a:ext uri="{FF2B5EF4-FFF2-40B4-BE49-F238E27FC236}">
                <a16:creationId xmlns:a16="http://schemas.microsoft.com/office/drawing/2014/main" id="{91286CFB-622B-4F4F-AB41-08ABA12A61ED}"/>
              </a:ext>
            </a:extLst>
          </p:cNvPr>
          <p:cNvSpPr/>
          <p:nvPr/>
        </p:nvSpPr>
        <p:spPr>
          <a:xfrm>
            <a:off x="9304978" y="3625057"/>
            <a:ext cx="2508656" cy="704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Option</a:t>
            </a:r>
            <a:r>
              <a:rPr lang="zh-CN" altLang="en-US" dirty="0"/>
              <a:t>网络对每个动作执行概率的预测</a:t>
            </a:r>
          </a:p>
        </p:txBody>
      </p:sp>
      <p:cxnSp>
        <p:nvCxnSpPr>
          <p:cNvPr id="42" name="直接箭头连接符 41">
            <a:extLst>
              <a:ext uri="{FF2B5EF4-FFF2-40B4-BE49-F238E27FC236}">
                <a16:creationId xmlns:a16="http://schemas.microsoft.com/office/drawing/2014/main" id="{0874AE97-FE55-457A-B2D9-75843295A904}"/>
              </a:ext>
            </a:extLst>
          </p:cNvPr>
          <p:cNvCxnSpPr>
            <a:endCxn id="39" idx="3"/>
          </p:cNvCxnSpPr>
          <p:nvPr/>
        </p:nvCxnSpPr>
        <p:spPr>
          <a:xfrm>
            <a:off x="7098759" y="3284776"/>
            <a:ext cx="2040109" cy="621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B2872190-730C-464E-9386-1C5894081BCD}"/>
              </a:ext>
            </a:extLst>
          </p:cNvPr>
          <p:cNvPicPr>
            <a:picLocks noChangeAspect="1"/>
          </p:cNvPicPr>
          <p:nvPr/>
        </p:nvPicPr>
        <p:blipFill>
          <a:blip r:embed="rId5"/>
          <a:stretch>
            <a:fillRect/>
          </a:stretch>
        </p:blipFill>
        <p:spPr>
          <a:xfrm>
            <a:off x="973902" y="4528503"/>
            <a:ext cx="8441076" cy="1177569"/>
          </a:xfrm>
          <a:prstGeom prst="rect">
            <a:avLst/>
          </a:prstGeom>
        </p:spPr>
      </p:pic>
      <p:sp>
        <p:nvSpPr>
          <p:cNvPr id="44" name="矩形 43">
            <a:extLst>
              <a:ext uri="{FF2B5EF4-FFF2-40B4-BE49-F238E27FC236}">
                <a16:creationId xmlns:a16="http://schemas.microsoft.com/office/drawing/2014/main" id="{5BDD1012-ABD0-4852-BEF2-CE4B8210A353}"/>
              </a:ext>
            </a:extLst>
          </p:cNvPr>
          <p:cNvSpPr/>
          <p:nvPr/>
        </p:nvSpPr>
        <p:spPr>
          <a:xfrm>
            <a:off x="9414978" y="1808810"/>
            <a:ext cx="2508656" cy="704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Q</a:t>
            </a:r>
            <a:r>
              <a:rPr lang="zh-CN" altLang="en-US" dirty="0"/>
              <a:t>的估计值</a:t>
            </a:r>
          </a:p>
        </p:txBody>
      </p:sp>
      <p:cxnSp>
        <p:nvCxnSpPr>
          <p:cNvPr id="45" name="直接箭头连接符 44">
            <a:extLst>
              <a:ext uri="{FF2B5EF4-FFF2-40B4-BE49-F238E27FC236}">
                <a16:creationId xmlns:a16="http://schemas.microsoft.com/office/drawing/2014/main" id="{7ED0E761-4797-45EC-9591-3396C96B128F}"/>
              </a:ext>
            </a:extLst>
          </p:cNvPr>
          <p:cNvCxnSpPr>
            <a:cxnSpLocks/>
          </p:cNvCxnSpPr>
          <p:nvPr/>
        </p:nvCxnSpPr>
        <p:spPr>
          <a:xfrm flipV="1">
            <a:off x="10669306" y="2569187"/>
            <a:ext cx="90283" cy="319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219E426-EA66-4DFF-BAAA-9E87873C45A2}"/>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35F0BD53-935D-4B79-9974-FFE28BABC9B4}"/>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25" name="文本框 24">
            <a:extLst>
              <a:ext uri="{FF2B5EF4-FFF2-40B4-BE49-F238E27FC236}">
                <a16:creationId xmlns:a16="http://schemas.microsoft.com/office/drawing/2014/main" id="{D56168B0-4212-4DFC-9039-DFE5400FFDBE}"/>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26" name="矩形 25">
            <a:extLst>
              <a:ext uri="{FF2B5EF4-FFF2-40B4-BE49-F238E27FC236}">
                <a16:creationId xmlns:a16="http://schemas.microsoft.com/office/drawing/2014/main" id="{C73EBF6A-747B-4AB1-A598-DAD4568BFB64}"/>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0CACC9D0-CBBE-432F-BD72-79CE6BF78C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8" name="矩形 27">
            <a:extLst>
              <a:ext uri="{FF2B5EF4-FFF2-40B4-BE49-F238E27FC236}">
                <a16:creationId xmlns:a16="http://schemas.microsoft.com/office/drawing/2014/main" id="{0C4BE716-E69F-4310-97EF-53EDACB5F2A2}"/>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29" name="文本框 28">
            <a:extLst>
              <a:ext uri="{FF2B5EF4-FFF2-40B4-BE49-F238E27FC236}">
                <a16:creationId xmlns:a16="http://schemas.microsoft.com/office/drawing/2014/main" id="{6B8101E8-E70D-4A67-BAA8-A1AB27002F42}"/>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18" name="文本框 17">
            <a:extLst>
              <a:ext uri="{FF2B5EF4-FFF2-40B4-BE49-F238E27FC236}">
                <a16:creationId xmlns:a16="http://schemas.microsoft.com/office/drawing/2014/main" id="{68DD8F0B-A307-49EA-9616-F20D15628D1A}"/>
              </a:ext>
            </a:extLst>
          </p:cNvPr>
          <p:cNvSpPr txBox="1"/>
          <p:nvPr/>
        </p:nvSpPr>
        <p:spPr>
          <a:xfrm>
            <a:off x="11784436"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190472629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8" name="矩形: 剪去单角 57">
            <a:extLst>
              <a:ext uri="{FF2B5EF4-FFF2-40B4-BE49-F238E27FC236}">
                <a16:creationId xmlns:a16="http://schemas.microsoft.com/office/drawing/2014/main" id="{84D88F30-2C10-4CDA-B476-A4ED4244A0E5}"/>
              </a:ext>
            </a:extLst>
          </p:cNvPr>
          <p:cNvSpPr/>
          <p:nvPr/>
        </p:nvSpPr>
        <p:spPr>
          <a:xfrm flipH="1">
            <a:off x="297709" y="1475937"/>
            <a:ext cx="11748977" cy="5254471"/>
          </a:xfrm>
          <a:prstGeom prst="snip1Rect">
            <a:avLst>
              <a:gd name="adj" fmla="val 17589"/>
            </a:avLst>
          </a:prstGeom>
          <a:solidFill>
            <a:schemeClr val="accent5">
              <a:lumMod val="20000"/>
              <a:lumOff val="80000"/>
            </a:schemeClr>
          </a:solidFill>
          <a:ln>
            <a:solidFill>
              <a:schemeClr val="tx2">
                <a:lumMod val="75000"/>
              </a:schemeClr>
            </a:solid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内容占位符 2">
            <a:extLst>
              <a:ext uri="{FF2B5EF4-FFF2-40B4-BE49-F238E27FC236}">
                <a16:creationId xmlns:a16="http://schemas.microsoft.com/office/drawing/2014/main" id="{08B5DE22-24A6-4AD4-A29D-909A36F488E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Option</a:t>
            </a:r>
            <a:r>
              <a:rPr lang="zh-CN" altLang="en-US" dirty="0"/>
              <a:t>的价值函数定义：</a:t>
            </a:r>
            <a:endParaRPr lang="en-US" altLang="zh-CN" dirty="0"/>
          </a:p>
          <a:p>
            <a:r>
              <a:rPr lang="zh-CN" altLang="en-US" dirty="0"/>
              <a:t>可用于计算累计回报对</a:t>
            </a:r>
            <a:r>
              <a:rPr lang="zh-CN" altLang="en-US" dirty="0">
                <a:solidFill>
                  <a:srgbClr val="FF0000"/>
                </a:solidFill>
              </a:rPr>
              <a:t>下层</a:t>
            </a:r>
            <a:r>
              <a:rPr lang="en-US" altLang="zh-CN" dirty="0">
                <a:solidFill>
                  <a:srgbClr val="FF0000"/>
                </a:solidFill>
              </a:rPr>
              <a:t>option</a:t>
            </a:r>
            <a:r>
              <a:rPr lang="zh-CN" altLang="en-US" dirty="0">
                <a:solidFill>
                  <a:srgbClr val="FF0000"/>
                </a:solidFill>
              </a:rPr>
              <a:t>网络的梯度</a:t>
            </a:r>
            <a:endParaRPr lang="en-US" altLang="zh-CN" dirty="0">
              <a:solidFill>
                <a:srgbClr val="FF0000"/>
              </a:solidFill>
            </a:endParaRPr>
          </a:p>
          <a:p>
            <a:endParaRPr lang="en-US" altLang="zh-CN" dirty="0"/>
          </a:p>
          <a:p>
            <a:endParaRPr lang="en-US" altLang="zh-CN" dirty="0"/>
          </a:p>
          <a:p>
            <a:endParaRPr lang="en-US" altLang="zh-CN" dirty="0"/>
          </a:p>
          <a:p>
            <a:r>
              <a:rPr lang="zh-CN" altLang="en-US" dirty="0"/>
              <a:t>对比原梯度</a:t>
            </a:r>
            <a:endParaRPr lang="en-US" altLang="zh-CN" dirty="0"/>
          </a:p>
          <a:p>
            <a:endParaRPr lang="zh-CN" altLang="en-US" dirty="0"/>
          </a:p>
        </p:txBody>
      </p:sp>
      <p:pic>
        <p:nvPicPr>
          <p:cNvPr id="39" name="内容占位符 4">
            <a:extLst>
              <a:ext uri="{FF2B5EF4-FFF2-40B4-BE49-F238E27FC236}">
                <a16:creationId xmlns:a16="http://schemas.microsoft.com/office/drawing/2014/main" id="{A3E0569E-297F-416D-BCA6-FA8E1F1C3173}"/>
              </a:ext>
            </a:extLst>
          </p:cNvPr>
          <p:cNvPicPr>
            <a:picLocks noChangeAspect="1"/>
          </p:cNvPicPr>
          <p:nvPr/>
        </p:nvPicPr>
        <p:blipFill>
          <a:blip r:embed="rId3"/>
          <a:stretch>
            <a:fillRect/>
          </a:stretch>
        </p:blipFill>
        <p:spPr>
          <a:xfrm>
            <a:off x="5145241" y="1690688"/>
            <a:ext cx="3787468" cy="632515"/>
          </a:xfrm>
          <a:prstGeom prst="rect">
            <a:avLst/>
          </a:prstGeom>
        </p:spPr>
      </p:pic>
      <p:pic>
        <p:nvPicPr>
          <p:cNvPr id="40" name="图片 39">
            <a:extLst>
              <a:ext uri="{FF2B5EF4-FFF2-40B4-BE49-F238E27FC236}">
                <a16:creationId xmlns:a16="http://schemas.microsoft.com/office/drawing/2014/main" id="{1864E60F-EE10-4A6B-ABBF-FB9FA8B56329}"/>
              </a:ext>
            </a:extLst>
          </p:cNvPr>
          <p:cNvPicPr>
            <a:picLocks noChangeAspect="1"/>
          </p:cNvPicPr>
          <p:nvPr/>
        </p:nvPicPr>
        <p:blipFill>
          <a:blip r:embed="rId4"/>
          <a:stretch>
            <a:fillRect/>
          </a:stretch>
        </p:blipFill>
        <p:spPr>
          <a:xfrm>
            <a:off x="3100921" y="4281708"/>
            <a:ext cx="6675243" cy="506180"/>
          </a:xfrm>
          <a:prstGeom prst="rect">
            <a:avLst/>
          </a:prstGeom>
        </p:spPr>
      </p:pic>
      <p:pic>
        <p:nvPicPr>
          <p:cNvPr id="41" name="图片 40">
            <a:extLst>
              <a:ext uri="{FF2B5EF4-FFF2-40B4-BE49-F238E27FC236}">
                <a16:creationId xmlns:a16="http://schemas.microsoft.com/office/drawing/2014/main" id="{21EB44F6-6A46-4C94-B632-9FA7C6C73A11}"/>
              </a:ext>
            </a:extLst>
          </p:cNvPr>
          <p:cNvPicPr>
            <a:picLocks noChangeAspect="1"/>
          </p:cNvPicPr>
          <p:nvPr/>
        </p:nvPicPr>
        <p:blipFill>
          <a:blip r:embed="rId5"/>
          <a:stretch>
            <a:fillRect/>
          </a:stretch>
        </p:blipFill>
        <p:spPr>
          <a:xfrm>
            <a:off x="1207703" y="3126870"/>
            <a:ext cx="1546994" cy="662997"/>
          </a:xfrm>
          <a:prstGeom prst="rect">
            <a:avLst/>
          </a:prstGeom>
        </p:spPr>
      </p:pic>
      <p:pic>
        <p:nvPicPr>
          <p:cNvPr id="42" name="图片 41">
            <a:extLst>
              <a:ext uri="{FF2B5EF4-FFF2-40B4-BE49-F238E27FC236}">
                <a16:creationId xmlns:a16="http://schemas.microsoft.com/office/drawing/2014/main" id="{D656B8FC-05DF-4342-A48B-C794218645DC}"/>
              </a:ext>
            </a:extLst>
          </p:cNvPr>
          <p:cNvPicPr>
            <a:picLocks noChangeAspect="1"/>
          </p:cNvPicPr>
          <p:nvPr/>
        </p:nvPicPr>
        <p:blipFill>
          <a:blip r:embed="rId6"/>
          <a:stretch>
            <a:fillRect/>
          </a:stretch>
        </p:blipFill>
        <p:spPr>
          <a:xfrm>
            <a:off x="2609650" y="2982077"/>
            <a:ext cx="4717189" cy="807790"/>
          </a:xfrm>
          <a:prstGeom prst="rect">
            <a:avLst/>
          </a:prstGeom>
        </p:spPr>
      </p:pic>
      <p:pic>
        <p:nvPicPr>
          <p:cNvPr id="43" name="图片 42">
            <a:extLst>
              <a:ext uri="{FF2B5EF4-FFF2-40B4-BE49-F238E27FC236}">
                <a16:creationId xmlns:a16="http://schemas.microsoft.com/office/drawing/2014/main" id="{E0B7DA84-EAA0-4FA4-A2A0-0452CD158FB9}"/>
              </a:ext>
            </a:extLst>
          </p:cNvPr>
          <p:cNvPicPr>
            <a:picLocks noChangeAspect="1"/>
          </p:cNvPicPr>
          <p:nvPr/>
        </p:nvPicPr>
        <p:blipFill>
          <a:blip r:embed="rId7"/>
          <a:stretch>
            <a:fillRect/>
          </a:stretch>
        </p:blipFill>
        <p:spPr>
          <a:xfrm>
            <a:off x="1207703" y="5223322"/>
            <a:ext cx="7745284" cy="807789"/>
          </a:xfrm>
          <a:prstGeom prst="rect">
            <a:avLst/>
          </a:prstGeom>
        </p:spPr>
      </p:pic>
      <p:cxnSp>
        <p:nvCxnSpPr>
          <p:cNvPr id="14" name="直接连接符 13">
            <a:extLst>
              <a:ext uri="{FF2B5EF4-FFF2-40B4-BE49-F238E27FC236}">
                <a16:creationId xmlns:a16="http://schemas.microsoft.com/office/drawing/2014/main" id="{CA3D175C-804C-45FB-86D5-B29721677169}"/>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6857C398-2BCF-49B2-9010-9B95D8193A94}"/>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6" name="文本框 15">
            <a:extLst>
              <a:ext uri="{FF2B5EF4-FFF2-40B4-BE49-F238E27FC236}">
                <a16:creationId xmlns:a16="http://schemas.microsoft.com/office/drawing/2014/main" id="{47CCB8A8-E4DB-4850-9CD7-D0447C26FC3D}"/>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7" name="矩形 16">
            <a:extLst>
              <a:ext uri="{FF2B5EF4-FFF2-40B4-BE49-F238E27FC236}">
                <a16:creationId xmlns:a16="http://schemas.microsoft.com/office/drawing/2014/main" id="{17591803-0E9D-4DBB-A5D6-3204AE6B474F}"/>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94AE2524-4A8F-4341-8160-7ECBBA0BF6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19" name="矩形 18">
            <a:extLst>
              <a:ext uri="{FF2B5EF4-FFF2-40B4-BE49-F238E27FC236}">
                <a16:creationId xmlns:a16="http://schemas.microsoft.com/office/drawing/2014/main" id="{AF2201AA-1768-4AC1-9B62-382B4CED592D}"/>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20" name="文本框 19">
            <a:extLst>
              <a:ext uri="{FF2B5EF4-FFF2-40B4-BE49-F238E27FC236}">
                <a16:creationId xmlns:a16="http://schemas.microsoft.com/office/drawing/2014/main" id="{2264AD9B-1A7E-4179-ADBE-7796A10CE372}"/>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1" name="文本框 20">
            <a:extLst>
              <a:ext uri="{FF2B5EF4-FFF2-40B4-BE49-F238E27FC236}">
                <a16:creationId xmlns:a16="http://schemas.microsoft.com/office/drawing/2014/main" id="{08F80236-88E2-432D-9C5E-43AD092A8F70}"/>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14614028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8" name="矩形: 剪去单角 57">
            <a:extLst>
              <a:ext uri="{FF2B5EF4-FFF2-40B4-BE49-F238E27FC236}">
                <a16:creationId xmlns:a16="http://schemas.microsoft.com/office/drawing/2014/main" id="{84D88F30-2C10-4CDA-B476-A4ED4244A0E5}"/>
              </a:ext>
            </a:extLst>
          </p:cNvPr>
          <p:cNvSpPr/>
          <p:nvPr/>
        </p:nvSpPr>
        <p:spPr>
          <a:xfrm flipH="1">
            <a:off x="297709" y="1709215"/>
            <a:ext cx="11748977" cy="5021193"/>
          </a:xfrm>
          <a:prstGeom prst="snip1Rect">
            <a:avLst>
              <a:gd name="adj" fmla="val 17589"/>
            </a:avLst>
          </a:prstGeom>
          <a:solidFill>
            <a:schemeClr val="accent5">
              <a:lumMod val="20000"/>
              <a:lumOff val="80000"/>
            </a:schemeClr>
          </a:solidFill>
          <a:ln>
            <a:solidFill>
              <a:schemeClr val="tx2">
                <a:lumMod val="75000"/>
              </a:schemeClr>
            </a:solid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9C84AB5D-293F-4B7C-AEB7-FBE4B9A47CC1}"/>
              </a:ext>
            </a:extLst>
          </p:cNvPr>
          <p:cNvGrpSpPr/>
          <p:nvPr/>
        </p:nvGrpSpPr>
        <p:grpSpPr>
          <a:xfrm>
            <a:off x="548517" y="1337460"/>
            <a:ext cx="11247359" cy="5495926"/>
            <a:chOff x="838200" y="681037"/>
            <a:chExt cx="11247359" cy="5495926"/>
          </a:xfrm>
        </p:grpSpPr>
        <p:sp>
          <p:nvSpPr>
            <p:cNvPr id="56" name="内容占位符 2">
              <a:extLst>
                <a:ext uri="{FF2B5EF4-FFF2-40B4-BE49-F238E27FC236}">
                  <a16:creationId xmlns:a16="http://schemas.microsoft.com/office/drawing/2014/main" id="{876F46E0-D766-45D1-8EB9-91E2D727C05C}"/>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动作的</a:t>
              </a:r>
              <a:r>
                <a:rPr lang="en-US" altLang="zh-CN" dirty="0"/>
                <a:t>Q</a:t>
              </a:r>
              <a:r>
                <a:rPr lang="zh-CN" altLang="en-US" dirty="0"/>
                <a:t>值函数定义：</a:t>
              </a:r>
              <a:endParaRPr lang="en-US" altLang="zh-CN" dirty="0"/>
            </a:p>
            <a:p>
              <a:r>
                <a:rPr lang="zh-CN" altLang="en-US" dirty="0"/>
                <a:t>可用于计算累计回报对</a:t>
              </a:r>
              <a:r>
                <a:rPr lang="zh-CN" altLang="en-US" dirty="0">
                  <a:solidFill>
                    <a:srgbClr val="FF0000"/>
                  </a:solidFill>
                </a:rPr>
                <a:t>下层</a:t>
              </a:r>
              <a:r>
                <a:rPr lang="en-US" altLang="zh-CN" dirty="0">
                  <a:solidFill>
                    <a:srgbClr val="FF0000"/>
                  </a:solidFill>
                </a:rPr>
                <a:t>termination</a:t>
              </a:r>
              <a:r>
                <a:rPr lang="zh-CN" altLang="en-US" dirty="0">
                  <a:solidFill>
                    <a:srgbClr val="FF0000"/>
                  </a:solidFill>
                </a:rPr>
                <a:t>网络的梯度</a:t>
              </a:r>
              <a:endParaRPr lang="en-US" altLang="zh-CN" dirty="0">
                <a:solidFill>
                  <a:srgbClr val="FF0000"/>
                </a:solidFill>
              </a:endParaRPr>
            </a:p>
            <a:p>
              <a:endParaRPr lang="en-US" altLang="zh-CN" dirty="0"/>
            </a:p>
            <a:p>
              <a:endParaRPr lang="en-US" altLang="zh-CN" dirty="0"/>
            </a:p>
            <a:p>
              <a:endParaRPr lang="en-US" altLang="zh-CN" dirty="0"/>
            </a:p>
            <a:p>
              <a:r>
                <a:rPr lang="zh-CN" altLang="en-US" dirty="0"/>
                <a:t>优势函数：</a:t>
              </a:r>
            </a:p>
          </p:txBody>
        </p:sp>
        <p:pic>
          <p:nvPicPr>
            <p:cNvPr id="57" name="图片 56">
              <a:extLst>
                <a:ext uri="{FF2B5EF4-FFF2-40B4-BE49-F238E27FC236}">
                  <a16:creationId xmlns:a16="http://schemas.microsoft.com/office/drawing/2014/main" id="{0E676BC5-83A0-44F6-9591-B03FC2CC58DC}"/>
                </a:ext>
              </a:extLst>
            </p:cNvPr>
            <p:cNvPicPr>
              <a:picLocks noChangeAspect="1"/>
            </p:cNvPicPr>
            <p:nvPr/>
          </p:nvPicPr>
          <p:blipFill>
            <a:blip r:embed="rId3"/>
            <a:stretch>
              <a:fillRect/>
            </a:stretch>
          </p:blipFill>
          <p:spPr>
            <a:xfrm>
              <a:off x="4491844" y="1564497"/>
              <a:ext cx="6985001" cy="807790"/>
            </a:xfrm>
            <a:prstGeom prst="rect">
              <a:avLst/>
            </a:prstGeom>
          </p:spPr>
        </p:pic>
        <p:sp>
          <p:nvSpPr>
            <p:cNvPr id="59" name="矩形 58">
              <a:extLst>
                <a:ext uri="{FF2B5EF4-FFF2-40B4-BE49-F238E27FC236}">
                  <a16:creationId xmlns:a16="http://schemas.microsoft.com/office/drawing/2014/main" id="{18145E4E-D730-4360-9091-ADDF50EC2B43}"/>
                </a:ext>
              </a:extLst>
            </p:cNvPr>
            <p:cNvSpPr/>
            <p:nvPr/>
          </p:nvSpPr>
          <p:spPr>
            <a:xfrm>
              <a:off x="9576903" y="681037"/>
              <a:ext cx="2508656" cy="704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下个状态的</a:t>
              </a:r>
              <a:r>
                <a:rPr lang="en-US" altLang="zh-CN" dirty="0"/>
                <a:t>Q</a:t>
              </a:r>
              <a:endParaRPr lang="zh-CN" altLang="en-US" dirty="0"/>
            </a:p>
          </p:txBody>
        </p:sp>
        <p:cxnSp>
          <p:nvCxnSpPr>
            <p:cNvPr id="60" name="直接箭头连接符 59">
              <a:extLst>
                <a:ext uri="{FF2B5EF4-FFF2-40B4-BE49-F238E27FC236}">
                  <a16:creationId xmlns:a16="http://schemas.microsoft.com/office/drawing/2014/main" id="{35D5615B-749E-4F62-B62F-0CB54D7A912C}"/>
                </a:ext>
              </a:extLst>
            </p:cNvPr>
            <p:cNvCxnSpPr>
              <a:cxnSpLocks/>
            </p:cNvCxnSpPr>
            <p:nvPr/>
          </p:nvCxnSpPr>
          <p:spPr>
            <a:xfrm flipV="1">
              <a:off x="10831231" y="1441414"/>
              <a:ext cx="90283" cy="319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08883104-42AD-4006-8CAF-6A4EEAD6C5C7}"/>
                </a:ext>
              </a:extLst>
            </p:cNvPr>
            <p:cNvPicPr>
              <a:picLocks noChangeAspect="1"/>
            </p:cNvPicPr>
            <p:nvPr/>
          </p:nvPicPr>
          <p:blipFill>
            <a:blip r:embed="rId4"/>
            <a:stretch>
              <a:fillRect/>
            </a:stretch>
          </p:blipFill>
          <p:spPr>
            <a:xfrm>
              <a:off x="994233" y="3089079"/>
              <a:ext cx="4915892" cy="782492"/>
            </a:xfrm>
            <a:prstGeom prst="rect">
              <a:avLst/>
            </a:prstGeom>
          </p:spPr>
        </p:pic>
        <p:pic>
          <p:nvPicPr>
            <p:cNvPr id="62" name="图片 61">
              <a:extLst>
                <a:ext uri="{FF2B5EF4-FFF2-40B4-BE49-F238E27FC236}">
                  <a16:creationId xmlns:a16="http://schemas.microsoft.com/office/drawing/2014/main" id="{338586B7-BBAD-4D4A-8093-9CA545F71D50}"/>
                </a:ext>
              </a:extLst>
            </p:cNvPr>
            <p:cNvPicPr>
              <a:picLocks noChangeAspect="1"/>
            </p:cNvPicPr>
            <p:nvPr/>
          </p:nvPicPr>
          <p:blipFill>
            <a:blip r:embed="rId5"/>
            <a:stretch>
              <a:fillRect/>
            </a:stretch>
          </p:blipFill>
          <p:spPr>
            <a:xfrm>
              <a:off x="5910125" y="3083965"/>
              <a:ext cx="4705535" cy="782492"/>
            </a:xfrm>
            <a:prstGeom prst="rect">
              <a:avLst/>
            </a:prstGeom>
          </p:spPr>
        </p:pic>
        <p:pic>
          <p:nvPicPr>
            <p:cNvPr id="63" name="图片 62">
              <a:extLst>
                <a:ext uri="{FF2B5EF4-FFF2-40B4-BE49-F238E27FC236}">
                  <a16:creationId xmlns:a16="http://schemas.microsoft.com/office/drawing/2014/main" id="{4504D23B-41DC-41C6-A514-55D023125ED5}"/>
                </a:ext>
              </a:extLst>
            </p:cNvPr>
            <p:cNvPicPr>
              <a:picLocks noChangeAspect="1"/>
            </p:cNvPicPr>
            <p:nvPr/>
          </p:nvPicPr>
          <p:blipFill>
            <a:blip r:embed="rId6"/>
            <a:stretch>
              <a:fillRect/>
            </a:stretch>
          </p:blipFill>
          <p:spPr>
            <a:xfrm>
              <a:off x="2955134" y="4244541"/>
              <a:ext cx="3140866" cy="687644"/>
            </a:xfrm>
            <a:prstGeom prst="rect">
              <a:avLst/>
            </a:prstGeom>
          </p:spPr>
        </p:pic>
        <p:pic>
          <p:nvPicPr>
            <p:cNvPr id="64" name="图片 63">
              <a:extLst>
                <a:ext uri="{FF2B5EF4-FFF2-40B4-BE49-F238E27FC236}">
                  <a16:creationId xmlns:a16="http://schemas.microsoft.com/office/drawing/2014/main" id="{C1C105AD-F5E2-4565-9495-379047881BF2}"/>
                </a:ext>
              </a:extLst>
            </p:cNvPr>
            <p:cNvPicPr>
              <a:picLocks noChangeAspect="1"/>
            </p:cNvPicPr>
            <p:nvPr/>
          </p:nvPicPr>
          <p:blipFill>
            <a:blip r:embed="rId7"/>
            <a:stretch>
              <a:fillRect/>
            </a:stretch>
          </p:blipFill>
          <p:spPr>
            <a:xfrm>
              <a:off x="1158360" y="5015891"/>
              <a:ext cx="2882838" cy="689583"/>
            </a:xfrm>
            <a:prstGeom prst="rect">
              <a:avLst/>
            </a:prstGeom>
          </p:spPr>
        </p:pic>
        <p:pic>
          <p:nvPicPr>
            <p:cNvPr id="65" name="图片 64">
              <a:extLst>
                <a:ext uri="{FF2B5EF4-FFF2-40B4-BE49-F238E27FC236}">
                  <a16:creationId xmlns:a16="http://schemas.microsoft.com/office/drawing/2014/main" id="{C06CACC9-6FD9-4983-B1C8-568B6617C164}"/>
                </a:ext>
              </a:extLst>
            </p:cNvPr>
            <p:cNvPicPr>
              <a:picLocks noChangeAspect="1"/>
            </p:cNvPicPr>
            <p:nvPr/>
          </p:nvPicPr>
          <p:blipFill>
            <a:blip r:embed="rId8"/>
            <a:stretch>
              <a:fillRect/>
            </a:stretch>
          </p:blipFill>
          <p:spPr>
            <a:xfrm>
              <a:off x="4763148" y="5161543"/>
              <a:ext cx="6713697" cy="704849"/>
            </a:xfrm>
            <a:prstGeom prst="rect">
              <a:avLst/>
            </a:prstGeom>
          </p:spPr>
        </p:pic>
      </p:grpSp>
      <p:cxnSp>
        <p:nvCxnSpPr>
          <p:cNvPr id="18" name="直接连接符 17">
            <a:extLst>
              <a:ext uri="{FF2B5EF4-FFF2-40B4-BE49-F238E27FC236}">
                <a16:creationId xmlns:a16="http://schemas.microsoft.com/office/drawing/2014/main" id="{353363A8-1ACB-471E-930F-240FBADD161A}"/>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ECD5A4C-61EC-4185-B914-7A9C61D01A4B}"/>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20" name="文本框 19">
            <a:extLst>
              <a:ext uri="{FF2B5EF4-FFF2-40B4-BE49-F238E27FC236}">
                <a16:creationId xmlns:a16="http://schemas.microsoft.com/office/drawing/2014/main" id="{1C5BF95D-E582-4984-84EA-8AEB97866C98}"/>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74C24EC0-E3AF-4AAC-8313-20FDFC3FF6C7}"/>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A4DD4D82-D1A9-4950-A3D4-C1233C0827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a:extLst>
              <a:ext uri="{FF2B5EF4-FFF2-40B4-BE49-F238E27FC236}">
                <a16:creationId xmlns:a16="http://schemas.microsoft.com/office/drawing/2014/main" id="{8114BABC-CAE5-4D06-9488-4EB418674513}"/>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24" name="文本框 23">
            <a:extLst>
              <a:ext uri="{FF2B5EF4-FFF2-40B4-BE49-F238E27FC236}">
                <a16:creationId xmlns:a16="http://schemas.microsoft.com/office/drawing/2014/main" id="{05F7620D-5B60-4699-9E92-9F415C21DB03}"/>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5" name="文本框 24">
            <a:extLst>
              <a:ext uri="{FF2B5EF4-FFF2-40B4-BE49-F238E27FC236}">
                <a16:creationId xmlns:a16="http://schemas.microsoft.com/office/drawing/2014/main" id="{4811B651-EDC0-4341-81F7-9CBBCC018B1E}"/>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14</a:t>
            </a:r>
          </a:p>
        </p:txBody>
      </p:sp>
    </p:spTree>
    <p:extLst>
      <p:ext uri="{BB962C8B-B14F-4D97-AF65-F5344CB8AC3E}">
        <p14:creationId xmlns:p14="http://schemas.microsoft.com/office/powerpoint/2010/main" val="21591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76502"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15</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1" name="文本框 20">
            <a:extLst>
              <a:ext uri="{FF2B5EF4-FFF2-40B4-BE49-F238E27FC236}">
                <a16:creationId xmlns:a16="http://schemas.microsoft.com/office/drawing/2014/main" id="{6B4152D7-2A61-4993-9E5D-4D2C2CDA0A6F}"/>
              </a:ext>
            </a:extLst>
          </p:cNvPr>
          <p:cNvSpPr txBox="1"/>
          <p:nvPr/>
        </p:nvSpPr>
        <p:spPr>
          <a:xfrm>
            <a:off x="586905" y="1619544"/>
            <a:ext cx="5047079" cy="461665"/>
          </a:xfrm>
          <a:prstGeom prst="rect">
            <a:avLst/>
          </a:prstGeom>
          <a:noFill/>
        </p:spPr>
        <p:txBody>
          <a:bodyPr wrap="square">
            <a:spAutoFit/>
          </a:bodyPr>
          <a:lstStyle/>
          <a:p>
            <a:pPr algn="just"/>
            <a:r>
              <a:rPr lang="en-US" altLang="zh-CN" sz="2400" b="1" dirty="0">
                <a:solidFill>
                  <a:schemeClr val="accent1">
                    <a:lumMod val="50000"/>
                  </a:schemeClr>
                </a:solidFill>
                <a:latin typeface="Arial" panose="020B0604020202020204" pitchFamily="34" charset="0"/>
                <a:ea typeface="微软雅黑" panose="020B0503020204020204" pitchFamily="34" charset="-122"/>
              </a:rPr>
              <a:t>1</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，上层</a:t>
            </a:r>
            <a:r>
              <a:rPr lang="en-US" altLang="zh-CN" sz="2400" b="1" dirty="0">
                <a:solidFill>
                  <a:schemeClr val="accent1">
                    <a:lumMod val="50000"/>
                  </a:schemeClr>
                </a:solidFill>
                <a:latin typeface="Arial" panose="020B0604020202020204" pitchFamily="34" charset="0"/>
                <a:ea typeface="微软雅黑" panose="020B0503020204020204" pitchFamily="34" charset="-122"/>
              </a:rPr>
              <a:t>Critic</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endParaRPr lang="en-US" altLang="zh-CN" sz="20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24" name="文本框 23">
            <a:extLst>
              <a:ext uri="{FF2B5EF4-FFF2-40B4-BE49-F238E27FC236}">
                <a16:creationId xmlns:a16="http://schemas.microsoft.com/office/drawing/2014/main" id="{73557402-EBEB-432D-A812-C346E095F273}"/>
              </a:ext>
            </a:extLst>
          </p:cNvPr>
          <p:cNvSpPr txBox="1"/>
          <p:nvPr/>
        </p:nvSpPr>
        <p:spPr>
          <a:xfrm>
            <a:off x="767774" y="2130156"/>
            <a:ext cx="10223210" cy="83099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处理接收的信息，对每个</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进行评价，即计算每个状态下每个</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的</a:t>
            </a:r>
            <a:r>
              <a:rPr lang="en-US" altLang="zh-CN" sz="2400" b="1" dirty="0">
                <a:solidFill>
                  <a:schemeClr val="accent1">
                    <a:lumMod val="50000"/>
                  </a:schemeClr>
                </a:solidFill>
                <a:latin typeface="Arial" panose="020B0604020202020204" pitchFamily="34" charset="0"/>
                <a:ea typeface="微软雅黑" panose="020B0503020204020204" pitchFamily="34" charset="-122"/>
              </a:rPr>
              <a:t>Q</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值；</a:t>
            </a:r>
          </a:p>
        </p:txBody>
      </p:sp>
      <p:sp>
        <p:nvSpPr>
          <p:cNvPr id="25" name="文本框 24">
            <a:extLst>
              <a:ext uri="{FF2B5EF4-FFF2-40B4-BE49-F238E27FC236}">
                <a16:creationId xmlns:a16="http://schemas.microsoft.com/office/drawing/2014/main" id="{34C9C2A4-6F97-4513-B657-C607981B6121}"/>
              </a:ext>
            </a:extLst>
          </p:cNvPr>
          <p:cNvSpPr txBox="1"/>
          <p:nvPr/>
        </p:nvSpPr>
        <p:spPr>
          <a:xfrm>
            <a:off x="2186422" y="4447231"/>
            <a:ext cx="7373496" cy="461665"/>
          </a:xfrm>
          <a:prstGeom prst="rect">
            <a:avLst/>
          </a:prstGeom>
          <a:noFill/>
        </p:spPr>
        <p:txBody>
          <a:bodyPr wrap="square">
            <a:spAutoFit/>
          </a:bodyPr>
          <a:lstStyle/>
          <a:p>
            <a:pPr algn="just"/>
            <a:r>
              <a:rPr lang="en-US" altLang="zh-CN" sz="2400" b="1" dirty="0">
                <a:solidFill>
                  <a:schemeClr val="accent1">
                    <a:lumMod val="50000"/>
                  </a:schemeClr>
                </a:solidFill>
                <a:latin typeface="Arial" panose="020B0604020202020204" pitchFamily="34" charset="0"/>
                <a:ea typeface="微软雅黑" panose="020B0503020204020204" pitchFamily="34" charset="-122"/>
              </a:rPr>
              <a:t>2</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，下层</a:t>
            </a:r>
            <a:r>
              <a:rPr lang="en-US" altLang="zh-CN" sz="2400" b="1" dirty="0">
                <a:solidFill>
                  <a:schemeClr val="accent1">
                    <a:lumMod val="50000"/>
                  </a:schemeClr>
                </a:solidFill>
                <a:latin typeface="Arial" panose="020B0604020202020204" pitchFamily="34" charset="0"/>
                <a:ea typeface="微软雅黑" panose="020B0503020204020204" pitchFamily="34" charset="-122"/>
              </a:rPr>
              <a:t>Actor</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endParaRPr lang="en-US" altLang="zh-CN" sz="20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27" name="文本框 26">
            <a:extLst>
              <a:ext uri="{FF2B5EF4-FFF2-40B4-BE49-F238E27FC236}">
                <a16:creationId xmlns:a16="http://schemas.microsoft.com/office/drawing/2014/main" id="{66C4DBAA-7A29-4ED0-901F-3D745631CBB0}"/>
              </a:ext>
            </a:extLst>
          </p:cNvPr>
          <p:cNvSpPr txBox="1"/>
          <p:nvPr/>
        </p:nvSpPr>
        <p:spPr>
          <a:xfrm>
            <a:off x="767773" y="3042304"/>
            <a:ext cx="9994962"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根据</a:t>
            </a:r>
            <a:r>
              <a:rPr lang="en-US" altLang="zh-CN" sz="2400" b="1" dirty="0">
                <a:solidFill>
                  <a:schemeClr val="accent1">
                    <a:lumMod val="50000"/>
                  </a:schemeClr>
                </a:solidFill>
                <a:latin typeface="Arial" panose="020B0604020202020204" pitchFamily="34" charset="0"/>
                <a:ea typeface="微软雅黑" panose="020B0503020204020204" pitchFamily="34" charset="-122"/>
              </a:rPr>
              <a:t>Q</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值根据一定策略（</a:t>
            </a:r>
            <a:r>
              <a:rPr lang="en-US" altLang="zh-CN" sz="2400" b="1" dirty="0">
                <a:solidFill>
                  <a:schemeClr val="accent1">
                    <a:lumMod val="50000"/>
                  </a:schemeClr>
                </a:solidFill>
                <a:latin typeface="Arial" panose="020B0604020202020204" pitchFamily="34" charset="0"/>
                <a:ea typeface="微软雅黑" panose="020B0503020204020204" pitchFamily="34" charset="-122"/>
              </a:rPr>
              <a:t>epsilon-greedy</a:t>
            </a:r>
            <a:r>
              <a:rPr lang="zh-CN" altLang="en-US" sz="2400" b="1" dirty="0">
                <a:solidFill>
                  <a:schemeClr val="accent1">
                    <a:lumMod val="50000"/>
                  </a:schemeClr>
                </a:solidFill>
                <a:latin typeface="Arial" panose="020B0604020202020204" pitchFamily="34" charset="0"/>
                <a:ea typeface="微软雅黑" panose="020B0503020204020204" pitchFamily="34" charset="-122"/>
              </a:rPr>
              <a:t>）选择</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p>
        </p:txBody>
      </p:sp>
      <p:sp>
        <p:nvSpPr>
          <p:cNvPr id="28" name="文本框 27">
            <a:extLst>
              <a:ext uri="{FF2B5EF4-FFF2-40B4-BE49-F238E27FC236}">
                <a16:creationId xmlns:a16="http://schemas.microsoft.com/office/drawing/2014/main" id="{22F59755-C2DA-4FF7-AC32-C779E9ED2778}"/>
              </a:ext>
            </a:extLst>
          </p:cNvPr>
          <p:cNvSpPr txBox="1"/>
          <p:nvPr/>
        </p:nvSpPr>
        <p:spPr>
          <a:xfrm>
            <a:off x="2186422" y="5148598"/>
            <a:ext cx="6430627"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根据选择的</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执行具体动作；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计算何时停止此</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采用新的</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a:t>
            </a:r>
          </a:p>
        </p:txBody>
      </p:sp>
      <p:sp>
        <p:nvSpPr>
          <p:cNvPr id="30" name="文本框 29">
            <a:extLst>
              <a:ext uri="{FF2B5EF4-FFF2-40B4-BE49-F238E27FC236}">
                <a16:creationId xmlns:a16="http://schemas.microsoft.com/office/drawing/2014/main" id="{9EF6F0DF-531B-418C-B436-A99AD8897F76}"/>
              </a:ext>
            </a:extLst>
          </p:cNvPr>
          <p:cNvSpPr txBox="1"/>
          <p:nvPr/>
        </p:nvSpPr>
        <p:spPr>
          <a:xfrm>
            <a:off x="6090920" y="4485350"/>
            <a:ext cx="3286199" cy="461665"/>
          </a:xfrm>
          <a:prstGeom prst="rect">
            <a:avLst/>
          </a:prstGeom>
          <a:noFill/>
        </p:spPr>
        <p:txBody>
          <a:bodyPr wrap="square" rtlCol="0">
            <a:spAutoFit/>
          </a:bodyPr>
          <a:lstStyle/>
          <a:p>
            <a:pPr algn="ctr"/>
            <a:r>
              <a:rPr lang="zh-CN" altLang="en-US" sz="2400" b="1" dirty="0">
                <a:solidFill>
                  <a:srgbClr val="FF0000"/>
                </a:solidFill>
                <a:latin typeface="Arial" panose="020B0604020202020204" pitchFamily="34" charset="0"/>
                <a:ea typeface="微软雅黑" panose="020B0503020204020204" pitchFamily="34" charset="-122"/>
              </a:rPr>
              <a:t>状态转移需要的时间</a:t>
            </a:r>
          </a:p>
        </p:txBody>
      </p:sp>
      <p:sp>
        <p:nvSpPr>
          <p:cNvPr id="31" name="箭头: 下 30">
            <a:extLst>
              <a:ext uri="{FF2B5EF4-FFF2-40B4-BE49-F238E27FC236}">
                <a16:creationId xmlns:a16="http://schemas.microsoft.com/office/drawing/2014/main" id="{52ADB2F3-A6BA-4808-A096-430FF4753E0D}"/>
              </a:ext>
            </a:extLst>
          </p:cNvPr>
          <p:cNvSpPr/>
          <p:nvPr/>
        </p:nvSpPr>
        <p:spPr>
          <a:xfrm rot="10800000">
            <a:off x="7719635" y="5084306"/>
            <a:ext cx="219662" cy="853323"/>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 name="箭头: 下 2">
            <a:extLst>
              <a:ext uri="{FF2B5EF4-FFF2-40B4-BE49-F238E27FC236}">
                <a16:creationId xmlns:a16="http://schemas.microsoft.com/office/drawing/2014/main" id="{FFB702FE-B761-450E-81D7-5B9DD6F560CB}"/>
              </a:ext>
            </a:extLst>
          </p:cNvPr>
          <p:cNvSpPr/>
          <p:nvPr/>
        </p:nvSpPr>
        <p:spPr>
          <a:xfrm>
            <a:off x="5032837" y="3781378"/>
            <a:ext cx="628233" cy="461665"/>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58" name="圆角矩形 47">
            <a:extLst>
              <a:ext uri="{FF2B5EF4-FFF2-40B4-BE49-F238E27FC236}">
                <a16:creationId xmlns:a16="http://schemas.microsoft.com/office/drawing/2014/main" id="{1F9BAABE-8AA7-4C50-9F6B-9F3E0763CD13}"/>
              </a:ext>
            </a:extLst>
          </p:cNvPr>
          <p:cNvSpPr/>
          <p:nvPr/>
        </p:nvSpPr>
        <p:spPr>
          <a:xfrm>
            <a:off x="470525" y="1512379"/>
            <a:ext cx="10520459" cy="2131708"/>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59" name="圆角矩形 47">
            <a:extLst>
              <a:ext uri="{FF2B5EF4-FFF2-40B4-BE49-F238E27FC236}">
                <a16:creationId xmlns:a16="http://schemas.microsoft.com/office/drawing/2014/main" id="{22D848E5-D588-4084-BCE7-B7BFD946713F}"/>
              </a:ext>
            </a:extLst>
          </p:cNvPr>
          <p:cNvSpPr/>
          <p:nvPr/>
        </p:nvSpPr>
        <p:spPr>
          <a:xfrm>
            <a:off x="1849149" y="4409112"/>
            <a:ext cx="8046520" cy="2213493"/>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371743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65332557-1DB7-4892-B74F-CC259AA3D9F3}"/>
              </a:ext>
            </a:extLst>
          </p:cNvPr>
          <p:cNvSpPr/>
          <p:nvPr/>
        </p:nvSpPr>
        <p:spPr>
          <a:xfrm>
            <a:off x="733270" y="1625731"/>
            <a:ext cx="5631611" cy="2800767"/>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5" name="文本框 34">
            <a:extLst>
              <a:ext uri="{FF2B5EF4-FFF2-40B4-BE49-F238E27FC236}">
                <a16:creationId xmlns:a16="http://schemas.microsoft.com/office/drawing/2014/main" id="{54728B0F-B3E3-43E7-80A0-9AD8A1FA6219}"/>
              </a:ext>
            </a:extLst>
          </p:cNvPr>
          <p:cNvSpPr txBox="1"/>
          <p:nvPr/>
        </p:nvSpPr>
        <p:spPr>
          <a:xfrm>
            <a:off x="909541" y="1968715"/>
            <a:ext cx="4049507" cy="461665"/>
          </a:xfrm>
          <a:prstGeom prst="rect">
            <a:avLst/>
          </a:prstGeom>
          <a:noFill/>
        </p:spPr>
        <p:txBody>
          <a:bodyPr wrap="none" rtlCol="0">
            <a:spAutoFit/>
          </a:bodyPr>
          <a:lstStyle/>
          <a:p>
            <a:r>
              <a:rPr lang="en-US" altLang="zh-CN" sz="2400" b="1" dirty="0">
                <a:solidFill>
                  <a:schemeClr val="accent1">
                    <a:lumMod val="50000"/>
                  </a:schemeClr>
                </a:solidFill>
                <a:latin typeface="Arial" panose="020B0604020202020204" pitchFamily="34" charset="0"/>
                <a:ea typeface="微软雅黑" panose="020B0503020204020204" pitchFamily="34" charset="-122"/>
              </a:rPr>
              <a:t>1</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，下层进一步缩小动作空间</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36" name="文本框 35">
            <a:extLst>
              <a:ext uri="{FF2B5EF4-FFF2-40B4-BE49-F238E27FC236}">
                <a16:creationId xmlns:a16="http://schemas.microsoft.com/office/drawing/2014/main" id="{FA6D5893-2E9C-4FD7-9C98-C156EB26F699}"/>
              </a:ext>
            </a:extLst>
          </p:cNvPr>
          <p:cNvSpPr txBox="1"/>
          <p:nvPr/>
        </p:nvSpPr>
        <p:spPr>
          <a:xfrm>
            <a:off x="6867859" y="1988617"/>
            <a:ext cx="4185761" cy="461665"/>
          </a:xfrm>
          <a:prstGeom prst="rect">
            <a:avLst/>
          </a:prstGeom>
          <a:noFill/>
        </p:spPr>
        <p:txBody>
          <a:bodyPr wrap="none" rtlCol="0">
            <a:spAutoFit/>
          </a:bodyPr>
          <a:lstStyle/>
          <a:p>
            <a:r>
              <a:rPr lang="en-US" altLang="zh-CN" sz="2400" b="1" dirty="0">
                <a:solidFill>
                  <a:schemeClr val="accent1">
                    <a:lumMod val="50000"/>
                  </a:schemeClr>
                </a:solidFill>
                <a:latin typeface="Arial" panose="020B0604020202020204" pitchFamily="34" charset="0"/>
                <a:ea typeface="微软雅黑" panose="020B0503020204020204" pitchFamily="34" charset="-122"/>
              </a:rPr>
              <a:t>2</a:t>
            </a:r>
            <a:r>
              <a:rPr lang="zh-CN" altLang="en-US" sz="2400" b="1" dirty="0">
                <a:solidFill>
                  <a:schemeClr val="accent1">
                    <a:lumMod val="50000"/>
                  </a:schemeClr>
                </a:solidFill>
                <a:latin typeface="Arial" panose="020B0604020202020204" pitchFamily="34" charset="0"/>
                <a:ea typeface="微软雅黑" panose="020B0503020204020204" pitchFamily="34" charset="-122"/>
              </a:rPr>
              <a:t>，规则代替</a:t>
            </a:r>
            <a:r>
              <a:rPr lang="en-US" altLang="zh-CN" sz="2400" b="1" dirty="0">
                <a:solidFill>
                  <a:schemeClr val="accent1">
                    <a:lumMod val="50000"/>
                  </a:schemeClr>
                </a:solidFill>
                <a:latin typeface="Arial" panose="020B0604020202020204" pitchFamily="34" charset="0"/>
                <a:ea typeface="微软雅黑" panose="020B0503020204020204" pitchFamily="34" charset="-122"/>
              </a:rPr>
              <a:t>termination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网络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37" name="文本框 36">
            <a:extLst>
              <a:ext uri="{FF2B5EF4-FFF2-40B4-BE49-F238E27FC236}">
                <a16:creationId xmlns:a16="http://schemas.microsoft.com/office/drawing/2014/main" id="{8B7D498E-D248-4653-98DF-D7F9A8D78205}"/>
              </a:ext>
            </a:extLst>
          </p:cNvPr>
          <p:cNvSpPr txBox="1"/>
          <p:nvPr/>
        </p:nvSpPr>
        <p:spPr>
          <a:xfrm>
            <a:off x="909545" y="5032079"/>
            <a:ext cx="3897221" cy="461665"/>
          </a:xfrm>
          <a:prstGeom prst="rect">
            <a:avLst/>
          </a:prstGeom>
          <a:noFill/>
        </p:spPr>
        <p:txBody>
          <a:bodyPr wrap="none" rtlCol="0">
            <a:spAutoFit/>
          </a:bodyPr>
          <a:lstStyle/>
          <a:p>
            <a:r>
              <a:rPr lang="en-US" altLang="zh-CN" sz="2400" b="1" dirty="0">
                <a:solidFill>
                  <a:schemeClr val="accent1">
                    <a:lumMod val="50000"/>
                  </a:schemeClr>
                </a:solidFill>
                <a:latin typeface="Arial" panose="020B0604020202020204" pitchFamily="34" charset="0"/>
                <a:ea typeface="微软雅黑" panose="020B0503020204020204" pitchFamily="34" charset="-122"/>
              </a:rPr>
              <a:t>3</a:t>
            </a:r>
            <a:r>
              <a:rPr lang="zh-CN" altLang="en-US" sz="2400" b="1" dirty="0">
                <a:solidFill>
                  <a:schemeClr val="accent1">
                    <a:lumMod val="50000"/>
                  </a:schemeClr>
                </a:solidFill>
                <a:latin typeface="Arial" panose="020B0604020202020204" pitchFamily="34" charset="0"/>
                <a:ea typeface="微软雅黑" panose="020B0503020204020204" pitchFamily="34" charset="-122"/>
              </a:rPr>
              <a:t>，发射作为各</a:t>
            </a: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之一</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38" name="文本框 37">
            <a:extLst>
              <a:ext uri="{FF2B5EF4-FFF2-40B4-BE49-F238E27FC236}">
                <a16:creationId xmlns:a16="http://schemas.microsoft.com/office/drawing/2014/main" id="{3D2224BE-F118-48B6-872E-BD0A6AD0C588}"/>
              </a:ext>
            </a:extLst>
          </p:cNvPr>
          <p:cNvSpPr txBox="1"/>
          <p:nvPr/>
        </p:nvSpPr>
        <p:spPr>
          <a:xfrm>
            <a:off x="909541" y="2760561"/>
            <a:ext cx="5455340" cy="1200329"/>
          </a:xfrm>
          <a:prstGeom prst="rect">
            <a:avLst/>
          </a:prstGeom>
          <a:noFill/>
        </p:spPr>
        <p:txBody>
          <a:bodyPr wrap="none" rtlCol="0">
            <a:spAutoFit/>
          </a:bodyPr>
          <a:lstStyle/>
          <a:p>
            <a:pPr marL="342900" indent="-342900">
              <a:buFont typeface="Arial" panose="020B0604020202020204" pitchFamily="34" charset="0"/>
              <a:buChar char="•"/>
            </a:pPr>
            <a:r>
              <a:rPr lang="en-US" altLang="zh-CN" sz="2400" b="1" dirty="0">
                <a:solidFill>
                  <a:schemeClr val="accent1">
                    <a:lumMod val="50000"/>
                  </a:schemeClr>
                </a:solidFill>
                <a:latin typeface="Arial" panose="020B0604020202020204" pitchFamily="34" charset="0"/>
                <a:ea typeface="微软雅黑" panose="020B0503020204020204" pitchFamily="34" charset="-122"/>
              </a:rPr>
              <a:t>option</a:t>
            </a:r>
            <a:r>
              <a:rPr lang="zh-CN" altLang="en-US" sz="2400" b="1" dirty="0">
                <a:solidFill>
                  <a:schemeClr val="accent1">
                    <a:lumMod val="50000"/>
                  </a:schemeClr>
                </a:solidFill>
                <a:latin typeface="Arial" panose="020B0604020202020204" pitchFamily="34" charset="0"/>
                <a:ea typeface="微软雅黑" panose="020B0503020204020204" pitchFamily="34" charset="-122"/>
              </a:rPr>
              <a:t>通过</a:t>
            </a:r>
            <a:r>
              <a:rPr lang="zh-CN" altLang="en-US" sz="2400" b="1" dirty="0">
                <a:solidFill>
                  <a:srgbClr val="FF0000"/>
                </a:solidFill>
                <a:latin typeface="Arial" panose="020B0604020202020204" pitchFamily="34" charset="0"/>
                <a:ea typeface="微软雅黑" panose="020B0503020204020204" pitchFamily="34" charset="-122"/>
              </a:rPr>
              <a:t>专家知识</a:t>
            </a:r>
            <a:r>
              <a:rPr lang="zh-CN" altLang="en-US" sz="2400" b="1" dirty="0">
                <a:solidFill>
                  <a:schemeClr val="accent1">
                    <a:lumMod val="50000"/>
                  </a:schemeClr>
                </a:solidFill>
                <a:latin typeface="Arial" panose="020B0604020202020204" pitchFamily="34" charset="0"/>
                <a:ea typeface="微软雅黑" panose="020B0503020204020204" pitchFamily="34" charset="-122"/>
              </a:rPr>
              <a:t>设计机动动作</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下层网络产生</a:t>
            </a:r>
            <a:r>
              <a:rPr lang="zh-CN" altLang="en-US" sz="2400" b="1" dirty="0">
                <a:solidFill>
                  <a:srgbClr val="FF0000"/>
                </a:solidFill>
                <a:latin typeface="Arial" panose="020B0604020202020204" pitchFamily="34" charset="0"/>
                <a:ea typeface="微软雅黑" panose="020B0503020204020204" pitchFamily="34" charset="-122"/>
              </a:rPr>
              <a:t>机动参数：</a:t>
            </a:r>
            <a:r>
              <a:rPr lang="zh-CN" altLang="en-US" sz="2400" b="1" dirty="0">
                <a:solidFill>
                  <a:schemeClr val="accent1">
                    <a:lumMod val="50000"/>
                  </a:schemeClr>
                </a:solidFill>
                <a:latin typeface="Arial" panose="020B0604020202020204" pitchFamily="34" charset="0"/>
                <a:ea typeface="微软雅黑" panose="020B0503020204020204" pitchFamily="34" charset="-122"/>
              </a:rPr>
              <a:t>过载、角度</a:t>
            </a:r>
            <a:endParaRPr lang="en-US" altLang="zh-CN" sz="2400" b="1" dirty="0">
              <a:solidFill>
                <a:srgbClr val="FF0000"/>
              </a:solidFill>
              <a:latin typeface="Arial" panose="020B0604020202020204" pitchFamily="34" charset="0"/>
              <a:ea typeface="微软雅黑" panose="020B0503020204020204" pitchFamily="34" charset="-122"/>
            </a:endParaRPr>
          </a:p>
        </p:txBody>
      </p:sp>
      <p:sp>
        <p:nvSpPr>
          <p:cNvPr id="39" name="文本框 38">
            <a:extLst>
              <a:ext uri="{FF2B5EF4-FFF2-40B4-BE49-F238E27FC236}">
                <a16:creationId xmlns:a16="http://schemas.microsoft.com/office/drawing/2014/main" id="{C42A7F34-3AFB-4828-AF89-30E723C81204}"/>
              </a:ext>
            </a:extLst>
          </p:cNvPr>
          <p:cNvSpPr txBox="1"/>
          <p:nvPr/>
        </p:nvSpPr>
        <p:spPr>
          <a:xfrm>
            <a:off x="6671300" y="2681493"/>
            <a:ext cx="5314275" cy="2800767"/>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半马尔可夫过程中的状态</a:t>
            </a:r>
            <a:r>
              <a:rPr lang="zh-CN" altLang="en-US" sz="2400" b="1" dirty="0">
                <a:solidFill>
                  <a:srgbClr val="FF0000"/>
                </a:solidFill>
                <a:latin typeface="Arial" panose="020B0604020202020204" pitchFamily="34" charset="0"/>
                <a:ea typeface="微软雅黑" panose="020B0503020204020204" pitchFamily="34" charset="-122"/>
              </a:rPr>
              <a:t>转移时间</a:t>
            </a:r>
            <a:endParaRPr lang="en-US" altLang="zh-CN" sz="2400" b="1" dirty="0">
              <a:solidFill>
                <a:srgbClr val="FF0000"/>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用网络难以收敛：</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a:p>
            <a:pPr marL="800100" lvl="1" indent="-342900">
              <a:buFont typeface="Arial" panose="020B0604020202020204" pitchFamily="34" charset="0"/>
              <a:buChar char="•"/>
            </a:pPr>
            <a:r>
              <a:rPr lang="zh-CN" altLang="en-US" sz="2000" b="1" dirty="0">
                <a:solidFill>
                  <a:srgbClr val="FF0000"/>
                </a:solidFill>
                <a:latin typeface="Arial" panose="020B0604020202020204" pitchFamily="34" charset="0"/>
                <a:ea typeface="微软雅黑" panose="020B0503020204020204" pitchFamily="34" charset="-122"/>
              </a:rPr>
              <a:t>耦合性强</a:t>
            </a:r>
            <a:endParaRPr lang="en-US" altLang="zh-CN" sz="2000" b="1" dirty="0">
              <a:solidFill>
                <a:srgbClr val="FF0000"/>
              </a:solidFill>
              <a:latin typeface="Arial" panose="020B0604020202020204" pitchFamily="34" charset="0"/>
              <a:ea typeface="微软雅黑" panose="020B0503020204020204" pitchFamily="34" charset="-122"/>
            </a:endParaRPr>
          </a:p>
          <a:p>
            <a:pPr marL="800100" lvl="1" indent="-342900">
              <a:buFont typeface="Arial" panose="020B0604020202020204" pitchFamily="34" charset="0"/>
              <a:buChar char="•"/>
            </a:pPr>
            <a:r>
              <a:rPr lang="zh-CN" altLang="en-US" sz="2000" b="1" dirty="0">
                <a:solidFill>
                  <a:schemeClr val="accent1">
                    <a:lumMod val="50000"/>
                  </a:schemeClr>
                </a:solidFill>
                <a:latin typeface="Arial" panose="020B0604020202020204" pitchFamily="34" charset="0"/>
                <a:ea typeface="微软雅黑" panose="020B0503020204020204" pitchFamily="34" charset="-122"/>
              </a:rPr>
              <a:t>不好评价</a:t>
            </a:r>
            <a:endParaRPr lang="en-US" altLang="zh-CN" sz="2000" b="1" dirty="0">
              <a:solidFill>
                <a:schemeClr val="accent1">
                  <a:lumMod val="50000"/>
                </a:schemeClr>
              </a:solidFill>
              <a:latin typeface="Arial" panose="020B0604020202020204" pitchFamily="34" charset="0"/>
              <a:ea typeface="微软雅黑" panose="020B0503020204020204" pitchFamily="34" charset="-122"/>
            </a:endParaRPr>
          </a:p>
          <a:p>
            <a:pPr marL="800100" lvl="1" indent="-342900">
              <a:buFont typeface="Arial" panose="020B0604020202020204" pitchFamily="34" charset="0"/>
              <a:buChar char="•"/>
            </a:pPr>
            <a:r>
              <a:rPr lang="zh-CN" altLang="en-US" sz="2000" b="1" dirty="0">
                <a:solidFill>
                  <a:schemeClr val="accent1">
                    <a:lumMod val="50000"/>
                  </a:schemeClr>
                </a:solidFill>
                <a:latin typeface="Arial" panose="020B0604020202020204" pitchFamily="34" charset="0"/>
                <a:ea typeface="微软雅黑" panose="020B0503020204020204" pitchFamily="34" charset="-122"/>
              </a:rPr>
              <a:t>与状态关系不够强</a:t>
            </a:r>
            <a:endParaRPr lang="en-US" altLang="zh-CN" sz="20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endParaRPr lang="en-US" altLang="zh-CN" sz="2000" b="1" dirty="0">
              <a:solidFill>
                <a:schemeClr val="accent1">
                  <a:lumMod val="50000"/>
                </a:schemeClr>
              </a:solidFill>
              <a:latin typeface="Arial" panose="020B0604020202020204" pitchFamily="34" charset="0"/>
              <a:ea typeface="微软雅黑" panose="020B0503020204020204" pitchFamily="34" charset="-122"/>
            </a:endParaRPr>
          </a:p>
          <a:p>
            <a:pPr marL="342900" indent="-342900">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微软雅黑" panose="020B0503020204020204" pitchFamily="34" charset="-122"/>
              </a:rPr>
              <a:t>用模糊规则代替</a:t>
            </a:r>
            <a:endParaRPr lang="en-US" altLang="zh-CN" sz="2400" b="1" dirty="0">
              <a:solidFill>
                <a:schemeClr val="accent1">
                  <a:lumMod val="50000"/>
                </a:schemeClr>
              </a:solidFill>
              <a:latin typeface="Arial" panose="020B0604020202020204" pitchFamily="34" charset="0"/>
              <a:ea typeface="微软雅黑" panose="020B0503020204020204" pitchFamily="34" charset="-122"/>
            </a:endParaRPr>
          </a:p>
        </p:txBody>
      </p:sp>
      <p:sp>
        <p:nvSpPr>
          <p:cNvPr id="40" name="圆角矩形 47">
            <a:extLst>
              <a:ext uri="{FF2B5EF4-FFF2-40B4-BE49-F238E27FC236}">
                <a16:creationId xmlns:a16="http://schemas.microsoft.com/office/drawing/2014/main" id="{A0CAE4B3-7201-4B5F-9947-4879157E6D5F}"/>
              </a:ext>
            </a:extLst>
          </p:cNvPr>
          <p:cNvSpPr/>
          <p:nvPr/>
        </p:nvSpPr>
        <p:spPr>
          <a:xfrm>
            <a:off x="6541153" y="1481808"/>
            <a:ext cx="5314276" cy="4389770"/>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1" name="圆角矩形 47">
            <a:extLst>
              <a:ext uri="{FF2B5EF4-FFF2-40B4-BE49-F238E27FC236}">
                <a16:creationId xmlns:a16="http://schemas.microsoft.com/office/drawing/2014/main" id="{8D126BF2-E333-4AF5-97B0-1AC4C87E3973}"/>
              </a:ext>
            </a:extLst>
          </p:cNvPr>
          <p:cNvSpPr/>
          <p:nvPr/>
        </p:nvSpPr>
        <p:spPr>
          <a:xfrm>
            <a:off x="733269" y="4769483"/>
            <a:ext cx="5677738" cy="1001122"/>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1" name="文本框 20">
            <a:extLst>
              <a:ext uri="{FF2B5EF4-FFF2-40B4-BE49-F238E27FC236}">
                <a16:creationId xmlns:a16="http://schemas.microsoft.com/office/drawing/2014/main" id="{3E237374-EF4B-4DE0-98C1-DAFA7B12A596}"/>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16</a:t>
            </a:r>
          </a:p>
        </p:txBody>
      </p:sp>
    </p:spTree>
    <p:extLst>
      <p:ext uri="{BB962C8B-B14F-4D97-AF65-F5344CB8AC3E}">
        <p14:creationId xmlns:p14="http://schemas.microsoft.com/office/powerpoint/2010/main" val="406889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48088"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17</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5" y="986422"/>
            <a:ext cx="6562396"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95" name="矩形 94">
            <a:extLst>
              <a:ext uri="{FF2B5EF4-FFF2-40B4-BE49-F238E27FC236}">
                <a16:creationId xmlns:a16="http://schemas.microsoft.com/office/drawing/2014/main" id="{CE45F256-B085-49A0-A0AE-DCD1A0059F09}"/>
              </a:ext>
            </a:extLst>
          </p:cNvPr>
          <p:cNvSpPr/>
          <p:nvPr/>
        </p:nvSpPr>
        <p:spPr>
          <a:xfrm>
            <a:off x="7715340" y="2336039"/>
            <a:ext cx="3435345" cy="3589049"/>
          </a:xfrm>
          <a:prstGeom prst="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solidFill>
                <a:srgbClr val="FF0000"/>
              </a:solidFill>
            </a:endParaRPr>
          </a:p>
        </p:txBody>
      </p:sp>
      <p:sp>
        <p:nvSpPr>
          <p:cNvPr id="110" name="文本框 109">
            <a:extLst>
              <a:ext uri="{FF2B5EF4-FFF2-40B4-BE49-F238E27FC236}">
                <a16:creationId xmlns:a16="http://schemas.microsoft.com/office/drawing/2014/main" id="{9BCA12DF-5FAB-4059-B6D4-75F688511DBC}"/>
              </a:ext>
            </a:extLst>
          </p:cNvPr>
          <p:cNvSpPr txBox="1"/>
          <p:nvPr/>
        </p:nvSpPr>
        <p:spPr>
          <a:xfrm>
            <a:off x="660088" y="1561362"/>
            <a:ext cx="2637750" cy="461665"/>
          </a:xfrm>
          <a:prstGeom prst="rect">
            <a:avLst/>
          </a:prstGeom>
          <a:solidFill>
            <a:schemeClr val="accent1">
              <a:lumMod val="40000"/>
              <a:lumOff val="60000"/>
              <a:alpha val="50000"/>
            </a:schemeClr>
          </a:solidFill>
          <a:ln>
            <a:solidFill>
              <a:schemeClr val="tx2"/>
            </a:solidFill>
          </a:ln>
        </p:spPr>
        <p:txBody>
          <a:bodyPr vert="horz" wrap="square" rtlCol="0">
            <a:spAutoFit/>
          </a:bodyPr>
          <a:lstStyle/>
          <a:p>
            <a:pPr algn="ctr"/>
            <a:r>
              <a:rPr lang="zh-CN" altLang="en-US" sz="2400" b="1" dirty="0">
                <a:latin typeface="微软雅黑" panose="020B0503020204020204" pitchFamily="34" charset="-122"/>
                <a:ea typeface="微软雅黑" panose="020B0503020204020204" pitchFamily="34" charset="-122"/>
              </a:rPr>
              <a:t>机动动作举例</a:t>
            </a:r>
          </a:p>
        </p:txBody>
      </p:sp>
      <p:grpSp>
        <p:nvGrpSpPr>
          <p:cNvPr id="10" name="组合 9">
            <a:extLst>
              <a:ext uri="{FF2B5EF4-FFF2-40B4-BE49-F238E27FC236}">
                <a16:creationId xmlns:a16="http://schemas.microsoft.com/office/drawing/2014/main" id="{C1A884CC-B316-4525-8787-7BF17DFB0159}"/>
              </a:ext>
            </a:extLst>
          </p:cNvPr>
          <p:cNvGrpSpPr/>
          <p:nvPr/>
        </p:nvGrpSpPr>
        <p:grpSpPr>
          <a:xfrm>
            <a:off x="819873" y="2339052"/>
            <a:ext cx="3237237" cy="3589050"/>
            <a:chOff x="384220" y="2088018"/>
            <a:chExt cx="4125787" cy="4150620"/>
          </a:xfrm>
        </p:grpSpPr>
        <p:sp>
          <p:nvSpPr>
            <p:cNvPr id="72" name="矩形 71">
              <a:extLst>
                <a:ext uri="{FF2B5EF4-FFF2-40B4-BE49-F238E27FC236}">
                  <a16:creationId xmlns:a16="http://schemas.microsoft.com/office/drawing/2014/main" id="{68402D47-6C0D-4E09-A130-B81C4FCA70F3}"/>
                </a:ext>
              </a:extLst>
            </p:cNvPr>
            <p:cNvSpPr/>
            <p:nvPr/>
          </p:nvSpPr>
          <p:spPr>
            <a:xfrm>
              <a:off x="384220" y="2088018"/>
              <a:ext cx="4125787" cy="4150620"/>
            </a:xfrm>
            <a:prstGeom prst="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solidFill>
                  <a:srgbClr val="FF0000"/>
                </a:solidFill>
              </a:endParaRPr>
            </a:p>
          </p:txBody>
        </p:sp>
        <p:pic>
          <p:nvPicPr>
            <p:cNvPr id="3" name="图片 2">
              <a:extLst>
                <a:ext uri="{FF2B5EF4-FFF2-40B4-BE49-F238E27FC236}">
                  <a16:creationId xmlns:a16="http://schemas.microsoft.com/office/drawing/2014/main" id="{AEFF373D-1AF6-406D-A162-88625131F009}"/>
                </a:ext>
              </a:extLst>
            </p:cNvPr>
            <p:cNvPicPr>
              <a:picLocks noChangeAspect="1"/>
            </p:cNvPicPr>
            <p:nvPr/>
          </p:nvPicPr>
          <p:blipFill rotWithShape="1">
            <a:blip r:embed="rId4"/>
            <a:srcRect l="30619" t="11791" r="25611" b="17729"/>
            <a:stretch/>
          </p:blipFill>
          <p:spPr>
            <a:xfrm>
              <a:off x="481171" y="2121715"/>
              <a:ext cx="3907977" cy="3514677"/>
            </a:xfrm>
            <a:prstGeom prst="rect">
              <a:avLst/>
            </a:prstGeom>
          </p:spPr>
        </p:pic>
      </p:grpSp>
      <p:grpSp>
        <p:nvGrpSpPr>
          <p:cNvPr id="9" name="组合 8">
            <a:extLst>
              <a:ext uri="{FF2B5EF4-FFF2-40B4-BE49-F238E27FC236}">
                <a16:creationId xmlns:a16="http://schemas.microsoft.com/office/drawing/2014/main" id="{26BB8D9B-1595-4598-8EF2-8919BE127F29}"/>
              </a:ext>
            </a:extLst>
          </p:cNvPr>
          <p:cNvGrpSpPr/>
          <p:nvPr/>
        </p:nvGrpSpPr>
        <p:grpSpPr>
          <a:xfrm>
            <a:off x="4327114" y="2336040"/>
            <a:ext cx="3237236" cy="3589050"/>
            <a:chOff x="4615815" y="2088018"/>
            <a:chExt cx="4241466" cy="4150620"/>
          </a:xfrm>
        </p:grpSpPr>
        <p:sp>
          <p:nvSpPr>
            <p:cNvPr id="92" name="矩形 91">
              <a:extLst>
                <a:ext uri="{FF2B5EF4-FFF2-40B4-BE49-F238E27FC236}">
                  <a16:creationId xmlns:a16="http://schemas.microsoft.com/office/drawing/2014/main" id="{B1CBEA6C-B013-4B4C-9E98-1E95DE85C385}"/>
                </a:ext>
              </a:extLst>
            </p:cNvPr>
            <p:cNvSpPr/>
            <p:nvPr/>
          </p:nvSpPr>
          <p:spPr>
            <a:xfrm>
              <a:off x="4615815" y="2088018"/>
              <a:ext cx="4241466" cy="4150620"/>
            </a:xfrm>
            <a:prstGeom prst="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solidFill>
                  <a:srgbClr val="FF0000"/>
                </a:solidFill>
              </a:endParaRPr>
            </a:p>
          </p:txBody>
        </p:sp>
        <p:pic>
          <p:nvPicPr>
            <p:cNvPr id="8" name="图片 7">
              <a:extLst>
                <a:ext uri="{FF2B5EF4-FFF2-40B4-BE49-F238E27FC236}">
                  <a16:creationId xmlns:a16="http://schemas.microsoft.com/office/drawing/2014/main" id="{088AD8E2-B655-4CE5-949A-519763BDA75A}"/>
                </a:ext>
              </a:extLst>
            </p:cNvPr>
            <p:cNvPicPr>
              <a:picLocks noChangeAspect="1"/>
            </p:cNvPicPr>
            <p:nvPr/>
          </p:nvPicPr>
          <p:blipFill rotWithShape="1">
            <a:blip r:embed="rId5"/>
            <a:srcRect l="29302" t="9921" r="23516" b="17175"/>
            <a:stretch/>
          </p:blipFill>
          <p:spPr>
            <a:xfrm>
              <a:off x="4746463" y="2121761"/>
              <a:ext cx="4040315" cy="3514631"/>
            </a:xfrm>
            <a:prstGeom prst="rect">
              <a:avLst/>
            </a:prstGeom>
          </p:spPr>
        </p:pic>
      </p:grpSp>
      <p:pic>
        <p:nvPicPr>
          <p:cNvPr id="12" name="图片 11">
            <a:extLst>
              <a:ext uri="{FF2B5EF4-FFF2-40B4-BE49-F238E27FC236}">
                <a16:creationId xmlns:a16="http://schemas.microsoft.com/office/drawing/2014/main" id="{A6A58348-C936-4566-B8CB-F04712A82C7F}"/>
              </a:ext>
            </a:extLst>
          </p:cNvPr>
          <p:cNvPicPr>
            <a:picLocks noChangeAspect="1"/>
          </p:cNvPicPr>
          <p:nvPr/>
        </p:nvPicPr>
        <p:blipFill rotWithShape="1">
          <a:blip r:embed="rId6"/>
          <a:srcRect l="28237" t="9141" r="25807" b="11168"/>
          <a:stretch/>
        </p:blipFill>
        <p:spPr>
          <a:xfrm>
            <a:off x="7828153" y="2505526"/>
            <a:ext cx="2969381" cy="2898801"/>
          </a:xfrm>
          <a:prstGeom prst="rect">
            <a:avLst/>
          </a:prstGeom>
        </p:spPr>
      </p:pic>
      <p:sp>
        <p:nvSpPr>
          <p:cNvPr id="61" name="文本框 60">
            <a:extLst>
              <a:ext uri="{FF2B5EF4-FFF2-40B4-BE49-F238E27FC236}">
                <a16:creationId xmlns:a16="http://schemas.microsoft.com/office/drawing/2014/main" id="{F234CDE9-E9A6-497D-98DC-01F6788CBE77}"/>
              </a:ext>
            </a:extLst>
          </p:cNvPr>
          <p:cNvSpPr txBox="1"/>
          <p:nvPr/>
        </p:nvSpPr>
        <p:spPr>
          <a:xfrm>
            <a:off x="1694924" y="5385401"/>
            <a:ext cx="1721555" cy="461665"/>
          </a:xfrm>
          <a:prstGeom prst="rect">
            <a:avLst/>
          </a:prstGeom>
          <a:noFill/>
        </p:spPr>
        <p:txBody>
          <a:bodyPr wrap="square" rtlCol="0">
            <a:spAutoFit/>
          </a:bodyPr>
          <a:lstStyle/>
          <a:p>
            <a:pPr algn="ctr"/>
            <a:r>
              <a:rPr lang="en-US" altLang="zh-CN" sz="2400" b="1" dirty="0">
                <a:solidFill>
                  <a:srgbClr val="203864"/>
                </a:solidFill>
                <a:latin typeface="微软雅黑" panose="020B0503020204020204" charset="-122"/>
                <a:ea typeface="微软雅黑" panose="020B0503020204020204" charset="-122"/>
              </a:rPr>
              <a:t>F-pole</a:t>
            </a:r>
          </a:p>
        </p:txBody>
      </p:sp>
      <p:sp>
        <p:nvSpPr>
          <p:cNvPr id="62" name="文本框 61">
            <a:extLst>
              <a:ext uri="{FF2B5EF4-FFF2-40B4-BE49-F238E27FC236}">
                <a16:creationId xmlns:a16="http://schemas.microsoft.com/office/drawing/2014/main" id="{9EC5181B-84F0-4EF3-B90C-88C9846D90B2}"/>
              </a:ext>
            </a:extLst>
          </p:cNvPr>
          <p:cNvSpPr txBox="1"/>
          <p:nvPr/>
        </p:nvSpPr>
        <p:spPr>
          <a:xfrm>
            <a:off x="5076601" y="5385400"/>
            <a:ext cx="1721555" cy="461665"/>
          </a:xfrm>
          <a:prstGeom prst="rect">
            <a:avLst/>
          </a:prstGeom>
          <a:noFill/>
        </p:spPr>
        <p:txBody>
          <a:bodyPr wrap="square" rtlCol="0">
            <a:spAutoFit/>
          </a:bodyPr>
          <a:lstStyle/>
          <a:p>
            <a:pPr algn="ctr"/>
            <a:r>
              <a:rPr lang="zh-CN" altLang="en-US" sz="2400" b="1" dirty="0">
                <a:solidFill>
                  <a:srgbClr val="203864"/>
                </a:solidFill>
                <a:latin typeface="微软雅黑" panose="020B0503020204020204" charset="-122"/>
                <a:ea typeface="微软雅黑" panose="020B0503020204020204" charset="-122"/>
              </a:rPr>
              <a:t>盘旋</a:t>
            </a:r>
            <a:endParaRPr lang="en-US" altLang="zh-CN" sz="2400" b="1" dirty="0">
              <a:solidFill>
                <a:srgbClr val="203864"/>
              </a:solidFill>
              <a:latin typeface="微软雅黑" panose="020B0503020204020204" charset="-122"/>
              <a:ea typeface="微软雅黑" panose="020B0503020204020204" charset="-122"/>
            </a:endParaRPr>
          </a:p>
        </p:txBody>
      </p:sp>
      <p:sp>
        <p:nvSpPr>
          <p:cNvPr id="64" name="文本框 63">
            <a:extLst>
              <a:ext uri="{FF2B5EF4-FFF2-40B4-BE49-F238E27FC236}">
                <a16:creationId xmlns:a16="http://schemas.microsoft.com/office/drawing/2014/main" id="{7E6E968F-D3F6-458E-A20D-769E28D3CB83}"/>
              </a:ext>
            </a:extLst>
          </p:cNvPr>
          <p:cNvSpPr txBox="1"/>
          <p:nvPr/>
        </p:nvSpPr>
        <p:spPr>
          <a:xfrm>
            <a:off x="8572234" y="5404327"/>
            <a:ext cx="1721555" cy="461665"/>
          </a:xfrm>
          <a:prstGeom prst="rect">
            <a:avLst/>
          </a:prstGeom>
          <a:noFill/>
        </p:spPr>
        <p:txBody>
          <a:bodyPr wrap="square" rtlCol="0">
            <a:spAutoFit/>
          </a:bodyPr>
          <a:lstStyle/>
          <a:p>
            <a:pPr algn="ctr"/>
            <a:r>
              <a:rPr lang="zh-CN" altLang="en-US" sz="2400" b="1" dirty="0">
                <a:solidFill>
                  <a:srgbClr val="203864"/>
                </a:solidFill>
                <a:latin typeface="微软雅黑" panose="020B0503020204020204" charset="-122"/>
                <a:ea typeface="微软雅黑" panose="020B0503020204020204" charset="-122"/>
              </a:rPr>
              <a:t>逃逸</a:t>
            </a:r>
            <a:endParaRPr lang="en-US" altLang="zh-CN" sz="2400" b="1" dirty="0">
              <a:solidFill>
                <a:srgbClr val="203864"/>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8843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14521"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18</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707EF2C9-36EF-44E7-B03F-663644791939}"/>
              </a:ext>
            </a:extLst>
          </p:cNvPr>
          <p:cNvSpPr/>
          <p:nvPr/>
        </p:nvSpPr>
        <p:spPr>
          <a:xfrm>
            <a:off x="733270" y="1625732"/>
            <a:ext cx="10520459" cy="4245846"/>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 name="文本框 1">
            <a:extLst>
              <a:ext uri="{FF2B5EF4-FFF2-40B4-BE49-F238E27FC236}">
                <a16:creationId xmlns:a16="http://schemas.microsoft.com/office/drawing/2014/main" id="{B7AE1D93-31C7-4242-AAEB-C75808AD2CB3}"/>
              </a:ext>
            </a:extLst>
          </p:cNvPr>
          <p:cNvSpPr txBox="1"/>
          <p:nvPr/>
        </p:nvSpPr>
        <p:spPr>
          <a:xfrm>
            <a:off x="1652026" y="1723293"/>
            <a:ext cx="5397631" cy="3806298"/>
          </a:xfrm>
          <a:prstGeom prst="rect">
            <a:avLst/>
          </a:prstGeom>
          <a:noFill/>
        </p:spPr>
        <p:txBody>
          <a:bodyPr wrap="none" rtlCol="0">
            <a:spAutoFit/>
          </a:bodyPr>
          <a:lstStyle/>
          <a:p>
            <a:pPr>
              <a:lnSpc>
                <a:spcPct val="200000"/>
              </a:lnSpc>
            </a:pPr>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优点</a:t>
            </a:r>
            <a:r>
              <a:rPr lang="en-US" altLang="zh-CN" sz="2800" b="1" dirty="0">
                <a:solidFill>
                  <a:schemeClr val="accent1">
                    <a:lumMod val="50000"/>
                  </a:schemeClr>
                </a:solidFill>
                <a:latin typeface="微软雅黑" panose="020B0503020204020204" pitchFamily="34" charset="-122"/>
                <a:ea typeface="微软雅黑" panose="020B0503020204020204" pitchFamily="34" charset="-122"/>
              </a:rPr>
              <a:t>/</a:t>
            </a:r>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目的</a:t>
            </a:r>
            <a:endParaRPr lang="en-US" altLang="zh-CN" sz="28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缩小动作空间，降低决策频率</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动作选择结果更直观</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方便人为控制，加入专家知识</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动作可以加入参数，可以做细节调整</a:t>
            </a:r>
          </a:p>
        </p:txBody>
      </p:sp>
    </p:spTree>
    <p:extLst>
      <p:ext uri="{BB962C8B-B14F-4D97-AF65-F5344CB8AC3E}">
        <p14:creationId xmlns:p14="http://schemas.microsoft.com/office/powerpoint/2010/main" val="79221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16590"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19</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707EF2C9-36EF-44E7-B03F-663644791939}"/>
              </a:ext>
            </a:extLst>
          </p:cNvPr>
          <p:cNvSpPr/>
          <p:nvPr/>
        </p:nvSpPr>
        <p:spPr>
          <a:xfrm>
            <a:off x="733270" y="1625731"/>
            <a:ext cx="10520459" cy="5062564"/>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 name="文本框 1">
            <a:extLst>
              <a:ext uri="{FF2B5EF4-FFF2-40B4-BE49-F238E27FC236}">
                <a16:creationId xmlns:a16="http://schemas.microsoft.com/office/drawing/2014/main" id="{B7AE1D93-31C7-4242-AAEB-C75808AD2CB3}"/>
              </a:ext>
            </a:extLst>
          </p:cNvPr>
          <p:cNvSpPr txBox="1"/>
          <p:nvPr/>
        </p:nvSpPr>
        <p:spPr>
          <a:xfrm>
            <a:off x="1293334" y="1625732"/>
            <a:ext cx="6175088" cy="2319994"/>
          </a:xfrm>
          <a:prstGeom prst="rect">
            <a:avLst/>
          </a:prstGeom>
          <a:noFill/>
        </p:spPr>
        <p:txBody>
          <a:bodyPr wrap="none" rtlCol="0">
            <a:spAutoFit/>
          </a:bodyPr>
          <a:lstStyle/>
          <a:p>
            <a:pPr>
              <a:lnSpc>
                <a:spcPct val="200000"/>
              </a:lnSpc>
            </a:pPr>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缺点：算法上</a:t>
            </a:r>
            <a:endParaRPr lang="en-US" altLang="zh-CN" sz="28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算法奖励似乎鼓励不中断、不改变</a:t>
            </a: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option</a:t>
            </a: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对</a:t>
            </a: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option</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理解不对</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5530D1EA-4508-42A9-81D8-57D2858179EA}"/>
              </a:ext>
            </a:extLst>
          </p:cNvPr>
          <p:cNvPicPr>
            <a:picLocks noChangeAspect="1"/>
          </p:cNvPicPr>
          <p:nvPr/>
        </p:nvPicPr>
        <p:blipFill>
          <a:blip r:embed="rId4"/>
          <a:stretch>
            <a:fillRect/>
          </a:stretch>
        </p:blipFill>
        <p:spPr>
          <a:xfrm>
            <a:off x="5545633" y="1885627"/>
            <a:ext cx="3352800" cy="838200"/>
          </a:xfrm>
          <a:prstGeom prst="rect">
            <a:avLst/>
          </a:prstGeom>
        </p:spPr>
      </p:pic>
      <p:cxnSp>
        <p:nvCxnSpPr>
          <p:cNvPr id="13" name="直接连接符 12">
            <a:extLst>
              <a:ext uri="{FF2B5EF4-FFF2-40B4-BE49-F238E27FC236}">
                <a16:creationId xmlns:a16="http://schemas.microsoft.com/office/drawing/2014/main" id="{F47ACD03-D5F7-40A4-B243-002F280C8E5A}"/>
              </a:ext>
            </a:extLst>
          </p:cNvPr>
          <p:cNvCxnSpPr>
            <a:cxnSpLocks/>
            <a:stCxn id="14" idx="0"/>
            <a:endCxn id="14" idx="2"/>
          </p:cNvCxnSpPr>
          <p:nvPr/>
        </p:nvCxnSpPr>
        <p:spPr>
          <a:xfrm>
            <a:off x="6156702" y="4021810"/>
            <a:ext cx="0" cy="2481486"/>
          </a:xfrm>
          <a:prstGeom prst="line">
            <a:avLst/>
          </a:prstGeom>
          <a:ln w="2540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圆角矩形 47">
            <a:extLst>
              <a:ext uri="{FF2B5EF4-FFF2-40B4-BE49-F238E27FC236}">
                <a16:creationId xmlns:a16="http://schemas.microsoft.com/office/drawing/2014/main" id="{7460C9E4-193C-48AE-A3E6-360324F594C7}"/>
              </a:ext>
            </a:extLst>
          </p:cNvPr>
          <p:cNvSpPr/>
          <p:nvPr/>
        </p:nvSpPr>
        <p:spPr>
          <a:xfrm>
            <a:off x="1774556" y="4021810"/>
            <a:ext cx="8764291" cy="2481486"/>
          </a:xfrm>
          <a:prstGeom prst="rect">
            <a:avLst/>
          </a:prstGeom>
          <a:noFill/>
          <a:ln w="19050">
            <a:solidFill>
              <a:schemeClr val="accent1">
                <a:lumMod val="50000"/>
              </a:schemeClr>
            </a:solidFill>
            <a:prstDash val="solid"/>
            <a:miter lim="800000"/>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1" name="文本框 20">
            <a:extLst>
              <a:ext uri="{FF2B5EF4-FFF2-40B4-BE49-F238E27FC236}">
                <a16:creationId xmlns:a16="http://schemas.microsoft.com/office/drawing/2014/main" id="{010B8393-E3A2-4A83-BE51-5C6151F009BA}"/>
              </a:ext>
            </a:extLst>
          </p:cNvPr>
          <p:cNvSpPr txBox="1"/>
          <p:nvPr/>
        </p:nvSpPr>
        <p:spPr>
          <a:xfrm>
            <a:off x="1995216" y="4089411"/>
            <a:ext cx="3940826" cy="2346283"/>
          </a:xfrm>
          <a:prstGeom prst="rect">
            <a:avLst/>
          </a:prstGeom>
          <a:noFill/>
        </p:spPr>
        <p:txBody>
          <a:bodyPr wrap="square" rtlCol="0">
            <a:spAutoFit/>
          </a:bodyPr>
          <a:lstStyle/>
          <a:p>
            <a:pPr>
              <a:lnSpc>
                <a:spcPct val="150000"/>
              </a:lnSpc>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原算法：</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各</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option</a:t>
            </a:r>
            <a:r>
              <a:rPr lang="zh-CN" altLang="en-US" sz="2000" b="1" dirty="0">
                <a:solidFill>
                  <a:srgbClr val="FF0000"/>
                </a:solidFill>
                <a:latin typeface="微软雅黑" panose="020B0503020204020204" pitchFamily="34" charset="-122"/>
                <a:ea typeface="微软雅黑" panose="020B0503020204020204" pitchFamily="34" charset="-122"/>
              </a:rPr>
              <a:t>同构</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各自为完成相同任务的代理</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上层主要完成在不同情况下下层</a:t>
            </a:r>
            <a:r>
              <a:rPr lang="zh-CN" altLang="en-US" sz="2000" b="1" dirty="0">
                <a:solidFill>
                  <a:srgbClr val="FF0000"/>
                </a:solidFill>
                <a:latin typeface="微软雅黑" panose="020B0503020204020204" pitchFamily="34" charset="-122"/>
                <a:ea typeface="微软雅黑" panose="020B0503020204020204" pitchFamily="34" charset="-122"/>
              </a:rPr>
              <a:t>能力的评估</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71669CB8-58D5-46D3-8BC7-123CF06D10EF}"/>
              </a:ext>
            </a:extLst>
          </p:cNvPr>
          <p:cNvSpPr txBox="1"/>
          <p:nvPr/>
        </p:nvSpPr>
        <p:spPr>
          <a:xfrm>
            <a:off x="6348486" y="4059126"/>
            <a:ext cx="3940826" cy="2346283"/>
          </a:xfrm>
          <a:prstGeom prst="rect">
            <a:avLst/>
          </a:prstGeom>
          <a:noFill/>
        </p:spPr>
        <p:txBody>
          <a:bodyPr wrap="square" rtlCol="0">
            <a:spAutoFit/>
          </a:bodyPr>
          <a:lstStyle/>
          <a:p>
            <a:pPr>
              <a:lnSpc>
                <a:spcPct val="150000"/>
              </a:lnSpc>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实际使用：</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各</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option</a:t>
            </a:r>
            <a:r>
              <a:rPr lang="zh-CN" altLang="en-US" sz="2000" b="1" dirty="0">
                <a:solidFill>
                  <a:srgbClr val="FF0000"/>
                </a:solidFill>
                <a:latin typeface="微软雅黑" panose="020B0503020204020204" pitchFamily="34" charset="-122"/>
                <a:ea typeface="微软雅黑" panose="020B0503020204020204" pitchFamily="34" charset="-122"/>
              </a:rPr>
              <a:t>异构</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各自为完成不同的任务</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上层在不同情况下</a:t>
            </a:r>
            <a:r>
              <a:rPr lang="zh-CN" altLang="en-US" sz="2000" b="1" dirty="0">
                <a:solidFill>
                  <a:srgbClr val="FF0000"/>
                </a:solidFill>
                <a:latin typeface="微软雅黑" panose="020B0503020204020204" pitchFamily="34" charset="-122"/>
                <a:ea typeface="微软雅黑" panose="020B0503020204020204" pitchFamily="34" charset="-122"/>
              </a:rPr>
              <a:t>选择</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不同的</a:t>
            </a:r>
            <a:r>
              <a:rPr lang="zh-CN" altLang="en-US" sz="2000" b="1" dirty="0">
                <a:solidFill>
                  <a:srgbClr val="FF0000"/>
                </a:solidFill>
                <a:latin typeface="微软雅黑" panose="020B0503020204020204" pitchFamily="34" charset="-122"/>
                <a:ea typeface="微软雅黑" panose="020B0503020204020204" pitchFamily="34" charset="-122"/>
              </a:rPr>
              <a:t>策略</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5698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76502"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20</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707EF2C9-36EF-44E7-B03F-663644791939}"/>
              </a:ext>
            </a:extLst>
          </p:cNvPr>
          <p:cNvSpPr/>
          <p:nvPr/>
        </p:nvSpPr>
        <p:spPr>
          <a:xfrm>
            <a:off x="733270" y="1625732"/>
            <a:ext cx="10520459" cy="4245846"/>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 name="文本框 1">
            <a:extLst>
              <a:ext uri="{FF2B5EF4-FFF2-40B4-BE49-F238E27FC236}">
                <a16:creationId xmlns:a16="http://schemas.microsoft.com/office/drawing/2014/main" id="{B7AE1D93-31C7-4242-AAEB-C75808AD2CB3}"/>
              </a:ext>
            </a:extLst>
          </p:cNvPr>
          <p:cNvSpPr txBox="1"/>
          <p:nvPr/>
        </p:nvSpPr>
        <p:spPr>
          <a:xfrm>
            <a:off x="1293334" y="1625732"/>
            <a:ext cx="9148658" cy="3797322"/>
          </a:xfrm>
          <a:prstGeom prst="rect">
            <a:avLst/>
          </a:prstGeom>
          <a:noFill/>
        </p:spPr>
        <p:txBody>
          <a:bodyPr wrap="none" rtlCol="0">
            <a:spAutoFit/>
          </a:bodyPr>
          <a:lstStyle/>
          <a:p>
            <a:pPr>
              <a:lnSpc>
                <a:spcPct val="200000"/>
              </a:lnSpc>
            </a:pPr>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缺点：应用上</a:t>
            </a:r>
            <a:endParaRPr lang="en-US" altLang="zh-CN" sz="28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Termination</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不稳定</a:t>
            </a: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&gt;</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人为强行</a:t>
            </a:r>
            <a:r>
              <a:rPr lang="zh-CN" altLang="en-US" sz="2400" b="1" dirty="0">
                <a:solidFill>
                  <a:srgbClr val="FF0000"/>
                </a:solidFill>
                <a:latin typeface="微软雅黑" panose="020B0503020204020204" pitchFamily="34" charset="-122"/>
                <a:ea typeface="微软雅黑" panose="020B0503020204020204" pitchFamily="34" charset="-122"/>
              </a:rPr>
              <a:t>设置固定间隔</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中断 </a:t>
            </a: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&gt; </a:t>
            </a: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动作无法完成就被打断，翻转、中制导</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为可控，引入</a:t>
            </a:r>
            <a:r>
              <a:rPr lang="zh-CN" altLang="en-US" sz="2400" b="1" dirty="0">
                <a:solidFill>
                  <a:srgbClr val="FF0000"/>
                </a:solidFill>
                <a:latin typeface="微软雅黑" panose="020B0503020204020204" pitchFamily="34" charset="-122"/>
                <a:ea typeface="微软雅黑" panose="020B0503020204020204" pitchFamily="34" charset="-122"/>
              </a:rPr>
              <a:t>掩码</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，局限性太强，退化为</a:t>
            </a:r>
            <a:r>
              <a:rPr lang="zh-CN" altLang="en-US" sz="2400" b="1" dirty="0">
                <a:solidFill>
                  <a:srgbClr val="FF0000"/>
                </a:solidFill>
                <a:latin typeface="微软雅黑" panose="020B0503020204020204" pitchFamily="34" charset="-122"/>
                <a:ea typeface="微软雅黑" panose="020B0503020204020204" pitchFamily="34" charset="-122"/>
              </a:rPr>
              <a:t>规则</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、专家系统</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动作本身好坏影响巨大：视线角约束、动作机动快慢、利索程度</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204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76502"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21</a:t>
            </a: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3.1 Option Critic</a:t>
            </a:r>
            <a:r>
              <a:rPr lang="zh-CN" altLang="en-US" sz="2400" b="1" dirty="0">
                <a:solidFill>
                  <a:srgbClr val="203864"/>
                </a:solidFill>
                <a:latin typeface="微软雅黑" panose="020B0503020204020204" charset="-122"/>
                <a:ea typeface="微软雅黑" panose="020B0503020204020204" charset="-122"/>
              </a:rPr>
              <a:t>（</a:t>
            </a:r>
            <a:r>
              <a:rPr lang="en-US" altLang="zh-CN" sz="2400" b="1" dirty="0">
                <a:solidFill>
                  <a:srgbClr val="203864"/>
                </a:solidFill>
                <a:latin typeface="微软雅黑" panose="020B0503020204020204" charset="-122"/>
                <a:ea typeface="微软雅黑" panose="020B0503020204020204" charset="-122"/>
              </a:rPr>
              <a:t>OC </a:t>
            </a:r>
            <a:r>
              <a:rPr lang="zh-CN" altLang="en-US" sz="2400" b="1" dirty="0">
                <a:solidFill>
                  <a:srgbClr val="203864"/>
                </a:solidFill>
                <a:latin typeface="微软雅黑" panose="020B0503020204020204" charset="-122"/>
                <a:ea typeface="微软雅黑" panose="020B0503020204020204" charset="-122"/>
              </a:rPr>
              <a:t>选项</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评论家）算法</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707EF2C9-36EF-44E7-B03F-663644791939}"/>
              </a:ext>
            </a:extLst>
          </p:cNvPr>
          <p:cNvSpPr/>
          <p:nvPr/>
        </p:nvSpPr>
        <p:spPr>
          <a:xfrm>
            <a:off x="733270" y="1625732"/>
            <a:ext cx="5179333" cy="4245846"/>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 name="文本框 1">
            <a:extLst>
              <a:ext uri="{FF2B5EF4-FFF2-40B4-BE49-F238E27FC236}">
                <a16:creationId xmlns:a16="http://schemas.microsoft.com/office/drawing/2014/main" id="{B7AE1D93-31C7-4242-AAEB-C75808AD2CB3}"/>
              </a:ext>
            </a:extLst>
          </p:cNvPr>
          <p:cNvSpPr txBox="1"/>
          <p:nvPr/>
        </p:nvSpPr>
        <p:spPr>
          <a:xfrm>
            <a:off x="1293334" y="1625732"/>
            <a:ext cx="4224233" cy="3058658"/>
          </a:xfrm>
          <a:prstGeom prst="rect">
            <a:avLst/>
          </a:prstGeom>
          <a:noFill/>
        </p:spPr>
        <p:txBody>
          <a:bodyPr wrap="none" rtlCol="0">
            <a:spAutoFit/>
          </a:bodyPr>
          <a:lstStyle/>
          <a:p>
            <a:pPr>
              <a:lnSpc>
                <a:spcPct val="200000"/>
              </a:lnSpc>
            </a:pPr>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缺点：应用上</a:t>
            </a:r>
            <a:endParaRPr lang="en-US" altLang="zh-CN" sz="28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下层动作参数本身影响较大</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但不好控制、不直观</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分层</a:t>
            </a:r>
            <a:r>
              <a:rPr lang="zh-CN" altLang="en-US" sz="2400" b="1" dirty="0">
                <a:solidFill>
                  <a:srgbClr val="FF0000"/>
                </a:solidFill>
                <a:latin typeface="微软雅黑" panose="020B0503020204020204" pitchFamily="34" charset="-122"/>
                <a:ea typeface="微软雅黑" panose="020B0503020204020204" pitchFamily="34" charset="-122"/>
              </a:rPr>
              <a:t>收敛性不好</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保证</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F2F48728-E608-4F67-8708-08E8CE8421E2}"/>
              </a:ext>
            </a:extLst>
          </p:cNvPr>
          <p:cNvSpPr/>
          <p:nvPr/>
        </p:nvSpPr>
        <p:spPr>
          <a:xfrm>
            <a:off x="7477932" y="1625732"/>
            <a:ext cx="2758699" cy="1039976"/>
          </a:xfrm>
          <a:prstGeom prst="rect">
            <a:avLst/>
          </a:prstGeom>
          <a:solidFill>
            <a:schemeClr val="accent1">
              <a:lumMod val="20000"/>
              <a:lumOff val="80000"/>
            </a:schemeClr>
          </a:solid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4" name="文本框 13">
            <a:extLst>
              <a:ext uri="{FF2B5EF4-FFF2-40B4-BE49-F238E27FC236}">
                <a16:creationId xmlns:a16="http://schemas.microsoft.com/office/drawing/2014/main" id="{5A53DA99-86B0-4401-9D40-AD28FF959245}"/>
              </a:ext>
            </a:extLst>
          </p:cNvPr>
          <p:cNvSpPr txBox="1"/>
          <p:nvPr/>
        </p:nvSpPr>
        <p:spPr>
          <a:xfrm>
            <a:off x="7599154" y="1899964"/>
            <a:ext cx="2516247" cy="461665"/>
          </a:xfrm>
          <a:prstGeom prst="rect">
            <a:avLst/>
          </a:prstGeom>
          <a:noFill/>
        </p:spPr>
        <p:txBody>
          <a:bodyPr wrap="square" rtlCol="0">
            <a:spAutoFit/>
          </a:bodyPr>
          <a:lstStyle/>
          <a:p>
            <a:pPr algn="ctr"/>
            <a:r>
              <a:rPr lang="zh-CN" altLang="en-US" sz="2400" b="1" dirty="0">
                <a:solidFill>
                  <a:srgbClr val="203864"/>
                </a:solidFill>
                <a:latin typeface="微软雅黑" panose="020B0503020204020204" charset="-122"/>
                <a:ea typeface="微软雅黑" panose="020B0503020204020204" charset="-122"/>
              </a:rPr>
              <a:t>是否更换</a:t>
            </a:r>
            <a:r>
              <a:rPr lang="en-US" altLang="zh-CN" sz="2400" b="1" dirty="0">
                <a:solidFill>
                  <a:srgbClr val="203864"/>
                </a:solidFill>
                <a:latin typeface="微软雅黑" panose="020B0503020204020204" charset="-122"/>
                <a:ea typeface="微软雅黑" panose="020B0503020204020204" charset="-122"/>
              </a:rPr>
              <a:t>option</a:t>
            </a:r>
          </a:p>
        </p:txBody>
      </p:sp>
      <p:sp>
        <p:nvSpPr>
          <p:cNvPr id="21" name="矩形 20">
            <a:extLst>
              <a:ext uri="{FF2B5EF4-FFF2-40B4-BE49-F238E27FC236}">
                <a16:creationId xmlns:a16="http://schemas.microsoft.com/office/drawing/2014/main" id="{8C52C545-8BFA-45DC-9A6F-B6CA3DE3374C}"/>
              </a:ext>
            </a:extLst>
          </p:cNvPr>
          <p:cNvSpPr/>
          <p:nvPr/>
        </p:nvSpPr>
        <p:spPr>
          <a:xfrm>
            <a:off x="7477932" y="3153163"/>
            <a:ext cx="2758699" cy="1039976"/>
          </a:xfrm>
          <a:prstGeom prst="rect">
            <a:avLst/>
          </a:prstGeom>
          <a:solidFill>
            <a:schemeClr val="accent1">
              <a:lumMod val="20000"/>
              <a:lumOff val="80000"/>
            </a:schemeClr>
          </a:solid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2" name="文本框 21">
            <a:extLst>
              <a:ext uri="{FF2B5EF4-FFF2-40B4-BE49-F238E27FC236}">
                <a16:creationId xmlns:a16="http://schemas.microsoft.com/office/drawing/2014/main" id="{B8BB557B-8BD8-40A4-AB41-616B8A45A78D}"/>
              </a:ext>
            </a:extLst>
          </p:cNvPr>
          <p:cNvSpPr txBox="1"/>
          <p:nvPr/>
        </p:nvSpPr>
        <p:spPr>
          <a:xfrm>
            <a:off x="7599155" y="3433123"/>
            <a:ext cx="2516247" cy="461665"/>
          </a:xfrm>
          <a:prstGeom prst="rect">
            <a:avLst/>
          </a:prstGeom>
          <a:noFill/>
        </p:spPr>
        <p:txBody>
          <a:bodyPr wrap="square" rtlCol="0">
            <a:spAutoFit/>
          </a:bodyPr>
          <a:lstStyle/>
          <a:p>
            <a:pPr algn="ctr"/>
            <a:r>
              <a:rPr lang="zh-CN" altLang="en-US" sz="2400" b="1" dirty="0">
                <a:solidFill>
                  <a:srgbClr val="203864"/>
                </a:solidFill>
                <a:latin typeface="微软雅黑" panose="020B0503020204020204" charset="-122"/>
                <a:ea typeface="微软雅黑" panose="020B0503020204020204" charset="-122"/>
              </a:rPr>
              <a:t>选择最优</a:t>
            </a:r>
            <a:r>
              <a:rPr lang="en-US" altLang="zh-CN" sz="2400" b="1" dirty="0">
                <a:solidFill>
                  <a:srgbClr val="203864"/>
                </a:solidFill>
                <a:latin typeface="微软雅黑" panose="020B0503020204020204" charset="-122"/>
                <a:ea typeface="微软雅黑" panose="020B0503020204020204" charset="-122"/>
              </a:rPr>
              <a:t>option</a:t>
            </a:r>
          </a:p>
        </p:txBody>
      </p:sp>
      <p:sp>
        <p:nvSpPr>
          <p:cNvPr id="24" name="矩形 23">
            <a:extLst>
              <a:ext uri="{FF2B5EF4-FFF2-40B4-BE49-F238E27FC236}">
                <a16:creationId xmlns:a16="http://schemas.microsoft.com/office/drawing/2014/main" id="{78B6E96B-0166-46C1-A55D-41E03D833256}"/>
              </a:ext>
            </a:extLst>
          </p:cNvPr>
          <p:cNvSpPr/>
          <p:nvPr/>
        </p:nvSpPr>
        <p:spPr>
          <a:xfrm>
            <a:off x="7477932" y="4673691"/>
            <a:ext cx="2758699" cy="1039976"/>
          </a:xfrm>
          <a:prstGeom prst="rect">
            <a:avLst/>
          </a:prstGeom>
          <a:solidFill>
            <a:schemeClr val="accent1">
              <a:lumMod val="20000"/>
              <a:lumOff val="80000"/>
            </a:schemeClr>
          </a:solid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5" name="文本框 24">
            <a:extLst>
              <a:ext uri="{FF2B5EF4-FFF2-40B4-BE49-F238E27FC236}">
                <a16:creationId xmlns:a16="http://schemas.microsoft.com/office/drawing/2014/main" id="{95756C5A-166E-4E88-9043-C6AD3B25EB79}"/>
              </a:ext>
            </a:extLst>
          </p:cNvPr>
          <p:cNvSpPr txBox="1"/>
          <p:nvPr/>
        </p:nvSpPr>
        <p:spPr>
          <a:xfrm>
            <a:off x="7599156" y="4962846"/>
            <a:ext cx="2516247" cy="461665"/>
          </a:xfrm>
          <a:prstGeom prst="rect">
            <a:avLst/>
          </a:prstGeom>
          <a:noFill/>
        </p:spPr>
        <p:txBody>
          <a:bodyPr wrap="square" rtlCol="0">
            <a:spAutoFit/>
          </a:bodyPr>
          <a:lstStyle/>
          <a:p>
            <a:pPr algn="ctr"/>
            <a:r>
              <a:rPr lang="zh-CN" altLang="en-US" sz="2400" b="1" dirty="0">
                <a:solidFill>
                  <a:srgbClr val="203864"/>
                </a:solidFill>
                <a:latin typeface="微软雅黑" panose="020B0503020204020204" charset="-122"/>
                <a:ea typeface="微软雅黑" panose="020B0503020204020204" charset="-122"/>
              </a:rPr>
              <a:t>执行</a:t>
            </a:r>
            <a:r>
              <a:rPr lang="en-US" altLang="zh-CN" sz="2400" b="1" dirty="0">
                <a:solidFill>
                  <a:srgbClr val="203864"/>
                </a:solidFill>
                <a:latin typeface="微软雅黑" panose="020B0503020204020204" charset="-122"/>
                <a:ea typeface="微软雅黑" panose="020B0503020204020204" charset="-122"/>
              </a:rPr>
              <a:t>option</a:t>
            </a:r>
          </a:p>
        </p:txBody>
      </p:sp>
      <p:sp>
        <p:nvSpPr>
          <p:cNvPr id="5" name="箭头: 下 4">
            <a:extLst>
              <a:ext uri="{FF2B5EF4-FFF2-40B4-BE49-F238E27FC236}">
                <a16:creationId xmlns:a16="http://schemas.microsoft.com/office/drawing/2014/main" id="{8C5C9031-6787-45A6-B9EC-25A85C094B53}"/>
              </a:ext>
            </a:extLst>
          </p:cNvPr>
          <p:cNvSpPr/>
          <p:nvPr/>
        </p:nvSpPr>
        <p:spPr>
          <a:xfrm>
            <a:off x="8570565" y="2737039"/>
            <a:ext cx="573431" cy="379813"/>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6" name="箭头: 下 25">
            <a:extLst>
              <a:ext uri="{FF2B5EF4-FFF2-40B4-BE49-F238E27FC236}">
                <a16:creationId xmlns:a16="http://schemas.microsoft.com/office/drawing/2014/main" id="{E45DEA2F-5D55-469C-9C29-553ADE2D5209}"/>
              </a:ext>
            </a:extLst>
          </p:cNvPr>
          <p:cNvSpPr/>
          <p:nvPr/>
        </p:nvSpPr>
        <p:spPr>
          <a:xfrm>
            <a:off x="8570565" y="4261866"/>
            <a:ext cx="573431" cy="379813"/>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20754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17" name="文本框 16"/>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18" name="矩形 17"/>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23" name="矩形 22"/>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CE5369A7-AA29-5592-8D3E-8ADAF08AE8E6}"/>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3.2 </a:t>
            </a:r>
            <a:r>
              <a:rPr lang="zh-CN" altLang="en-US" sz="2400" b="1" dirty="0">
                <a:solidFill>
                  <a:srgbClr val="203864"/>
                </a:solidFill>
                <a:latin typeface="微软雅黑" panose="020B0503020204020204" charset="-122"/>
                <a:ea typeface="微软雅黑" panose="020B0503020204020204" charset="-122"/>
              </a:rPr>
              <a:t>混合动作空间（</a:t>
            </a:r>
            <a:r>
              <a:rPr lang="en-US" altLang="zh-CN" sz="2400" b="1" dirty="0">
                <a:solidFill>
                  <a:srgbClr val="203864"/>
                </a:solidFill>
                <a:latin typeface="微软雅黑" panose="020B0503020204020204" charset="-122"/>
                <a:ea typeface="微软雅黑" panose="020B0503020204020204" charset="-122"/>
              </a:rPr>
              <a:t>Hybrid Action Space</a:t>
            </a:r>
            <a:r>
              <a:rPr lang="zh-CN" altLang="en-US" sz="2400" b="1" dirty="0">
                <a:solidFill>
                  <a:srgbClr val="203864"/>
                </a:solidFill>
                <a:latin typeface="微软雅黑" panose="020B0503020204020204" charset="-122"/>
                <a:ea typeface="微软雅黑" panose="020B0503020204020204" charset="-122"/>
              </a:rPr>
              <a:t>）</a:t>
            </a:r>
            <a:endParaRPr lang="en-US" altLang="zh-CN" sz="2400" b="1" dirty="0">
              <a:solidFill>
                <a:srgbClr val="203864"/>
              </a:solidFill>
              <a:latin typeface="微软雅黑" panose="020B0503020204020204" charset="-122"/>
              <a:ea typeface="微软雅黑" panose="020B0503020204020204" charset="-122"/>
            </a:endParaRPr>
          </a:p>
        </p:txBody>
      </p:sp>
      <p:sp>
        <p:nvSpPr>
          <p:cNvPr id="20" name="圆角矩形 47">
            <a:extLst>
              <a:ext uri="{FF2B5EF4-FFF2-40B4-BE49-F238E27FC236}">
                <a16:creationId xmlns:a16="http://schemas.microsoft.com/office/drawing/2014/main" id="{707EF2C9-36EF-44E7-B03F-663644791939}"/>
              </a:ext>
            </a:extLst>
          </p:cNvPr>
          <p:cNvSpPr/>
          <p:nvPr/>
        </p:nvSpPr>
        <p:spPr>
          <a:xfrm>
            <a:off x="733270" y="1625732"/>
            <a:ext cx="5762625" cy="4245846"/>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2" name="文本框 1">
            <a:extLst>
              <a:ext uri="{FF2B5EF4-FFF2-40B4-BE49-F238E27FC236}">
                <a16:creationId xmlns:a16="http://schemas.microsoft.com/office/drawing/2014/main" id="{B7AE1D93-31C7-4242-AAEB-C75808AD2CB3}"/>
              </a:ext>
            </a:extLst>
          </p:cNvPr>
          <p:cNvSpPr txBox="1"/>
          <p:nvPr/>
        </p:nvSpPr>
        <p:spPr>
          <a:xfrm>
            <a:off x="1141582" y="1917940"/>
            <a:ext cx="4954418" cy="3674211"/>
          </a:xfrm>
          <a:prstGeom prst="rect">
            <a:avLst/>
          </a:prstGeom>
          <a:noFill/>
        </p:spPr>
        <p:txBody>
          <a:bodyPr wrap="square" rtlCol="0">
            <a:spAutoFit/>
          </a:bodyPr>
          <a:lstStyle/>
          <a:p>
            <a:pPr>
              <a:lnSpc>
                <a:spcPct val="200000"/>
              </a:lnSpc>
            </a:pPr>
            <a:r>
              <a:rPr lang="zh-CN" altLang="en-US" sz="2400" b="1" dirty="0">
                <a:solidFill>
                  <a:srgbClr val="FF0000"/>
                </a:solidFill>
                <a:latin typeface="微软雅黑" panose="020B0503020204020204" pitchFamily="34" charset="-122"/>
                <a:ea typeface="微软雅黑" panose="020B0503020204020204" pitchFamily="34" charset="-122"/>
              </a:rPr>
              <a:t>参数化</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动作空间（</a:t>
            </a:r>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Parameterized</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离散动作对应一个或多个连续值参数</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将</a:t>
            </a:r>
            <a:r>
              <a:rPr lang="zh-CN" altLang="en-US" sz="2400" b="1" dirty="0">
                <a:solidFill>
                  <a:srgbClr val="FF0000"/>
                </a:solidFill>
                <a:latin typeface="微软雅黑" panose="020B0503020204020204" pitchFamily="34" charset="-122"/>
                <a:ea typeface="微软雅黑" panose="020B0503020204020204" pitchFamily="34" charset="-122"/>
              </a:rPr>
              <a:t>连续</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动作看作是</a:t>
            </a:r>
            <a:r>
              <a:rPr lang="zh-CN" altLang="en-US" sz="2400" b="1" dirty="0">
                <a:solidFill>
                  <a:srgbClr val="FF0000"/>
                </a:solidFill>
                <a:latin typeface="微软雅黑" panose="020B0503020204020204" pitchFamily="34" charset="-122"/>
                <a:ea typeface="微软雅黑" panose="020B0503020204020204" pitchFamily="34" charset="-122"/>
              </a:rPr>
              <a:t>离散</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动作的</a:t>
            </a:r>
            <a:r>
              <a:rPr lang="zh-CN" altLang="en-US" sz="2400" b="1" dirty="0">
                <a:solidFill>
                  <a:srgbClr val="FF0000"/>
                </a:solidFill>
                <a:latin typeface="微软雅黑" panose="020B0503020204020204" pitchFamily="34" charset="-122"/>
                <a:ea typeface="微软雅黑" panose="020B0503020204020204" pitchFamily="34" charset="-122"/>
              </a:rPr>
              <a:t>参数</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pic>
        <p:nvPicPr>
          <p:cNvPr id="1026" name="Picture 2" descr="https://pic1.zhimg.com/v2-6f73e6da6320ea2c5b334447208c6666_r.jpg">
            <a:extLst>
              <a:ext uri="{FF2B5EF4-FFF2-40B4-BE49-F238E27FC236}">
                <a16:creationId xmlns:a16="http://schemas.microsoft.com/office/drawing/2014/main" id="{D838F207-72B5-4AB7-802E-07EC5843FC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8536" y="2026428"/>
            <a:ext cx="5258161" cy="2537823"/>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FDD40224-3329-459C-9C14-D6733FA293AC}"/>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22</a:t>
            </a:r>
          </a:p>
        </p:txBody>
      </p:sp>
    </p:spTree>
    <p:extLst>
      <p:ext uri="{BB962C8B-B14F-4D97-AF65-F5344CB8AC3E}">
        <p14:creationId xmlns:p14="http://schemas.microsoft.com/office/powerpoint/2010/main" val="317136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A61CD96C-DD7F-440A-AC33-40E4FB02071D}"/>
              </a:ext>
            </a:extLst>
          </p:cNvPr>
          <p:cNvSpPr txBox="1"/>
          <p:nvPr/>
        </p:nvSpPr>
        <p:spPr>
          <a:xfrm>
            <a:off x="1323512" y="5348426"/>
            <a:ext cx="4708899" cy="1156855"/>
          </a:xfrm>
          <a:prstGeom prst="rect">
            <a:avLst/>
          </a:prstGeom>
          <a:ln w="19050">
            <a:solidFill>
              <a:schemeClr val="bg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PADDPG</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Parameterized Action DDPG</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得到离散动作的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权重</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和离散动作的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连续参数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，用权重选择离散动作和对应的参数</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E4B5D180-52D9-4774-BE6F-ED003828B73B}"/>
              </a:ext>
            </a:extLst>
          </p:cNvPr>
          <p:cNvSpPr/>
          <p:nvPr/>
        </p:nvSpPr>
        <p:spPr>
          <a:xfrm>
            <a:off x="1117375" y="1496341"/>
            <a:ext cx="9957250" cy="5178025"/>
          </a:xfrm>
          <a:prstGeom prst="rect">
            <a:avLst/>
          </a:prstGeom>
          <a:noFill/>
          <a:ln w="19050" cap="rnd">
            <a:solidFill>
              <a:schemeClr val="accent1">
                <a:lumMod val="50000"/>
              </a:schemeClr>
            </a:solidFill>
            <a:prstDash val="solid"/>
            <a:roun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cxnSp>
        <p:nvCxnSpPr>
          <p:cNvPr id="29" name="直接连接符 28">
            <a:extLst>
              <a:ext uri="{FF2B5EF4-FFF2-40B4-BE49-F238E27FC236}">
                <a16:creationId xmlns:a16="http://schemas.microsoft.com/office/drawing/2014/main" id="{671B4352-D52E-4617-BC22-5103917B6A85}"/>
              </a:ext>
            </a:extLst>
          </p:cNvPr>
          <p:cNvCxnSpPr>
            <a:cxnSpLocks/>
            <a:stCxn id="25" idx="0"/>
            <a:endCxn id="25" idx="2"/>
          </p:cNvCxnSpPr>
          <p:nvPr/>
        </p:nvCxnSpPr>
        <p:spPr>
          <a:xfrm>
            <a:off x="6096000" y="1496341"/>
            <a:ext cx="0" cy="5178025"/>
          </a:xfrm>
          <a:prstGeom prst="line">
            <a:avLst/>
          </a:prstGeom>
          <a:ln w="1905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5" name="图片 4">
            <a:extLst>
              <a:ext uri="{FF2B5EF4-FFF2-40B4-BE49-F238E27FC236}">
                <a16:creationId xmlns:a16="http://schemas.microsoft.com/office/drawing/2014/main" id="{E8489A23-528A-457F-8373-5A7FBD38A2E3}"/>
              </a:ext>
            </a:extLst>
          </p:cNvPr>
          <p:cNvPicPr>
            <a:picLocks noChangeAspect="1"/>
          </p:cNvPicPr>
          <p:nvPr/>
        </p:nvPicPr>
        <p:blipFill rotWithShape="1">
          <a:blip r:embed="rId3"/>
          <a:srcRect r="54562" b="33022"/>
          <a:stretch/>
        </p:blipFill>
        <p:spPr>
          <a:xfrm>
            <a:off x="1663375" y="1571259"/>
            <a:ext cx="3575280" cy="3702249"/>
          </a:xfrm>
          <a:prstGeom prst="rect">
            <a:avLst/>
          </a:prstGeom>
        </p:spPr>
      </p:pic>
      <p:cxnSp>
        <p:nvCxnSpPr>
          <p:cNvPr id="31" name="直接连接符 30">
            <a:extLst>
              <a:ext uri="{FF2B5EF4-FFF2-40B4-BE49-F238E27FC236}">
                <a16:creationId xmlns:a16="http://schemas.microsoft.com/office/drawing/2014/main" id="{2B6FC7CB-3CED-4C1E-AE9E-FF703278D235}"/>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C74234E6-BD89-4BB3-99D8-0D8DEF1A5CA5}"/>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33" name="文本框 32">
            <a:extLst>
              <a:ext uri="{FF2B5EF4-FFF2-40B4-BE49-F238E27FC236}">
                <a16:creationId xmlns:a16="http://schemas.microsoft.com/office/drawing/2014/main" id="{CF6EA5EA-70BF-4221-9E19-8C09E7076A49}"/>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29CA63AB-FC75-499C-9F2F-8F30371CF356}"/>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2F5385A4-9115-45B3-BCA5-A75004DDAD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36" name="矩形 35">
            <a:extLst>
              <a:ext uri="{FF2B5EF4-FFF2-40B4-BE49-F238E27FC236}">
                <a16:creationId xmlns:a16="http://schemas.microsoft.com/office/drawing/2014/main" id="{3CC05D7A-2E56-45CD-8632-273ED2D49587}"/>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9DA9D7D4-1280-4B4C-9963-E76B65AEC001}"/>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3.2 </a:t>
            </a:r>
            <a:r>
              <a:rPr lang="zh-CN" altLang="en-US" sz="2400" b="1" dirty="0">
                <a:solidFill>
                  <a:srgbClr val="203864"/>
                </a:solidFill>
                <a:latin typeface="微软雅黑" panose="020B0503020204020204" charset="-122"/>
                <a:ea typeface="微软雅黑" panose="020B0503020204020204" charset="-122"/>
              </a:rPr>
              <a:t>混合动作空间：经典算法</a:t>
            </a:r>
            <a:endParaRPr lang="en-US" altLang="zh-CN" sz="2400" b="1" dirty="0">
              <a:solidFill>
                <a:srgbClr val="203864"/>
              </a:solidFill>
              <a:latin typeface="微软雅黑" panose="020B0503020204020204" charset="-122"/>
              <a:ea typeface="微软雅黑" panose="020B0503020204020204" charset="-122"/>
            </a:endParaRPr>
          </a:p>
        </p:txBody>
      </p:sp>
      <p:pic>
        <p:nvPicPr>
          <p:cNvPr id="2050" name="Picture 2" descr="https://pica.zhimg.com/v2-8c8d54e7dd6081533f49751bc2da4962_r.jpg">
            <a:extLst>
              <a:ext uri="{FF2B5EF4-FFF2-40B4-BE49-F238E27FC236}">
                <a16:creationId xmlns:a16="http://schemas.microsoft.com/office/drawing/2014/main" id="{BC4C8125-D9E4-40B0-868C-C353E175014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8577" b="44156"/>
          <a:stretch/>
        </p:blipFill>
        <p:spPr bwMode="auto">
          <a:xfrm>
            <a:off x="6153435" y="1608055"/>
            <a:ext cx="4732528" cy="3307254"/>
          </a:xfrm>
          <a:prstGeom prst="rect">
            <a:avLst/>
          </a:prstGeom>
          <a:noFill/>
          <a:extLst>
            <a:ext uri="{909E8E84-426E-40DD-AFC4-6F175D3DCCD1}">
              <a14:hiddenFill xmlns:a14="http://schemas.microsoft.com/office/drawing/2010/main">
                <a:solidFill>
                  <a:srgbClr val="FFFFFF"/>
                </a:solidFill>
              </a14:hiddenFill>
            </a:ext>
          </a:extLst>
        </p:spPr>
      </p:pic>
      <p:sp>
        <p:nvSpPr>
          <p:cNvPr id="38" name="文本框 37">
            <a:extLst>
              <a:ext uri="{FF2B5EF4-FFF2-40B4-BE49-F238E27FC236}">
                <a16:creationId xmlns:a16="http://schemas.microsoft.com/office/drawing/2014/main" id="{A7B28502-ECA3-46BC-B44C-48F750ACAB85}"/>
              </a:ext>
            </a:extLst>
          </p:cNvPr>
          <p:cNvSpPr txBox="1"/>
          <p:nvPr/>
        </p:nvSpPr>
        <p:spPr>
          <a:xfrm>
            <a:off x="6245960" y="5348426"/>
            <a:ext cx="4708899" cy="1156855"/>
          </a:xfrm>
          <a:prstGeom prst="rect">
            <a:avLst/>
          </a:prstGeom>
          <a:ln w="19050">
            <a:solidFill>
              <a:schemeClr val="bg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PDQN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Parameterized DQN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先产生所有动作的连续的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，将参数联合输入得到离散动作的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Q</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值</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E8A499B0-44FC-4464-87BB-C806F304BBF7}"/>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23</a:t>
            </a:r>
          </a:p>
        </p:txBody>
      </p:sp>
    </p:spTree>
    <p:extLst>
      <p:ext uri="{BB962C8B-B14F-4D97-AF65-F5344CB8AC3E}">
        <p14:creationId xmlns:p14="http://schemas.microsoft.com/office/powerpoint/2010/main" val="978173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a:extLst>
              <a:ext uri="{FF2B5EF4-FFF2-40B4-BE49-F238E27FC236}">
                <a16:creationId xmlns:a16="http://schemas.microsoft.com/office/drawing/2014/main" id="{F6BC1A0E-9DB9-FFC0-6DFD-DC683E36DE18}"/>
              </a:ext>
            </a:extLst>
          </p:cNvPr>
          <p:cNvSpPr/>
          <p:nvPr/>
        </p:nvSpPr>
        <p:spPr>
          <a:xfrm>
            <a:off x="585673" y="1495727"/>
            <a:ext cx="5642786" cy="2754463"/>
          </a:xfrm>
          <a:prstGeom prst="rect">
            <a:avLst/>
          </a:prstGeom>
          <a:noFill/>
          <a:ln w="25400">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grpSp>
        <p:nvGrpSpPr>
          <p:cNvPr id="77" name="组合 76">
            <a:extLst>
              <a:ext uri="{FF2B5EF4-FFF2-40B4-BE49-F238E27FC236}">
                <a16:creationId xmlns:a16="http://schemas.microsoft.com/office/drawing/2014/main" id="{E754DA41-CBD4-4F9A-940E-5CDB56D7CB2A}"/>
              </a:ext>
            </a:extLst>
          </p:cNvPr>
          <p:cNvGrpSpPr/>
          <p:nvPr/>
        </p:nvGrpSpPr>
        <p:grpSpPr>
          <a:xfrm>
            <a:off x="6229691" y="1504870"/>
            <a:ext cx="5796995" cy="4978515"/>
            <a:chOff x="611525" y="1944162"/>
            <a:chExt cx="5783415" cy="3074130"/>
          </a:xfrm>
        </p:grpSpPr>
        <p:sp>
          <p:nvSpPr>
            <p:cNvPr id="78" name="文本框 77">
              <a:extLst>
                <a:ext uri="{FF2B5EF4-FFF2-40B4-BE49-F238E27FC236}">
                  <a16:creationId xmlns:a16="http://schemas.microsoft.com/office/drawing/2014/main" id="{4BAFA332-E697-4A27-AFD3-2FEE0438F2E1}"/>
                </a:ext>
              </a:extLst>
            </p:cNvPr>
            <p:cNvSpPr txBox="1"/>
            <p:nvPr/>
          </p:nvSpPr>
          <p:spPr>
            <a:xfrm>
              <a:off x="611525" y="1944162"/>
              <a:ext cx="1655914" cy="209050"/>
            </a:xfrm>
            <a:prstGeom prst="rect">
              <a:avLst/>
            </a:prstGeom>
            <a:noFill/>
          </p:spPr>
          <p:txBody>
            <a:bodyPr wrap="square" rtlCol="0">
              <a:spAutoFit/>
            </a:bodyPr>
            <a:lstStyle/>
            <a:p>
              <a:r>
                <a:rPr lang="zh-CN" altLang="en-US" sz="1600" b="1" dirty="0">
                  <a:latin typeface="微软雅黑" panose="020B0503020204020204" charset="-122"/>
                  <a:ea typeface="微软雅黑" panose="020B0503020204020204" charset="-122"/>
                </a:rPr>
                <a:t>网络模型</a:t>
              </a:r>
              <a:endParaRPr lang="zh-CN" altLang="en-US" sz="1600" dirty="0">
                <a:latin typeface="微软雅黑" panose="020B0503020204020204" charset="-122"/>
                <a:ea typeface="微软雅黑" panose="020B0503020204020204" charset="-122"/>
              </a:endParaRPr>
            </a:p>
          </p:txBody>
        </p:sp>
        <p:sp>
          <p:nvSpPr>
            <p:cNvPr id="79" name="矩形 78">
              <a:extLst>
                <a:ext uri="{FF2B5EF4-FFF2-40B4-BE49-F238E27FC236}">
                  <a16:creationId xmlns:a16="http://schemas.microsoft.com/office/drawing/2014/main" id="{CCAB096D-ADB7-4BE9-AAFA-C68C6E284D65}"/>
                </a:ext>
              </a:extLst>
            </p:cNvPr>
            <p:cNvSpPr/>
            <p:nvPr/>
          </p:nvSpPr>
          <p:spPr>
            <a:xfrm>
              <a:off x="611525" y="1944162"/>
              <a:ext cx="5783415" cy="3074130"/>
            </a:xfrm>
            <a:prstGeom prst="rect">
              <a:avLst/>
            </a:prstGeom>
            <a:no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grpSp>
      <p:sp>
        <p:nvSpPr>
          <p:cNvPr id="4" name="文本框 3">
            <a:extLst>
              <a:ext uri="{FF2B5EF4-FFF2-40B4-BE49-F238E27FC236}">
                <a16:creationId xmlns:a16="http://schemas.microsoft.com/office/drawing/2014/main" id="{08A67FA5-9403-3CA6-DA55-BFFFC318B403}"/>
              </a:ext>
            </a:extLst>
          </p:cNvPr>
          <p:cNvSpPr txBox="1"/>
          <p:nvPr/>
        </p:nvSpPr>
        <p:spPr>
          <a:xfrm>
            <a:off x="586905" y="4265795"/>
            <a:ext cx="5642786" cy="338554"/>
          </a:xfrm>
          <a:prstGeom prst="rect">
            <a:avLst/>
          </a:prstGeom>
          <a:ln w="25400">
            <a:solidFill>
              <a:srgbClr val="20386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600" b="1" dirty="0">
                <a:latin typeface="微软雅黑" panose="020B0503020204020204" pitchFamily="34" charset="-122"/>
                <a:ea typeface="微软雅黑" panose="020B0503020204020204" pitchFamily="34" charset="-122"/>
              </a:rPr>
              <a:t>                 </a:t>
            </a:r>
            <a:r>
              <a:rPr lang="zh-CN" altLang="en-US" sz="1600" b="1" dirty="0">
                <a:highlight>
                  <a:srgbClr val="F27ED6"/>
                </a:highlight>
                <a:latin typeface="微软雅黑" panose="020B0503020204020204" pitchFamily="34" charset="-122"/>
                <a:ea typeface="微软雅黑" panose="020B0503020204020204" pitchFamily="34" charset="-122"/>
              </a:rPr>
              <a:t>离散动作</a:t>
            </a:r>
            <a:r>
              <a:rPr lang="en-US" altLang="zh-CN" sz="1600" b="1" dirty="0">
                <a:latin typeface="微软雅黑" panose="020B0503020204020204" pitchFamily="34" charset="-122"/>
                <a:ea typeface="微软雅黑" panose="020B0503020204020204" pitchFamily="34" charset="-122"/>
              </a:rPr>
              <a:t>                                   </a:t>
            </a:r>
            <a:r>
              <a:rPr lang="zh-CN" altLang="en-US" sz="1600" b="1" dirty="0">
                <a:solidFill>
                  <a:schemeClr val="tx1"/>
                </a:solidFill>
                <a:highlight>
                  <a:srgbClr val="6666DB"/>
                </a:highlight>
                <a:latin typeface="微软雅黑" panose="020B0503020204020204" pitchFamily="34" charset="-122"/>
                <a:ea typeface="微软雅黑" panose="020B0503020204020204" pitchFamily="34" charset="-122"/>
              </a:rPr>
              <a:t>连续参数</a:t>
            </a:r>
            <a:endParaRPr lang="zh-CN" altLang="en-US" sz="1600" dirty="0">
              <a:solidFill>
                <a:schemeClr val="tx1"/>
              </a:solidFill>
              <a:highlight>
                <a:srgbClr val="6666DB"/>
              </a:highlight>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2EE6FFD9-0DEF-4C87-9D98-19786399B9CB}"/>
              </a:ext>
            </a:extLst>
          </p:cNvPr>
          <p:cNvGrpSpPr/>
          <p:nvPr/>
        </p:nvGrpSpPr>
        <p:grpSpPr>
          <a:xfrm>
            <a:off x="586907" y="4633562"/>
            <a:ext cx="5642784" cy="1862126"/>
            <a:chOff x="586907" y="4633562"/>
            <a:chExt cx="5642784" cy="1862126"/>
          </a:xfrm>
        </p:grpSpPr>
        <p:sp>
          <p:nvSpPr>
            <p:cNvPr id="74" name="矩形 73">
              <a:extLst>
                <a:ext uri="{FF2B5EF4-FFF2-40B4-BE49-F238E27FC236}">
                  <a16:creationId xmlns:a16="http://schemas.microsoft.com/office/drawing/2014/main" id="{8A7FACD1-CA55-49FA-98E0-91ADA515A044}"/>
                </a:ext>
              </a:extLst>
            </p:cNvPr>
            <p:cNvSpPr/>
            <p:nvPr/>
          </p:nvSpPr>
          <p:spPr>
            <a:xfrm>
              <a:off x="3768699" y="4637369"/>
              <a:ext cx="2460992" cy="1858319"/>
            </a:xfrm>
            <a:prstGeom prst="rect">
              <a:avLst/>
            </a:prstGeom>
            <a:no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48" name="矩形 47">
              <a:extLst>
                <a:ext uri="{FF2B5EF4-FFF2-40B4-BE49-F238E27FC236}">
                  <a16:creationId xmlns:a16="http://schemas.microsoft.com/office/drawing/2014/main" id="{A36EEEBB-8508-4A50-83C5-0FA19FC871CB}"/>
                </a:ext>
              </a:extLst>
            </p:cNvPr>
            <p:cNvSpPr/>
            <p:nvPr/>
          </p:nvSpPr>
          <p:spPr>
            <a:xfrm>
              <a:off x="586907" y="4633562"/>
              <a:ext cx="3181792" cy="1858319"/>
            </a:xfrm>
            <a:prstGeom prst="rect">
              <a:avLst/>
            </a:prstGeom>
            <a:noFill/>
            <a:ln w="28575">
              <a:solidFill>
                <a:schemeClr val="accent1">
                  <a:lumMod val="50000"/>
                </a:schemeClr>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grpSp>
      <p:cxnSp>
        <p:nvCxnSpPr>
          <p:cNvPr id="85" name="直接连接符 84">
            <a:extLst>
              <a:ext uri="{FF2B5EF4-FFF2-40B4-BE49-F238E27FC236}">
                <a16:creationId xmlns:a16="http://schemas.microsoft.com/office/drawing/2014/main" id="{6A171E5B-CC87-45AD-AB6F-51126FEA1279}"/>
              </a:ext>
            </a:extLst>
          </p:cNvPr>
          <p:cNvCxnSpPr>
            <a:cxnSpLocks/>
          </p:cNvCxnSpPr>
          <p:nvPr/>
        </p:nvCxnSpPr>
        <p:spPr>
          <a:xfrm>
            <a:off x="3769516" y="4265795"/>
            <a:ext cx="0" cy="406816"/>
          </a:xfrm>
          <a:prstGeom prst="line">
            <a:avLst/>
          </a:prstGeom>
          <a:ln w="25400" cap="flat" cmpd="sng" algn="ctr">
            <a:solidFill>
              <a:srgbClr val="203864"/>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 name="图片 2">
            <a:extLst>
              <a:ext uri="{FF2B5EF4-FFF2-40B4-BE49-F238E27FC236}">
                <a16:creationId xmlns:a16="http://schemas.microsoft.com/office/drawing/2014/main" id="{887E8B89-7AF6-4094-B36D-7E4D88EE2C7D}"/>
              </a:ext>
            </a:extLst>
          </p:cNvPr>
          <p:cNvPicPr>
            <a:picLocks noChangeAspect="1"/>
          </p:cNvPicPr>
          <p:nvPr/>
        </p:nvPicPr>
        <p:blipFill rotWithShape="1">
          <a:blip r:embed="rId3"/>
          <a:srcRect l="6013" r="5484"/>
          <a:stretch/>
        </p:blipFill>
        <p:spPr>
          <a:xfrm>
            <a:off x="6267749" y="2098588"/>
            <a:ext cx="5744294" cy="3552447"/>
          </a:xfrm>
          <a:prstGeom prst="rect">
            <a:avLst/>
          </a:prstGeom>
        </p:spPr>
      </p:pic>
      <p:cxnSp>
        <p:nvCxnSpPr>
          <p:cNvPr id="39" name="直接连接符 38">
            <a:extLst>
              <a:ext uri="{FF2B5EF4-FFF2-40B4-BE49-F238E27FC236}">
                <a16:creationId xmlns:a16="http://schemas.microsoft.com/office/drawing/2014/main" id="{FF99A151-52C3-4193-8199-035DF8F8D3AE}"/>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2FF98162-D313-4FA6-BACA-BA895C6DBF23}"/>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41" name="文本框 40">
            <a:extLst>
              <a:ext uri="{FF2B5EF4-FFF2-40B4-BE49-F238E27FC236}">
                <a16:creationId xmlns:a16="http://schemas.microsoft.com/office/drawing/2014/main" id="{CC512DB9-9761-4124-9A9E-37F53C12286C}"/>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42" name="矩形 41">
            <a:extLst>
              <a:ext uri="{FF2B5EF4-FFF2-40B4-BE49-F238E27FC236}">
                <a16:creationId xmlns:a16="http://schemas.microsoft.com/office/drawing/2014/main" id="{142445FC-6961-40B0-917B-DE6FF4CF93D4}"/>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a:extLst>
              <a:ext uri="{FF2B5EF4-FFF2-40B4-BE49-F238E27FC236}">
                <a16:creationId xmlns:a16="http://schemas.microsoft.com/office/drawing/2014/main" id="{9CCBF93E-DCD7-48A8-9E9A-58F7432D3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44" name="矩形 43">
            <a:extLst>
              <a:ext uri="{FF2B5EF4-FFF2-40B4-BE49-F238E27FC236}">
                <a16:creationId xmlns:a16="http://schemas.microsoft.com/office/drawing/2014/main" id="{40269BEC-0E4B-4CCE-AFA1-F2E8A907BBD1}"/>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47" name="文本框 46">
            <a:extLst>
              <a:ext uri="{FF2B5EF4-FFF2-40B4-BE49-F238E27FC236}">
                <a16:creationId xmlns:a16="http://schemas.microsoft.com/office/drawing/2014/main" id="{BD07BE4F-48E2-43AE-8986-DF9283A6D422}"/>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3.2 </a:t>
            </a:r>
            <a:r>
              <a:rPr lang="zh-CN" altLang="en-US" sz="2400" b="1" dirty="0">
                <a:solidFill>
                  <a:srgbClr val="203864"/>
                </a:solidFill>
                <a:latin typeface="微软雅黑" panose="020B0503020204020204" charset="-122"/>
                <a:ea typeface="微软雅黑" panose="020B0503020204020204" charset="-122"/>
              </a:rPr>
              <a:t>混合动作空间：空战最新应用</a:t>
            </a:r>
            <a:endParaRPr lang="en-US" altLang="zh-CN" sz="2400" b="1" dirty="0">
              <a:solidFill>
                <a:srgbClr val="203864"/>
              </a:solidFill>
              <a:latin typeface="微软雅黑" panose="020B0503020204020204" charset="-122"/>
              <a:ea typeface="微软雅黑" panose="020B0503020204020204" charset="-122"/>
            </a:endParaRPr>
          </a:p>
        </p:txBody>
      </p:sp>
      <p:sp>
        <p:nvSpPr>
          <p:cNvPr id="49" name="文本框 48">
            <a:extLst>
              <a:ext uri="{FF2B5EF4-FFF2-40B4-BE49-F238E27FC236}">
                <a16:creationId xmlns:a16="http://schemas.microsoft.com/office/drawing/2014/main" id="{2A937142-A936-40CA-910C-B25DD4A6C94E}"/>
              </a:ext>
            </a:extLst>
          </p:cNvPr>
          <p:cNvSpPr txBox="1"/>
          <p:nvPr/>
        </p:nvSpPr>
        <p:spPr>
          <a:xfrm>
            <a:off x="660088" y="1625732"/>
            <a:ext cx="5374079" cy="2461700"/>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基于混合动作的空战分层强化学习决策算法</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a:t>
            </a: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降低了问题的复杂度</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sym typeface="Wingdings" panose="05000000000000000000" pitchFamily="2" charset="2"/>
              </a:rPr>
              <a:t>免于直接控制杆</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减小算法的搜索空间</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动作相对于完全离散较</a:t>
            </a:r>
            <a:r>
              <a:rPr lang="zh-CN" altLang="en-US" sz="2000" b="1" dirty="0">
                <a:solidFill>
                  <a:srgbClr val="FF0000"/>
                </a:solidFill>
                <a:latin typeface="微软雅黑" panose="020B0503020204020204" pitchFamily="34" charset="-122"/>
                <a:ea typeface="微软雅黑" panose="020B0503020204020204" pitchFamily="34" charset="-122"/>
              </a:rPr>
              <a:t>灵活</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D00FD5D-C497-4DED-A471-A3575E66E119}"/>
              </a:ext>
            </a:extLst>
          </p:cNvPr>
          <p:cNvSpPr txBox="1"/>
          <p:nvPr/>
        </p:nvSpPr>
        <p:spPr>
          <a:xfrm>
            <a:off x="909541" y="4706652"/>
            <a:ext cx="998991" cy="171213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b="1" dirty="0"/>
              <a:t>拉起 </a:t>
            </a:r>
            <a:endParaRPr lang="en-US" altLang="zh-CN" b="1" dirty="0"/>
          </a:p>
          <a:p>
            <a:pPr marL="285750" indent="-285750">
              <a:lnSpc>
                <a:spcPct val="150000"/>
              </a:lnSpc>
              <a:buFont typeface="Arial" panose="020B0604020202020204" pitchFamily="34" charset="0"/>
              <a:buChar char="•"/>
            </a:pPr>
            <a:r>
              <a:rPr lang="zh-CN" altLang="en-US" b="1" dirty="0"/>
              <a:t>追踪 </a:t>
            </a:r>
            <a:endParaRPr lang="en-US" altLang="zh-CN" b="1" dirty="0"/>
          </a:p>
          <a:p>
            <a:pPr marL="285750" indent="-285750">
              <a:lnSpc>
                <a:spcPct val="150000"/>
              </a:lnSpc>
              <a:buFont typeface="Arial" panose="020B0604020202020204" pitchFamily="34" charset="0"/>
              <a:buChar char="•"/>
            </a:pPr>
            <a:r>
              <a:rPr lang="zh-CN" altLang="en-US" b="1" dirty="0"/>
              <a:t>攻击 </a:t>
            </a:r>
            <a:endParaRPr lang="en-US" altLang="zh-CN" b="1" dirty="0"/>
          </a:p>
          <a:p>
            <a:pPr marL="285750" indent="-285750">
              <a:lnSpc>
                <a:spcPct val="150000"/>
              </a:lnSpc>
              <a:buFont typeface="Arial" panose="020B0604020202020204" pitchFamily="34" charset="0"/>
              <a:buChar char="•"/>
            </a:pPr>
            <a:r>
              <a:rPr lang="zh-CN" altLang="en-US" b="1" dirty="0"/>
              <a:t>盘旋</a:t>
            </a:r>
          </a:p>
        </p:txBody>
      </p:sp>
      <p:sp>
        <p:nvSpPr>
          <p:cNvPr id="51" name="文本框 50">
            <a:extLst>
              <a:ext uri="{FF2B5EF4-FFF2-40B4-BE49-F238E27FC236}">
                <a16:creationId xmlns:a16="http://schemas.microsoft.com/office/drawing/2014/main" id="{7A5995F0-3360-41E8-960D-CD13B157D3F9}"/>
              </a:ext>
            </a:extLst>
          </p:cNvPr>
          <p:cNvSpPr txBox="1"/>
          <p:nvPr/>
        </p:nvSpPr>
        <p:spPr>
          <a:xfrm>
            <a:off x="2223703" y="4705815"/>
            <a:ext cx="1229824" cy="129663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b="1" dirty="0"/>
              <a:t>急盘旋 </a:t>
            </a:r>
            <a:endParaRPr lang="en-US" altLang="zh-CN" b="1" dirty="0"/>
          </a:p>
          <a:p>
            <a:pPr marL="285750" indent="-285750">
              <a:lnSpc>
                <a:spcPct val="150000"/>
              </a:lnSpc>
              <a:buFont typeface="Arial" panose="020B0604020202020204" pitchFamily="34" charset="0"/>
              <a:buChar char="•"/>
            </a:pPr>
            <a:r>
              <a:rPr lang="zh-CN" altLang="en-US" b="1" dirty="0"/>
              <a:t>筋斗 </a:t>
            </a:r>
            <a:endParaRPr lang="en-US" altLang="zh-CN" b="1" dirty="0"/>
          </a:p>
          <a:p>
            <a:pPr marL="285750" indent="-285750">
              <a:lnSpc>
                <a:spcPct val="150000"/>
              </a:lnSpc>
              <a:buFont typeface="Arial" panose="020B0604020202020204" pitchFamily="34" charset="0"/>
              <a:buChar char="•"/>
            </a:pPr>
            <a:r>
              <a:rPr lang="zh-CN" altLang="en-US" b="1" dirty="0"/>
              <a:t>平飞</a:t>
            </a:r>
          </a:p>
        </p:txBody>
      </p:sp>
      <p:sp>
        <p:nvSpPr>
          <p:cNvPr id="52" name="文本框 51">
            <a:extLst>
              <a:ext uri="{FF2B5EF4-FFF2-40B4-BE49-F238E27FC236}">
                <a16:creationId xmlns:a16="http://schemas.microsoft.com/office/drawing/2014/main" id="{4A86FD2F-6CB9-474E-8872-FB2E31C81803}"/>
              </a:ext>
            </a:extLst>
          </p:cNvPr>
          <p:cNvSpPr txBox="1"/>
          <p:nvPr/>
        </p:nvSpPr>
        <p:spPr>
          <a:xfrm>
            <a:off x="3966913" y="4705815"/>
            <a:ext cx="2089033" cy="171213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b="1" dirty="0"/>
              <a:t>过载</a:t>
            </a:r>
          </a:p>
          <a:p>
            <a:pPr marL="285750" indent="-285750">
              <a:lnSpc>
                <a:spcPct val="150000"/>
              </a:lnSpc>
              <a:buFont typeface="Arial" panose="020B0604020202020204" pitchFamily="34" charset="0"/>
              <a:buChar char="•"/>
            </a:pPr>
            <a:r>
              <a:rPr lang="zh-CN" altLang="en-US" b="1" dirty="0"/>
              <a:t>爬升率</a:t>
            </a:r>
            <a:endParaRPr lang="en-US" altLang="zh-CN" b="1" dirty="0"/>
          </a:p>
          <a:p>
            <a:pPr marL="285750" indent="-285750">
              <a:lnSpc>
                <a:spcPct val="150000"/>
              </a:lnSpc>
              <a:buFont typeface="Arial" panose="020B0604020202020204" pitchFamily="34" charset="0"/>
              <a:buChar char="•"/>
            </a:pPr>
            <a:r>
              <a:rPr lang="zh-CN" altLang="en-US" b="1" dirty="0"/>
              <a:t>速度（马赫数）</a:t>
            </a:r>
          </a:p>
          <a:p>
            <a:pPr marL="285750" indent="-285750">
              <a:lnSpc>
                <a:spcPct val="150000"/>
              </a:lnSpc>
              <a:buFont typeface="Arial" panose="020B0604020202020204" pitchFamily="34" charset="0"/>
              <a:buChar char="•"/>
            </a:pPr>
            <a:r>
              <a:rPr lang="zh-CN" altLang="en-US" b="1" dirty="0"/>
              <a:t>盘旋角速度</a:t>
            </a:r>
          </a:p>
        </p:txBody>
      </p:sp>
      <p:sp>
        <p:nvSpPr>
          <p:cNvPr id="53" name="文本框 52">
            <a:extLst>
              <a:ext uri="{FF2B5EF4-FFF2-40B4-BE49-F238E27FC236}">
                <a16:creationId xmlns:a16="http://schemas.microsoft.com/office/drawing/2014/main" id="{43D3BF34-A3FE-437B-A674-536CF252A75D}"/>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24</a:t>
            </a:r>
          </a:p>
        </p:txBody>
      </p:sp>
    </p:spTree>
    <p:extLst>
      <p:ext uri="{BB962C8B-B14F-4D97-AF65-F5344CB8AC3E}">
        <p14:creationId xmlns:p14="http://schemas.microsoft.com/office/powerpoint/2010/main" val="151830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a:extLst>
              <a:ext uri="{FF2B5EF4-FFF2-40B4-BE49-F238E27FC236}">
                <a16:creationId xmlns:a16="http://schemas.microsoft.com/office/drawing/2014/main" id="{2B6FC7CB-3CED-4C1E-AE9E-FF703278D235}"/>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C74234E6-BD89-4BB3-99D8-0D8DEF1A5CA5}"/>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33" name="文本框 32">
            <a:extLst>
              <a:ext uri="{FF2B5EF4-FFF2-40B4-BE49-F238E27FC236}">
                <a16:creationId xmlns:a16="http://schemas.microsoft.com/office/drawing/2014/main" id="{CF6EA5EA-70BF-4221-9E19-8C09E7076A49}"/>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29CA63AB-FC75-499C-9F2F-8F30371CF356}"/>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2F5385A4-9115-45B3-BCA5-A75004DDA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36" name="矩形 35">
            <a:extLst>
              <a:ext uri="{FF2B5EF4-FFF2-40B4-BE49-F238E27FC236}">
                <a16:creationId xmlns:a16="http://schemas.microsoft.com/office/drawing/2014/main" id="{3CC05D7A-2E56-45CD-8632-273ED2D49587}"/>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9DA9D7D4-1280-4B4C-9963-E76B65AEC001}"/>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3.3 </a:t>
            </a:r>
            <a:r>
              <a:rPr lang="zh-CN" altLang="en-US" sz="2400" b="1" dirty="0">
                <a:solidFill>
                  <a:srgbClr val="203864"/>
                </a:solidFill>
                <a:latin typeface="微软雅黑" panose="020B0503020204020204" charset="-122"/>
                <a:ea typeface="微软雅黑" panose="020B0503020204020204" charset="-122"/>
              </a:rPr>
              <a:t>课程学习</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模仿学习</a:t>
            </a:r>
            <a:endParaRPr lang="en-US" altLang="zh-CN" sz="2400" b="1" dirty="0">
              <a:solidFill>
                <a:srgbClr val="203864"/>
              </a:solidFill>
              <a:latin typeface="微软雅黑" panose="020B0503020204020204" charset="-122"/>
              <a:ea typeface="微软雅黑" panose="020B0503020204020204" charset="-122"/>
            </a:endParaRPr>
          </a:p>
        </p:txBody>
      </p:sp>
      <p:sp>
        <p:nvSpPr>
          <p:cNvPr id="16" name="圆角矩形 47">
            <a:extLst>
              <a:ext uri="{FF2B5EF4-FFF2-40B4-BE49-F238E27FC236}">
                <a16:creationId xmlns:a16="http://schemas.microsoft.com/office/drawing/2014/main" id="{7B331322-54ED-4EAB-93C4-3D3BED202B5A}"/>
              </a:ext>
            </a:extLst>
          </p:cNvPr>
          <p:cNvSpPr/>
          <p:nvPr/>
        </p:nvSpPr>
        <p:spPr>
          <a:xfrm>
            <a:off x="733270" y="1625731"/>
            <a:ext cx="10520459" cy="4962548"/>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7" name="文本框 16">
            <a:extLst>
              <a:ext uri="{FF2B5EF4-FFF2-40B4-BE49-F238E27FC236}">
                <a16:creationId xmlns:a16="http://schemas.microsoft.com/office/drawing/2014/main" id="{2A176166-8EBE-46A4-8CD0-0C0284D82C4E}"/>
              </a:ext>
            </a:extLst>
          </p:cNvPr>
          <p:cNvSpPr txBox="1"/>
          <p:nvPr/>
        </p:nvSpPr>
        <p:spPr>
          <a:xfrm>
            <a:off x="1140535" y="1726472"/>
            <a:ext cx="4105641" cy="3692806"/>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LAG</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中强化学习</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benchmark</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算法</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PPO</a:t>
            </a: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状态：本机和敌机的</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lvl="1">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	   </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高度、速度、姿态角</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动作：杆的四维输入</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具备一定训练成果</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p:txBody>
      </p:sp>
      <p:cxnSp>
        <p:nvCxnSpPr>
          <p:cNvPr id="20" name="直接连接符 19">
            <a:extLst>
              <a:ext uri="{FF2B5EF4-FFF2-40B4-BE49-F238E27FC236}">
                <a16:creationId xmlns:a16="http://schemas.microsoft.com/office/drawing/2014/main" id="{3F5DBF5B-4197-43F1-BA21-A75098FA53FA}"/>
              </a:ext>
            </a:extLst>
          </p:cNvPr>
          <p:cNvCxnSpPr>
            <a:cxnSpLocks/>
            <a:stCxn id="16" idx="0"/>
            <a:endCxn id="16" idx="2"/>
          </p:cNvCxnSpPr>
          <p:nvPr/>
        </p:nvCxnSpPr>
        <p:spPr>
          <a:xfrm>
            <a:off x="5993500" y="1625731"/>
            <a:ext cx="0" cy="4962548"/>
          </a:xfrm>
          <a:prstGeom prst="line">
            <a:avLst/>
          </a:prstGeom>
          <a:ln w="1905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a:extLst>
              <a:ext uri="{FF2B5EF4-FFF2-40B4-BE49-F238E27FC236}">
                <a16:creationId xmlns:a16="http://schemas.microsoft.com/office/drawing/2014/main" id="{01A7451F-AA8C-495B-96A0-93067661FDAB}"/>
              </a:ext>
            </a:extLst>
          </p:cNvPr>
          <p:cNvSpPr txBox="1"/>
          <p:nvPr/>
        </p:nvSpPr>
        <p:spPr>
          <a:xfrm>
            <a:off x="6570794" y="1726472"/>
            <a:ext cx="4105641" cy="3275064"/>
          </a:xfrm>
          <a:prstGeom prst="rect">
            <a:avLst/>
          </a:prstGeom>
          <a:noFill/>
        </p:spPr>
        <p:txBody>
          <a:bodyPr wrap="square" rtlCol="0">
            <a:spAutoFit/>
          </a:bodyPr>
          <a:lstStyle/>
          <a:p>
            <a:pPr>
              <a:lnSpc>
                <a:spcPct val="200000"/>
              </a:lnSpc>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尝试单纯</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PPO</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决策</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全部状态（包括导弹发射）</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800100" lvl="1" indent="-342900">
              <a:lnSpc>
                <a:spcPct val="200000"/>
              </a:lnSpc>
              <a:buFont typeface="Arial" panose="020B0604020202020204" pitchFamily="34" charset="0"/>
              <a:buChar char="•"/>
            </a:pPr>
            <a:r>
              <a:rPr lang="zh-CN" altLang="en-US" b="1" dirty="0">
                <a:solidFill>
                  <a:schemeClr val="accent1">
                    <a:lumMod val="75000"/>
                  </a:schemeClr>
                </a:solidFill>
                <a:latin typeface="微软雅黑" panose="020B0503020204020204" pitchFamily="34" charset="-122"/>
                <a:ea typeface="微软雅黑" panose="020B0503020204020204" pitchFamily="34" charset="-122"/>
              </a:rPr>
              <a:t>训练博弈能力</a:t>
            </a:r>
            <a:endParaRPr lang="en-US" altLang="zh-CN" b="1" dirty="0">
              <a:solidFill>
                <a:schemeClr val="accent1">
                  <a:lumMod val="75000"/>
                </a:schemeClr>
              </a:solidFill>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加入飞行控制器</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b="1" dirty="0">
                <a:solidFill>
                  <a:schemeClr val="accent1">
                    <a:lumMod val="75000"/>
                  </a:schemeClr>
                </a:solidFill>
                <a:latin typeface="微软雅黑" panose="020B0503020204020204" pitchFamily="34" charset="-122"/>
                <a:ea typeface="微软雅黑" panose="020B0503020204020204" pitchFamily="34" charset="-122"/>
              </a:rPr>
              <a:t>简化问题：轨迹跟踪</a:t>
            </a:r>
            <a:endParaRPr lang="en-US" altLang="zh-CN" b="1" dirty="0">
              <a:solidFill>
                <a:schemeClr val="accent1">
                  <a:lumMod val="75000"/>
                </a:schemeClr>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b="1" dirty="0">
                <a:solidFill>
                  <a:schemeClr val="accent1">
                    <a:lumMod val="75000"/>
                  </a:schemeClr>
                </a:solidFill>
                <a:latin typeface="微软雅黑" panose="020B0503020204020204" pitchFamily="34" charset="-122"/>
                <a:ea typeface="微软雅黑" panose="020B0503020204020204" pitchFamily="34" charset="-122"/>
              </a:rPr>
              <a:t>避免抖动</a:t>
            </a:r>
            <a:endParaRPr lang="en-US" altLang="zh-CN" b="1" dirty="0">
              <a:solidFill>
                <a:schemeClr val="accent1">
                  <a:lumMod val="75000"/>
                </a:schemeClr>
              </a:solidFill>
              <a:latin typeface="微软雅黑" panose="020B0503020204020204" pitchFamily="34" charset="-122"/>
              <a:ea typeface="微软雅黑" panose="020B0503020204020204" pitchFamily="34" charset="-122"/>
            </a:endParaRPr>
          </a:p>
        </p:txBody>
      </p:sp>
      <p:cxnSp>
        <p:nvCxnSpPr>
          <p:cNvPr id="26" name="直接连接符 25">
            <a:extLst>
              <a:ext uri="{FF2B5EF4-FFF2-40B4-BE49-F238E27FC236}">
                <a16:creationId xmlns:a16="http://schemas.microsoft.com/office/drawing/2014/main" id="{F8643C27-890A-4FE7-AB4D-09A626DD4419}"/>
              </a:ext>
            </a:extLst>
          </p:cNvPr>
          <p:cNvCxnSpPr>
            <a:cxnSpLocks/>
          </p:cNvCxnSpPr>
          <p:nvPr/>
        </p:nvCxnSpPr>
        <p:spPr>
          <a:xfrm flipH="1">
            <a:off x="5993499" y="5179180"/>
            <a:ext cx="5260230" cy="0"/>
          </a:xfrm>
          <a:prstGeom prst="line">
            <a:avLst/>
          </a:prstGeom>
          <a:ln w="1905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箭头: 右 11">
            <a:extLst>
              <a:ext uri="{FF2B5EF4-FFF2-40B4-BE49-F238E27FC236}">
                <a16:creationId xmlns:a16="http://schemas.microsoft.com/office/drawing/2014/main" id="{F31EDE8E-A2DB-4F5B-AC3A-90212ECEF6CF}"/>
              </a:ext>
            </a:extLst>
          </p:cNvPr>
          <p:cNvSpPr/>
          <p:nvPr/>
        </p:nvSpPr>
        <p:spPr>
          <a:xfrm>
            <a:off x="5606042" y="2992044"/>
            <a:ext cx="774914" cy="371960"/>
          </a:xfrm>
          <a:prstGeom prst="right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3" name="箭头: 下 12">
            <a:extLst>
              <a:ext uri="{FF2B5EF4-FFF2-40B4-BE49-F238E27FC236}">
                <a16:creationId xmlns:a16="http://schemas.microsoft.com/office/drawing/2014/main" id="{EE02A79D-B3E7-44E9-AFC3-30EB85C4D014}"/>
              </a:ext>
            </a:extLst>
          </p:cNvPr>
          <p:cNvSpPr/>
          <p:nvPr/>
        </p:nvSpPr>
        <p:spPr>
          <a:xfrm>
            <a:off x="8363579" y="4971418"/>
            <a:ext cx="402939" cy="447860"/>
          </a:xfrm>
          <a:prstGeom prst="down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39" name="文本框 38">
            <a:extLst>
              <a:ext uri="{FF2B5EF4-FFF2-40B4-BE49-F238E27FC236}">
                <a16:creationId xmlns:a16="http://schemas.microsoft.com/office/drawing/2014/main" id="{BC59242B-5397-4FDE-AECF-50035D998567}"/>
              </a:ext>
            </a:extLst>
          </p:cNvPr>
          <p:cNvSpPr txBox="1"/>
          <p:nvPr/>
        </p:nvSpPr>
        <p:spPr>
          <a:xfrm>
            <a:off x="6512227" y="5390933"/>
            <a:ext cx="4105641" cy="961289"/>
          </a:xfrm>
          <a:prstGeom prst="rect">
            <a:avLst/>
          </a:prstGeom>
          <a:noFill/>
        </p:spPr>
        <p:txBody>
          <a:bodyPr wrap="square" rtlCol="0">
            <a:spAutoFit/>
          </a:bodyPr>
          <a:lstStyle/>
          <a:p>
            <a:pPr>
              <a:lnSpc>
                <a:spcPct val="150000"/>
              </a:lnSpc>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逐渐接近原问题，减少状态信息</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模仿学习</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B7392379-CF5A-43A5-B917-BB4EC546E37C}"/>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25</a:t>
            </a:r>
          </a:p>
        </p:txBody>
      </p:sp>
    </p:spTree>
    <p:extLst>
      <p:ext uri="{BB962C8B-B14F-4D97-AF65-F5344CB8AC3E}">
        <p14:creationId xmlns:p14="http://schemas.microsoft.com/office/powerpoint/2010/main" val="375932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a:extLst>
              <a:ext uri="{FF2B5EF4-FFF2-40B4-BE49-F238E27FC236}">
                <a16:creationId xmlns:a16="http://schemas.microsoft.com/office/drawing/2014/main" id="{2B6FC7CB-3CED-4C1E-AE9E-FF703278D235}"/>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C74234E6-BD89-4BB3-99D8-0D8DEF1A5CA5}"/>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33" name="文本框 32">
            <a:extLst>
              <a:ext uri="{FF2B5EF4-FFF2-40B4-BE49-F238E27FC236}">
                <a16:creationId xmlns:a16="http://schemas.microsoft.com/office/drawing/2014/main" id="{CF6EA5EA-70BF-4221-9E19-8C09E7076A49}"/>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29CA63AB-FC75-499C-9F2F-8F30371CF356}"/>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2F5385A4-9115-45B3-BCA5-A75004DDA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36" name="矩形 35">
            <a:extLst>
              <a:ext uri="{FF2B5EF4-FFF2-40B4-BE49-F238E27FC236}">
                <a16:creationId xmlns:a16="http://schemas.microsoft.com/office/drawing/2014/main" id="{3CC05D7A-2E56-45CD-8632-273ED2D49587}"/>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9DA9D7D4-1280-4B4C-9963-E76B65AEC001}"/>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3.3 </a:t>
            </a:r>
            <a:r>
              <a:rPr lang="zh-CN" altLang="en-US" sz="2400" b="1" dirty="0">
                <a:solidFill>
                  <a:srgbClr val="203864"/>
                </a:solidFill>
                <a:latin typeface="微软雅黑" panose="020B0503020204020204" charset="-122"/>
                <a:ea typeface="微软雅黑" panose="020B0503020204020204" charset="-122"/>
              </a:rPr>
              <a:t>课程学习</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模仿学习</a:t>
            </a:r>
            <a:endParaRPr lang="en-US" altLang="zh-CN" sz="2400" b="1" dirty="0">
              <a:solidFill>
                <a:srgbClr val="203864"/>
              </a:solidFill>
              <a:latin typeface="微软雅黑" panose="020B0503020204020204" charset="-122"/>
              <a:ea typeface="微软雅黑" panose="020B0503020204020204" charset="-122"/>
            </a:endParaRPr>
          </a:p>
        </p:txBody>
      </p:sp>
      <p:sp>
        <p:nvSpPr>
          <p:cNvPr id="16" name="圆角矩形 47">
            <a:extLst>
              <a:ext uri="{FF2B5EF4-FFF2-40B4-BE49-F238E27FC236}">
                <a16:creationId xmlns:a16="http://schemas.microsoft.com/office/drawing/2014/main" id="{7B331322-54ED-4EAB-93C4-3D3BED202B5A}"/>
              </a:ext>
            </a:extLst>
          </p:cNvPr>
          <p:cNvSpPr/>
          <p:nvPr/>
        </p:nvSpPr>
        <p:spPr>
          <a:xfrm>
            <a:off x="232476" y="1625731"/>
            <a:ext cx="11021254" cy="4962548"/>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7" name="文本框 16">
            <a:extLst>
              <a:ext uri="{FF2B5EF4-FFF2-40B4-BE49-F238E27FC236}">
                <a16:creationId xmlns:a16="http://schemas.microsoft.com/office/drawing/2014/main" id="{2A176166-8EBE-46A4-8CD0-0C0284D82C4E}"/>
              </a:ext>
            </a:extLst>
          </p:cNvPr>
          <p:cNvSpPr txBox="1"/>
          <p:nvPr/>
        </p:nvSpPr>
        <p:spPr>
          <a:xfrm>
            <a:off x="1140535" y="1726472"/>
            <a:ext cx="4105641" cy="615040"/>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LAG</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中强化学习</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benchmark</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算法</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p:txBody>
      </p:sp>
      <p:cxnSp>
        <p:nvCxnSpPr>
          <p:cNvPr id="20" name="直接连接符 19">
            <a:extLst>
              <a:ext uri="{FF2B5EF4-FFF2-40B4-BE49-F238E27FC236}">
                <a16:creationId xmlns:a16="http://schemas.microsoft.com/office/drawing/2014/main" id="{3F5DBF5B-4197-43F1-BA21-A75098FA53FA}"/>
              </a:ext>
            </a:extLst>
          </p:cNvPr>
          <p:cNvCxnSpPr>
            <a:cxnSpLocks/>
            <a:stCxn id="16" idx="0"/>
            <a:endCxn id="16" idx="2"/>
          </p:cNvCxnSpPr>
          <p:nvPr/>
        </p:nvCxnSpPr>
        <p:spPr>
          <a:xfrm>
            <a:off x="5743103" y="1625731"/>
            <a:ext cx="0" cy="4962548"/>
          </a:xfrm>
          <a:prstGeom prst="line">
            <a:avLst/>
          </a:prstGeom>
          <a:ln w="1905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a:extLst>
              <a:ext uri="{FF2B5EF4-FFF2-40B4-BE49-F238E27FC236}">
                <a16:creationId xmlns:a16="http://schemas.microsoft.com/office/drawing/2014/main" id="{01A7451F-AA8C-495B-96A0-93067661FDAB}"/>
              </a:ext>
            </a:extLst>
          </p:cNvPr>
          <p:cNvSpPr txBox="1"/>
          <p:nvPr/>
        </p:nvSpPr>
        <p:spPr>
          <a:xfrm>
            <a:off x="6570794" y="1726472"/>
            <a:ext cx="4105641" cy="615040"/>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Stable-baselines3</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中</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PPO</a:t>
            </a:r>
          </a:p>
        </p:txBody>
      </p:sp>
      <p:sp>
        <p:nvSpPr>
          <p:cNvPr id="12" name="箭头: 右 11">
            <a:extLst>
              <a:ext uri="{FF2B5EF4-FFF2-40B4-BE49-F238E27FC236}">
                <a16:creationId xmlns:a16="http://schemas.microsoft.com/office/drawing/2014/main" id="{F31EDE8E-A2DB-4F5B-AC3A-90212ECEF6CF}"/>
              </a:ext>
            </a:extLst>
          </p:cNvPr>
          <p:cNvSpPr/>
          <p:nvPr/>
        </p:nvSpPr>
        <p:spPr>
          <a:xfrm>
            <a:off x="5606042" y="2992044"/>
            <a:ext cx="774914" cy="371960"/>
          </a:xfrm>
          <a:prstGeom prst="right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pic>
        <p:nvPicPr>
          <p:cNvPr id="3" name="图片 2">
            <a:extLst>
              <a:ext uri="{FF2B5EF4-FFF2-40B4-BE49-F238E27FC236}">
                <a16:creationId xmlns:a16="http://schemas.microsoft.com/office/drawing/2014/main" id="{F9C5E737-C40B-4808-B5EA-DD94E064E4CF}"/>
              </a:ext>
            </a:extLst>
          </p:cNvPr>
          <p:cNvPicPr>
            <a:picLocks noChangeAspect="1"/>
          </p:cNvPicPr>
          <p:nvPr/>
        </p:nvPicPr>
        <p:blipFill>
          <a:blip r:embed="rId4"/>
          <a:stretch>
            <a:fillRect/>
          </a:stretch>
        </p:blipFill>
        <p:spPr>
          <a:xfrm>
            <a:off x="526942" y="2442253"/>
            <a:ext cx="5010569" cy="3757927"/>
          </a:xfrm>
          <a:prstGeom prst="rect">
            <a:avLst/>
          </a:prstGeom>
        </p:spPr>
      </p:pic>
      <p:sp>
        <p:nvSpPr>
          <p:cNvPr id="22" name="文本框 21">
            <a:extLst>
              <a:ext uri="{FF2B5EF4-FFF2-40B4-BE49-F238E27FC236}">
                <a16:creationId xmlns:a16="http://schemas.microsoft.com/office/drawing/2014/main" id="{6D562AE1-531E-48B2-A7E2-D14BBD12FB85}"/>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26</a:t>
            </a:r>
          </a:p>
        </p:txBody>
      </p:sp>
    </p:spTree>
    <p:extLst>
      <p:ext uri="{BB962C8B-B14F-4D97-AF65-F5344CB8AC3E}">
        <p14:creationId xmlns:p14="http://schemas.microsoft.com/office/powerpoint/2010/main" val="2786077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a:extLst>
              <a:ext uri="{FF2B5EF4-FFF2-40B4-BE49-F238E27FC236}">
                <a16:creationId xmlns:a16="http://schemas.microsoft.com/office/drawing/2014/main" id="{2B6FC7CB-3CED-4C1E-AE9E-FF703278D235}"/>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C74234E6-BD89-4BB3-99D8-0D8DEF1A5CA5}"/>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33" name="文本框 32">
            <a:extLst>
              <a:ext uri="{FF2B5EF4-FFF2-40B4-BE49-F238E27FC236}">
                <a16:creationId xmlns:a16="http://schemas.microsoft.com/office/drawing/2014/main" id="{CF6EA5EA-70BF-4221-9E19-8C09E7076A49}"/>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3 </a:t>
            </a:r>
            <a:r>
              <a:rPr lang="zh-CN" altLang="en-US" sz="3600" b="1" dirty="0">
                <a:solidFill>
                  <a:srgbClr val="203864"/>
                </a:solidFill>
                <a:latin typeface="微软雅黑" panose="020B0503020204020204" charset="-122"/>
                <a:ea typeface="微软雅黑" panose="020B0503020204020204" charset="-122"/>
              </a:rPr>
              <a:t>算法研究</a:t>
            </a:r>
            <a:endParaRPr lang="en-US" altLang="zh-CN" sz="3600" b="1" dirty="0">
              <a:solidFill>
                <a:srgbClr val="203864"/>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29CA63AB-FC75-499C-9F2F-8F30371CF356}"/>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a:extLst>
              <a:ext uri="{FF2B5EF4-FFF2-40B4-BE49-F238E27FC236}">
                <a16:creationId xmlns:a16="http://schemas.microsoft.com/office/drawing/2014/main" id="{2F5385A4-9115-45B3-BCA5-A75004DDAD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36" name="矩形 35">
            <a:extLst>
              <a:ext uri="{FF2B5EF4-FFF2-40B4-BE49-F238E27FC236}">
                <a16:creationId xmlns:a16="http://schemas.microsoft.com/office/drawing/2014/main" id="{3CC05D7A-2E56-45CD-8632-273ED2D49587}"/>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37" name="文本框 36">
            <a:extLst>
              <a:ext uri="{FF2B5EF4-FFF2-40B4-BE49-F238E27FC236}">
                <a16:creationId xmlns:a16="http://schemas.microsoft.com/office/drawing/2014/main" id="{9DA9D7D4-1280-4B4C-9963-E76B65AEC001}"/>
              </a:ext>
            </a:extLst>
          </p:cNvPr>
          <p:cNvSpPr txBox="1"/>
          <p:nvPr/>
        </p:nvSpPr>
        <p:spPr>
          <a:xfrm>
            <a:off x="515784" y="986422"/>
            <a:ext cx="8581715" cy="461665"/>
          </a:xfrm>
          <a:prstGeom prst="rect">
            <a:avLst/>
          </a:prstGeom>
          <a:noFill/>
        </p:spPr>
        <p:txBody>
          <a:bodyPr wrap="square" rtlCol="0">
            <a:spAutoFit/>
          </a:bodyPr>
          <a:lstStyle/>
          <a:p>
            <a:r>
              <a:rPr lang="en-US" altLang="zh-CN" sz="2400" b="1" dirty="0">
                <a:solidFill>
                  <a:srgbClr val="203864"/>
                </a:solidFill>
                <a:latin typeface="微软雅黑" panose="020B0503020204020204" charset="-122"/>
                <a:ea typeface="微软雅黑" panose="020B0503020204020204" charset="-122"/>
              </a:rPr>
              <a:t>3.3 </a:t>
            </a:r>
            <a:r>
              <a:rPr lang="zh-CN" altLang="en-US" sz="2400" b="1" dirty="0">
                <a:solidFill>
                  <a:srgbClr val="203864"/>
                </a:solidFill>
                <a:latin typeface="微软雅黑" panose="020B0503020204020204" charset="-122"/>
                <a:ea typeface="微软雅黑" panose="020B0503020204020204" charset="-122"/>
              </a:rPr>
              <a:t>课程学习</a:t>
            </a:r>
            <a:r>
              <a:rPr lang="en-US" altLang="zh-CN" sz="2400" b="1" dirty="0">
                <a:solidFill>
                  <a:srgbClr val="203864"/>
                </a:solidFill>
                <a:latin typeface="微软雅黑" panose="020B0503020204020204" charset="-122"/>
                <a:ea typeface="微软雅黑" panose="020B0503020204020204" charset="-122"/>
              </a:rPr>
              <a:t>/</a:t>
            </a:r>
            <a:r>
              <a:rPr lang="zh-CN" altLang="en-US" sz="2400" b="1" dirty="0">
                <a:solidFill>
                  <a:srgbClr val="203864"/>
                </a:solidFill>
                <a:latin typeface="微软雅黑" panose="020B0503020204020204" charset="-122"/>
                <a:ea typeface="微软雅黑" panose="020B0503020204020204" charset="-122"/>
              </a:rPr>
              <a:t>模仿学习</a:t>
            </a:r>
            <a:endParaRPr lang="en-US" altLang="zh-CN" sz="2400" b="1" dirty="0">
              <a:solidFill>
                <a:srgbClr val="203864"/>
              </a:solidFill>
              <a:latin typeface="微软雅黑" panose="020B0503020204020204" charset="-122"/>
              <a:ea typeface="微软雅黑" panose="020B0503020204020204" charset="-122"/>
            </a:endParaRPr>
          </a:p>
        </p:txBody>
      </p:sp>
      <p:sp>
        <p:nvSpPr>
          <p:cNvPr id="16" name="圆角矩形 47">
            <a:extLst>
              <a:ext uri="{FF2B5EF4-FFF2-40B4-BE49-F238E27FC236}">
                <a16:creationId xmlns:a16="http://schemas.microsoft.com/office/drawing/2014/main" id="{7B331322-54ED-4EAB-93C4-3D3BED202B5A}"/>
              </a:ext>
            </a:extLst>
          </p:cNvPr>
          <p:cNvSpPr/>
          <p:nvPr/>
        </p:nvSpPr>
        <p:spPr>
          <a:xfrm>
            <a:off x="232476" y="1625731"/>
            <a:ext cx="11021254" cy="4962548"/>
          </a:xfrm>
          <a:prstGeom prst="round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sp>
        <p:nvSpPr>
          <p:cNvPr id="17" name="文本框 16">
            <a:extLst>
              <a:ext uri="{FF2B5EF4-FFF2-40B4-BE49-F238E27FC236}">
                <a16:creationId xmlns:a16="http://schemas.microsoft.com/office/drawing/2014/main" id="{2A176166-8EBE-46A4-8CD0-0C0284D82C4E}"/>
              </a:ext>
            </a:extLst>
          </p:cNvPr>
          <p:cNvSpPr txBox="1"/>
          <p:nvPr/>
        </p:nvSpPr>
        <p:spPr>
          <a:xfrm>
            <a:off x="1140535" y="1726472"/>
            <a:ext cx="4105641" cy="615040"/>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LAG</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中强化学习</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benchmark</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算法</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p:txBody>
      </p:sp>
      <p:cxnSp>
        <p:nvCxnSpPr>
          <p:cNvPr id="20" name="直接连接符 19">
            <a:extLst>
              <a:ext uri="{FF2B5EF4-FFF2-40B4-BE49-F238E27FC236}">
                <a16:creationId xmlns:a16="http://schemas.microsoft.com/office/drawing/2014/main" id="{3F5DBF5B-4197-43F1-BA21-A75098FA53FA}"/>
              </a:ext>
            </a:extLst>
          </p:cNvPr>
          <p:cNvCxnSpPr>
            <a:cxnSpLocks/>
            <a:stCxn id="16" idx="0"/>
            <a:endCxn id="16" idx="2"/>
          </p:cNvCxnSpPr>
          <p:nvPr/>
        </p:nvCxnSpPr>
        <p:spPr>
          <a:xfrm>
            <a:off x="5743103" y="1625731"/>
            <a:ext cx="0" cy="4962548"/>
          </a:xfrm>
          <a:prstGeom prst="line">
            <a:avLst/>
          </a:prstGeom>
          <a:ln w="19050" cap="flat" cmpd="sng" algn="ctr">
            <a:solidFill>
              <a:srgbClr val="273E69"/>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a:extLst>
              <a:ext uri="{FF2B5EF4-FFF2-40B4-BE49-F238E27FC236}">
                <a16:creationId xmlns:a16="http://schemas.microsoft.com/office/drawing/2014/main" id="{01A7451F-AA8C-495B-96A0-93067661FDAB}"/>
              </a:ext>
            </a:extLst>
          </p:cNvPr>
          <p:cNvSpPr txBox="1"/>
          <p:nvPr/>
        </p:nvSpPr>
        <p:spPr>
          <a:xfrm>
            <a:off x="6570794" y="1726472"/>
            <a:ext cx="4105641" cy="615040"/>
          </a:xfrm>
          <a:prstGeom prst="rect">
            <a:avLst/>
          </a:prstGeom>
          <a:noFill/>
        </p:spPr>
        <p:txBody>
          <a:bodyPr wrap="square" rtlCol="0">
            <a:spAutoFit/>
          </a:bodyPr>
          <a:lstStyle/>
          <a:p>
            <a:pPr>
              <a:lnSpc>
                <a:spcPct val="200000"/>
              </a:lnSpc>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Stable-baselines3</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中</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PPO</a:t>
            </a:r>
          </a:p>
        </p:txBody>
      </p:sp>
      <p:sp>
        <p:nvSpPr>
          <p:cNvPr id="12" name="箭头: 右 11">
            <a:extLst>
              <a:ext uri="{FF2B5EF4-FFF2-40B4-BE49-F238E27FC236}">
                <a16:creationId xmlns:a16="http://schemas.microsoft.com/office/drawing/2014/main" id="{F31EDE8E-A2DB-4F5B-AC3A-90212ECEF6CF}"/>
              </a:ext>
            </a:extLst>
          </p:cNvPr>
          <p:cNvSpPr/>
          <p:nvPr/>
        </p:nvSpPr>
        <p:spPr>
          <a:xfrm>
            <a:off x="5606042" y="2992044"/>
            <a:ext cx="774914" cy="371960"/>
          </a:xfrm>
          <a:prstGeom prst="rightArrow">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pic>
        <p:nvPicPr>
          <p:cNvPr id="3" name="图片 2">
            <a:extLst>
              <a:ext uri="{FF2B5EF4-FFF2-40B4-BE49-F238E27FC236}">
                <a16:creationId xmlns:a16="http://schemas.microsoft.com/office/drawing/2014/main" id="{F9C5E737-C40B-4808-B5EA-DD94E064E4CF}"/>
              </a:ext>
            </a:extLst>
          </p:cNvPr>
          <p:cNvPicPr>
            <a:picLocks noChangeAspect="1"/>
          </p:cNvPicPr>
          <p:nvPr/>
        </p:nvPicPr>
        <p:blipFill>
          <a:blip r:embed="rId6"/>
          <a:stretch>
            <a:fillRect/>
          </a:stretch>
        </p:blipFill>
        <p:spPr>
          <a:xfrm>
            <a:off x="526942" y="2442253"/>
            <a:ext cx="5010569" cy="3757927"/>
          </a:xfrm>
          <a:prstGeom prst="rect">
            <a:avLst/>
          </a:prstGeom>
        </p:spPr>
      </p:pic>
      <p:pic>
        <p:nvPicPr>
          <p:cNvPr id="5" name="QQ2025219-165954">
            <a:hlinkClick r:id="" action="ppaction://media"/>
            <a:extLst>
              <a:ext uri="{FF2B5EF4-FFF2-40B4-BE49-F238E27FC236}">
                <a16:creationId xmlns:a16="http://schemas.microsoft.com/office/drawing/2014/main" id="{69AAF437-9905-4A0D-AD0C-90F6BC19A8FD}"/>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00075" y="0"/>
            <a:ext cx="10991850" cy="6858000"/>
          </a:xfrm>
          <a:prstGeom prst="rect">
            <a:avLst/>
          </a:prstGeom>
        </p:spPr>
      </p:pic>
      <p:sp>
        <p:nvSpPr>
          <p:cNvPr id="18" name="文本框 17">
            <a:extLst>
              <a:ext uri="{FF2B5EF4-FFF2-40B4-BE49-F238E27FC236}">
                <a16:creationId xmlns:a16="http://schemas.microsoft.com/office/drawing/2014/main" id="{8907503B-445D-4082-869E-92120AC3DD27}"/>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27</a:t>
            </a:r>
          </a:p>
        </p:txBody>
      </p:sp>
    </p:spTree>
    <p:extLst>
      <p:ext uri="{BB962C8B-B14F-4D97-AF65-F5344CB8AC3E}">
        <p14:creationId xmlns:p14="http://schemas.microsoft.com/office/powerpoint/2010/main" val="332250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831ADB2-C092-436F-8AD2-EC2C8E7FE26A}"/>
              </a:ext>
            </a:extLst>
          </p:cNvPr>
          <p:cNvGrpSpPr/>
          <p:nvPr/>
        </p:nvGrpSpPr>
        <p:grpSpPr>
          <a:xfrm>
            <a:off x="660088" y="2141538"/>
            <a:ext cx="5453679" cy="1939682"/>
            <a:chOff x="586905" y="1103151"/>
            <a:chExt cx="5453679" cy="1939682"/>
          </a:xfrm>
        </p:grpSpPr>
        <p:sp>
          <p:nvSpPr>
            <p:cNvPr id="2" name="矩形 1"/>
            <p:cNvSpPr/>
            <p:nvPr/>
          </p:nvSpPr>
          <p:spPr>
            <a:xfrm>
              <a:off x="658167" y="1272005"/>
              <a:ext cx="5324179" cy="1525354"/>
            </a:xfrm>
            <a:prstGeom prst="rect">
              <a:avLst/>
            </a:prstGeom>
          </p:spPr>
          <p:txBody>
            <a:bodyPr wrap="square">
              <a:spAutoFit/>
            </a:bodyPr>
            <a:lstStyle/>
            <a:p>
              <a:pPr algn="just">
                <a:lnSpc>
                  <a:spcPct val="150000"/>
                </a:lnSpc>
                <a:spcBef>
                  <a:spcPts val="400"/>
                </a:spcBef>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现状总结：</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对现有前沿技术、已有代码成果调研不足；</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实验成果保存、记录方面欠缺；</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586905" y="1103151"/>
              <a:ext cx="5453679" cy="1939682"/>
            </a:xfrm>
            <a:prstGeom prst="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grpSp>
      <p:grpSp>
        <p:nvGrpSpPr>
          <p:cNvPr id="6" name="组合 5">
            <a:extLst>
              <a:ext uri="{FF2B5EF4-FFF2-40B4-BE49-F238E27FC236}">
                <a16:creationId xmlns:a16="http://schemas.microsoft.com/office/drawing/2014/main" id="{19ED6EEB-5E41-4675-9878-BD0C0A610FC4}"/>
              </a:ext>
            </a:extLst>
          </p:cNvPr>
          <p:cNvGrpSpPr/>
          <p:nvPr/>
        </p:nvGrpSpPr>
        <p:grpSpPr>
          <a:xfrm>
            <a:off x="6309549" y="1704376"/>
            <a:ext cx="5453679" cy="2814006"/>
            <a:chOff x="6339216" y="1103151"/>
            <a:chExt cx="5453679" cy="2814006"/>
          </a:xfrm>
        </p:grpSpPr>
        <p:sp>
          <p:nvSpPr>
            <p:cNvPr id="23" name="矩形 22"/>
            <p:cNvSpPr/>
            <p:nvPr/>
          </p:nvSpPr>
          <p:spPr>
            <a:xfrm>
              <a:off x="6551871" y="1211504"/>
              <a:ext cx="5241024" cy="2551276"/>
            </a:xfrm>
            <a:prstGeom prst="rect">
              <a:avLst/>
            </a:prstGeom>
          </p:spPr>
          <p:txBody>
            <a:bodyPr wrap="square">
              <a:spAutoFit/>
            </a:bodyPr>
            <a:lstStyle/>
            <a:p>
              <a:pPr algn="just">
                <a:lnSpc>
                  <a:spcPct val="150000"/>
                </a:lnSpc>
                <a:spcBef>
                  <a:spcPts val="400"/>
                </a:spcBef>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未来计划：</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熟悉公开仿真平台和算法库等；</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广泛调研现有论文成果；</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尝试如今算法思路；</a:t>
              </a:r>
              <a:endPar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50000"/>
                </a:lnSpc>
                <a:spcBef>
                  <a:spcPts val="400"/>
                </a:spcBef>
                <a:buFont typeface="+mj-lt"/>
                <a:buAutoNum type="arabicPeriod"/>
              </a:pP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了解</a:t>
              </a:r>
              <a:r>
                <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Safe-RL</a:t>
              </a: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Smooth-RL</a:t>
              </a:r>
              <a:r>
                <a:rPr lang="zh-CN" altLang="en-US" sz="20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等；</a:t>
              </a:r>
              <a:endPar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矩形 23"/>
            <p:cNvSpPr/>
            <p:nvPr/>
          </p:nvSpPr>
          <p:spPr>
            <a:xfrm>
              <a:off x="6339216" y="1103151"/>
              <a:ext cx="5453679" cy="2814006"/>
            </a:xfrm>
            <a:prstGeom prst="rect">
              <a:avLst/>
            </a:prstGeom>
            <a:noFill/>
            <a:ln w="28575">
              <a:solidFill>
                <a:schemeClr val="accent1">
                  <a:lumMod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rgbClr val="FF0000"/>
                </a:solidFill>
              </a:endParaRPr>
            </a:p>
          </p:txBody>
        </p:sp>
      </p:grpSp>
      <p:cxnSp>
        <p:nvCxnSpPr>
          <p:cNvPr id="37" name="直接连接符 36">
            <a:extLst>
              <a:ext uri="{FF2B5EF4-FFF2-40B4-BE49-F238E27FC236}">
                <a16:creationId xmlns:a16="http://schemas.microsoft.com/office/drawing/2014/main" id="{5EC85A36-BB01-429B-A378-B8AF71768DDA}"/>
              </a:ext>
            </a:extLst>
          </p:cNvPr>
          <p:cNvCxnSpPr/>
          <p:nvPr/>
        </p:nvCxnSpPr>
        <p:spPr>
          <a:xfrm>
            <a:off x="733271" y="292540"/>
            <a:ext cx="0" cy="52881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D923B907-7196-4BEF-B4B2-2D9A11FBB672}"/>
              </a:ext>
            </a:extLst>
          </p:cNvPr>
          <p:cNvSpPr txBox="1"/>
          <p:nvPr/>
        </p:nvSpPr>
        <p:spPr>
          <a:xfrm>
            <a:off x="909541" y="224002"/>
            <a:ext cx="2359655" cy="584775"/>
          </a:xfrm>
          <a:prstGeom prst="rect">
            <a:avLst/>
          </a:prstGeom>
          <a:noFill/>
        </p:spPr>
        <p:txBody>
          <a:bodyPr wrap="square" rtlCol="0">
            <a:spAutoFit/>
          </a:bodyPr>
          <a:lstStyle/>
          <a:p>
            <a:r>
              <a:rPr lang="zh-CN" altLang="en-US" sz="3200" dirty="0">
                <a:solidFill>
                  <a:schemeClr val="bg1"/>
                </a:solidFill>
              </a:rPr>
              <a:t>论文答辩</a:t>
            </a:r>
          </a:p>
        </p:txBody>
      </p:sp>
      <p:sp>
        <p:nvSpPr>
          <p:cNvPr id="39" name="文本框 38">
            <a:extLst>
              <a:ext uri="{FF2B5EF4-FFF2-40B4-BE49-F238E27FC236}">
                <a16:creationId xmlns:a16="http://schemas.microsoft.com/office/drawing/2014/main" id="{CF28A278-8A2A-4C11-BC89-DCC0DAC4D6A8}"/>
              </a:ext>
            </a:extLst>
          </p:cNvPr>
          <p:cNvSpPr txBox="1"/>
          <p:nvPr/>
        </p:nvSpPr>
        <p:spPr>
          <a:xfrm>
            <a:off x="733270" y="224002"/>
            <a:ext cx="4272481" cy="646331"/>
          </a:xfrm>
          <a:prstGeom prst="rect">
            <a:avLst/>
          </a:prstGeom>
          <a:noFill/>
        </p:spPr>
        <p:txBody>
          <a:bodyPr wrap="square" rtlCol="0">
            <a:spAutoFit/>
          </a:bodyPr>
          <a:lstStyle/>
          <a:p>
            <a:r>
              <a:rPr lang="en-US" altLang="zh-CN" sz="3600" b="1" dirty="0">
                <a:solidFill>
                  <a:srgbClr val="203864"/>
                </a:solidFill>
                <a:latin typeface="微软雅黑" panose="020B0503020204020204" charset="-122"/>
                <a:ea typeface="微软雅黑" panose="020B0503020204020204" charset="-122"/>
              </a:rPr>
              <a:t>4 </a:t>
            </a:r>
            <a:r>
              <a:rPr lang="zh-CN" altLang="en-US" sz="3600" b="1" dirty="0">
                <a:solidFill>
                  <a:srgbClr val="203864"/>
                </a:solidFill>
                <a:latin typeface="微软雅黑" panose="020B0503020204020204" charset="-122"/>
                <a:ea typeface="微软雅黑" panose="020B0503020204020204" charset="-122"/>
              </a:rPr>
              <a:t>总结</a:t>
            </a:r>
            <a:endParaRPr lang="en-US" altLang="zh-CN" sz="3600" b="1" dirty="0">
              <a:solidFill>
                <a:srgbClr val="203864"/>
              </a:solidFill>
              <a:latin typeface="微软雅黑" panose="020B0503020204020204" charset="-122"/>
              <a:ea typeface="微软雅黑" panose="020B0503020204020204" charset="-122"/>
            </a:endParaRPr>
          </a:p>
        </p:txBody>
      </p:sp>
      <p:sp>
        <p:nvSpPr>
          <p:cNvPr id="40" name="矩形 39">
            <a:extLst>
              <a:ext uri="{FF2B5EF4-FFF2-40B4-BE49-F238E27FC236}">
                <a16:creationId xmlns:a16="http://schemas.microsoft.com/office/drawing/2014/main" id="{8CF419DC-D9E6-48E9-BDF1-2A65360C67E0}"/>
              </a:ext>
            </a:extLst>
          </p:cNvPr>
          <p:cNvSpPr/>
          <p:nvPr/>
        </p:nvSpPr>
        <p:spPr>
          <a:xfrm>
            <a:off x="586905" y="292540"/>
            <a:ext cx="146366" cy="5162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a:extLst>
              <a:ext uri="{FF2B5EF4-FFF2-40B4-BE49-F238E27FC236}">
                <a16:creationId xmlns:a16="http://schemas.microsoft.com/office/drawing/2014/main" id="{0303A60C-74C3-420F-BCE7-0C30F0906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6520" y="203046"/>
            <a:ext cx="3425480" cy="611918"/>
          </a:xfrm>
          <a:prstGeom prst="rect">
            <a:avLst/>
          </a:prstGeom>
        </p:spPr>
      </p:pic>
      <p:sp>
        <p:nvSpPr>
          <p:cNvPr id="42" name="矩形 41">
            <a:extLst>
              <a:ext uri="{FF2B5EF4-FFF2-40B4-BE49-F238E27FC236}">
                <a16:creationId xmlns:a16="http://schemas.microsoft.com/office/drawing/2014/main" id="{0A7416A6-B7E2-4577-A6F6-EEA6571F0E10}"/>
              </a:ext>
            </a:extLst>
          </p:cNvPr>
          <p:cNvSpPr/>
          <p:nvPr/>
        </p:nvSpPr>
        <p:spPr>
          <a:xfrm flipV="1">
            <a:off x="592401" y="808650"/>
            <a:ext cx="11434296" cy="45719"/>
          </a:xfrm>
          <a:prstGeom prst="rect">
            <a:avLst/>
          </a:prstGeom>
          <a:solidFill>
            <a:srgbClr val="203864"/>
          </a:solidFill>
          <a:ln>
            <a:solidFill>
              <a:srgbClr val="20386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sp>
        <p:nvSpPr>
          <p:cNvPr id="44" name="文本框 43">
            <a:extLst>
              <a:ext uri="{FF2B5EF4-FFF2-40B4-BE49-F238E27FC236}">
                <a16:creationId xmlns:a16="http://schemas.microsoft.com/office/drawing/2014/main" id="{BB23D707-CFB2-4569-8EAC-8670EA10E553}"/>
              </a:ext>
            </a:extLst>
          </p:cNvPr>
          <p:cNvSpPr txBox="1"/>
          <p:nvPr/>
        </p:nvSpPr>
        <p:spPr>
          <a:xfrm>
            <a:off x="11785094" y="6488668"/>
            <a:ext cx="41549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69023" y="0"/>
            <a:ext cx="5007917" cy="6858000"/>
          </a:xfrm>
          <a:prstGeom prst="rect">
            <a:avLst/>
          </a:prstGeom>
          <a:solidFill>
            <a:schemeClr val="accent1">
              <a:lumMod val="50000"/>
            </a:schemeClr>
          </a:solidFill>
          <a:ln>
            <a:solidFill>
              <a:srgbClr val="3457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矩形 3"/>
          <p:cNvSpPr/>
          <p:nvPr/>
        </p:nvSpPr>
        <p:spPr>
          <a:xfrm>
            <a:off x="370704" y="998838"/>
            <a:ext cx="11450595" cy="4860325"/>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65" name="直接连接符 64"/>
          <p:cNvCxnSpPr/>
          <p:nvPr/>
        </p:nvCxnSpPr>
        <p:spPr>
          <a:xfrm>
            <a:off x="5053765" y="4028046"/>
            <a:ext cx="1726726"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9" name="Group 66"/>
          <p:cNvGrpSpPr>
            <a:grpSpLocks noChangeAspect="1"/>
          </p:cNvGrpSpPr>
          <p:nvPr/>
        </p:nvGrpSpPr>
        <p:grpSpPr bwMode="auto">
          <a:xfrm>
            <a:off x="6418151" y="4684714"/>
            <a:ext cx="256116" cy="277284"/>
            <a:chOff x="2111" y="2322"/>
            <a:chExt cx="121" cy="131"/>
          </a:xfrm>
          <a:solidFill>
            <a:schemeClr val="bg1"/>
          </a:solidFill>
        </p:grpSpPr>
        <p:sp>
          <p:nvSpPr>
            <p:cNvPr id="81"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121920" tIns="60960" rIns="121920" bIns="60960" numCol="1" anchor="t" anchorCtr="0" compatLnSpc="1"/>
            <a:lstStyle/>
            <a:p>
              <a:endParaRPr lang="zh-CN" altLang="en-US" sz="2400" dirty="0">
                <a:solidFill>
                  <a:srgbClr val="212834"/>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grpSp>
      <p:sp>
        <p:nvSpPr>
          <p:cNvPr id="21" name="文本框 20"/>
          <p:cNvSpPr txBox="1"/>
          <p:nvPr/>
        </p:nvSpPr>
        <p:spPr>
          <a:xfrm>
            <a:off x="765571" y="2831153"/>
            <a:ext cx="11168846" cy="1015663"/>
          </a:xfrm>
          <a:prstGeom prst="rect">
            <a:avLst/>
          </a:prstGeom>
          <a:noFill/>
        </p:spPr>
        <p:txBody>
          <a:bodyPr vert="horz" wrap="square" rtlCol="0">
            <a:spAutoFit/>
          </a:bodyPr>
          <a:lstStyle/>
          <a:p>
            <a:pPr algn="ctr">
              <a:spcBef>
                <a:spcPct val="0"/>
              </a:spcBef>
            </a:pPr>
            <a:r>
              <a:rPr lang="zh-CN" altLang="en-US" sz="6000" b="1" dirty="0">
                <a:solidFill>
                  <a:srgbClr val="203864"/>
                </a:solidFill>
                <a:latin typeface="微软雅黑" panose="020B0503020204020204" pitchFamily="34" charset="-122"/>
                <a:ea typeface="微软雅黑" panose="020B0503020204020204" pitchFamily="34" charset="-122"/>
              </a:rPr>
              <a:t>感谢各位老师、同学批评指正！</a:t>
            </a:r>
          </a:p>
        </p:txBody>
      </p:sp>
      <p:pic>
        <p:nvPicPr>
          <p:cNvPr id="11" name="图片 10"/>
          <p:cNvPicPr>
            <a:picLocks noChangeAspect="1"/>
          </p:cNvPicPr>
          <p:nvPr/>
        </p:nvPicPr>
        <p:blipFill>
          <a:blip r:embed="rId3" cstate="print">
            <a:biLevel thresh="75000"/>
            <a:extLst>
              <a:ext uri="{28A0092B-C50C-407E-A947-70E740481C1C}">
                <a14:useLocalDpi xmlns:a14="http://schemas.microsoft.com/office/drawing/2010/main" val="0"/>
              </a:ext>
            </a:extLst>
          </a:blip>
          <a:stretch>
            <a:fillRect/>
          </a:stretch>
        </p:blipFill>
        <p:spPr>
          <a:xfrm>
            <a:off x="4304960" y="1267692"/>
            <a:ext cx="3336043" cy="1127763"/>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4960" y="1387539"/>
            <a:ext cx="1156040" cy="8798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JkYzNkODI2MDUzYzBmYWVjOTZkNmU1M2YwMTk2Y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chemeClr val="accent1">
              <a:lumMod val="50000"/>
            </a:schemeClr>
          </a:solidFill>
          <a:prstDash val="sysDash"/>
        </a:ln>
      </a:spPr>
      <a:bodyPr rtlCol="0" anchor="ctr"/>
      <a:lstStyle>
        <a:defPPr algn="ctr">
          <a:defRPr lang="zh-CN" altLang="en-US">
            <a:solidFill>
              <a:srgbClr val="FF0000"/>
            </a:solidFill>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20509</TotalTime>
  <Words>1868</Words>
  <Application>Microsoft Office PowerPoint</Application>
  <PresentationFormat>宽屏</PresentationFormat>
  <Paragraphs>366</Paragraphs>
  <Slides>33</Slides>
  <Notes>33</Notes>
  <HiddenSlides>0</HiddenSlides>
  <MMClips>1</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33</vt:i4>
      </vt:variant>
    </vt:vector>
  </HeadingPairs>
  <TitlesOfParts>
    <vt:vector size="48" baseType="lpstr">
      <vt:lpstr>等线</vt:lpstr>
      <vt:lpstr>等线 Light</vt:lpstr>
      <vt:lpstr>黑体</vt:lpstr>
      <vt:lpstr>宋体</vt:lpstr>
      <vt:lpstr>微软雅黑</vt:lpstr>
      <vt:lpstr>Arial</vt:lpstr>
      <vt:lpstr>Calibri</vt:lpstr>
      <vt:lpstr>Cambria Math</vt:lpstr>
      <vt:lpstr>Century Gothic</vt:lpstr>
      <vt:lpstr>Segoe UI</vt:lpstr>
      <vt:lpstr>Segoe UI Light</vt:lpstr>
      <vt:lpstr>Times New Roman</vt:lpstr>
      <vt:lpstr>Wingdings</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hang</dc:creator>
  <cp:lastModifiedBy>ASUS</cp:lastModifiedBy>
  <cp:revision>955</cp:revision>
  <cp:lastPrinted>2024-11-28T07:30:54Z</cp:lastPrinted>
  <dcterms:created xsi:type="dcterms:W3CDTF">2019-03-24T08:05:00Z</dcterms:created>
  <dcterms:modified xsi:type="dcterms:W3CDTF">2025-02-19T13:59:57Z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2019-04-12T10:07:22.8859653Z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3fdc9593-6a9d-4101-891c-069897c912a4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2052-11.1.0.11636</vt:lpwstr>
  </property>
  <property fmtid="{D5CDD505-2E9C-101B-9397-08002B2CF9AE}" pid="12" name="ICV">
    <vt:lpwstr>A04AAEDFEE97404694E92ACCC931FCB4</vt:lpwstr>
  </property>
  <property fmtid="{D5CDD505-2E9C-101B-9397-08002B2CF9AE}" pid="13" name="commondata">
    <vt:lpwstr>eyJoZGlkIjoiMWJkYzNkODI2MDUzYzBmYWVjOTZkNmU1M2YwMTk2YjUifQ==</vt:lpwstr>
  </property>
</Properties>
</file>